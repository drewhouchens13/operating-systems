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91"/>
  </p:notesMasterIdLst>
  <p:handoutMasterIdLst>
    <p:handoutMasterId r:id="rId92"/>
  </p:handoutMasterIdLst>
  <p:sldIdLst>
    <p:sldId id="256" r:id="rId2"/>
    <p:sldId id="420" r:id="rId3"/>
    <p:sldId id="257" r:id="rId4"/>
    <p:sldId id="258" r:id="rId5"/>
    <p:sldId id="410" r:id="rId6"/>
    <p:sldId id="433" r:id="rId7"/>
    <p:sldId id="259" r:id="rId8"/>
    <p:sldId id="260" r:id="rId9"/>
    <p:sldId id="261" r:id="rId10"/>
    <p:sldId id="431" r:id="rId11"/>
    <p:sldId id="411" r:id="rId12"/>
    <p:sldId id="414" r:id="rId13"/>
    <p:sldId id="486" r:id="rId14"/>
    <p:sldId id="413" r:id="rId15"/>
    <p:sldId id="494" r:id="rId16"/>
    <p:sldId id="487" r:id="rId17"/>
    <p:sldId id="488" r:id="rId18"/>
    <p:sldId id="489" r:id="rId19"/>
    <p:sldId id="490" r:id="rId20"/>
    <p:sldId id="551" r:id="rId21"/>
    <p:sldId id="491" r:id="rId22"/>
    <p:sldId id="492" r:id="rId23"/>
    <p:sldId id="517" r:id="rId24"/>
    <p:sldId id="518" r:id="rId25"/>
    <p:sldId id="493" r:id="rId26"/>
    <p:sldId id="415" r:id="rId27"/>
    <p:sldId id="495" r:id="rId28"/>
    <p:sldId id="497" r:id="rId29"/>
    <p:sldId id="498" r:id="rId30"/>
    <p:sldId id="499" r:id="rId31"/>
    <p:sldId id="501" r:id="rId32"/>
    <p:sldId id="502" r:id="rId33"/>
    <p:sldId id="419" r:id="rId34"/>
    <p:sldId id="506" r:id="rId35"/>
    <p:sldId id="500" r:id="rId36"/>
    <p:sldId id="496" r:id="rId37"/>
    <p:sldId id="503" r:id="rId38"/>
    <p:sldId id="505" r:id="rId39"/>
    <p:sldId id="507" r:id="rId40"/>
    <p:sldId id="504" r:id="rId41"/>
    <p:sldId id="509" r:id="rId42"/>
    <p:sldId id="510" r:id="rId43"/>
    <p:sldId id="515" r:id="rId44"/>
    <p:sldId id="485" r:id="rId45"/>
    <p:sldId id="512" r:id="rId46"/>
    <p:sldId id="516" r:id="rId47"/>
    <p:sldId id="511" r:id="rId48"/>
    <p:sldId id="519" r:id="rId49"/>
    <p:sldId id="520" r:id="rId50"/>
    <p:sldId id="521" r:id="rId51"/>
    <p:sldId id="421" r:id="rId52"/>
    <p:sldId id="522" r:id="rId53"/>
    <p:sldId id="523" r:id="rId54"/>
    <p:sldId id="524" r:id="rId55"/>
    <p:sldId id="418" r:id="rId56"/>
    <p:sldId id="525" r:id="rId57"/>
    <p:sldId id="526" r:id="rId58"/>
    <p:sldId id="527" r:id="rId59"/>
    <p:sldId id="530" r:id="rId60"/>
    <p:sldId id="529" r:id="rId61"/>
    <p:sldId id="528" r:id="rId62"/>
    <p:sldId id="422" r:id="rId63"/>
    <p:sldId id="532" r:id="rId64"/>
    <p:sldId id="550" r:id="rId65"/>
    <p:sldId id="547" r:id="rId66"/>
    <p:sldId id="548" r:id="rId67"/>
    <p:sldId id="549" r:id="rId68"/>
    <p:sldId id="531" r:id="rId69"/>
    <p:sldId id="533" r:id="rId70"/>
    <p:sldId id="536" r:id="rId71"/>
    <p:sldId id="535" r:id="rId72"/>
    <p:sldId id="537" r:id="rId73"/>
    <p:sldId id="538" r:id="rId74"/>
    <p:sldId id="539" r:id="rId75"/>
    <p:sldId id="425" r:id="rId76"/>
    <p:sldId id="540" r:id="rId77"/>
    <p:sldId id="543" r:id="rId78"/>
    <p:sldId id="541" r:id="rId79"/>
    <p:sldId id="542" r:id="rId80"/>
    <p:sldId id="544" r:id="rId81"/>
    <p:sldId id="427" r:id="rId82"/>
    <p:sldId id="545" r:id="rId83"/>
    <p:sldId id="546" r:id="rId84"/>
    <p:sldId id="423" r:id="rId85"/>
    <p:sldId id="534" r:id="rId86"/>
    <p:sldId id="426" r:id="rId87"/>
    <p:sldId id="430" r:id="rId88"/>
    <p:sldId id="434" r:id="rId89"/>
    <p:sldId id="459" r:id="rId90"/>
  </p:sldIdLst>
  <p:sldSz cx="9144000" cy="6858000" type="screen4x3"/>
  <p:notesSz cx="6794500" cy="9918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4">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27E3F6-024D-5DDA-3470-A2E16CE29BA9}" v="9" dt="2023-03-24T15:10:19.341"/>
    <p1510:client id="{CCDE50EB-7841-A364-5244-3D5722A6BE40}" v="141" dt="2022-09-20T16:11:13.1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54" autoAdjust="0"/>
    <p:restoredTop sz="71351" autoAdjust="0"/>
  </p:normalViewPr>
  <p:slideViewPr>
    <p:cSldViewPr>
      <p:cViewPr varScale="1">
        <p:scale>
          <a:sx n="69" d="100"/>
          <a:sy n="69" d="100"/>
        </p:scale>
        <p:origin x="2059"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100" d="100"/>
          <a:sy n="100" d="100"/>
        </p:scale>
        <p:origin x="-888" y="642"/>
      </p:cViewPr>
      <p:guideLst>
        <p:guide orient="horz" pos="3124"/>
        <p:guide pos="214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presProps" Target="presProps.xml"/><Relationship Id="rId9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ena Sullivan" userId="S::ssulliv7@uccs.edu::2b04e6cb-377d-42ce-afba-c92f7f3b7ef5" providerId="AD" clId="Web-{4A27E3F6-024D-5DDA-3470-A2E16CE29BA9}"/>
    <pc:docChg chg="modSld">
      <pc:chgData name="Serena Sullivan" userId="S::ssulliv7@uccs.edu::2b04e6cb-377d-42ce-afba-c92f7f3b7ef5" providerId="AD" clId="Web-{4A27E3F6-024D-5DDA-3470-A2E16CE29BA9}" dt="2023-03-24T15:10:19.341" v="8" actId="20577"/>
      <pc:docMkLst>
        <pc:docMk/>
      </pc:docMkLst>
      <pc:sldChg chg="modSp">
        <pc:chgData name="Serena Sullivan" userId="S::ssulliv7@uccs.edu::2b04e6cb-377d-42ce-afba-c92f7f3b7ef5" providerId="AD" clId="Web-{4A27E3F6-024D-5DDA-3470-A2E16CE29BA9}" dt="2023-03-24T15:10:19.341" v="8" actId="20577"/>
        <pc:sldMkLst>
          <pc:docMk/>
          <pc:sldMk cId="0" sldId="485"/>
        </pc:sldMkLst>
        <pc:spChg chg="mod">
          <ac:chgData name="Serena Sullivan" userId="S::ssulliv7@uccs.edu::2b04e6cb-377d-42ce-afba-c92f7f3b7ef5" providerId="AD" clId="Web-{4A27E3F6-024D-5DDA-3470-A2E16CE29BA9}" dt="2023-03-24T15:10:19.341" v="8" actId="20577"/>
          <ac:spMkLst>
            <pc:docMk/>
            <pc:sldMk cId="0" sldId="485"/>
            <ac:spMk id="31" creationId="{00000000-0000-0000-0000-000000000000}"/>
          </ac:spMkLst>
        </pc:spChg>
      </pc:sldChg>
    </pc:docChg>
  </pc:docChgLst>
  <pc:docChgLst>
    <pc:chgData name="Serena Sullivan" userId="S::ssulliv7@uccs.edu::2b04e6cb-377d-42ce-afba-c92f7f3b7ef5" providerId="AD" clId="Web-{9C0E79AC-8CE5-83C4-2FDC-008395603E1B}"/>
    <pc:docChg chg="modSld">
      <pc:chgData name="Serena Sullivan" userId="S::ssulliv7@uccs.edu::2b04e6cb-377d-42ce-afba-c92f7f3b7ef5" providerId="AD" clId="Web-{9C0E79AC-8CE5-83C4-2FDC-008395603E1B}" dt="2023-05-05T15:17:20.719" v="1"/>
      <pc:docMkLst>
        <pc:docMk/>
      </pc:docMkLst>
      <pc:sldChg chg="modNotes">
        <pc:chgData name="Serena Sullivan" userId="S::ssulliv7@uccs.edu::2b04e6cb-377d-42ce-afba-c92f7f3b7ef5" providerId="AD" clId="Web-{9C0E79AC-8CE5-83C4-2FDC-008395603E1B}" dt="2023-05-05T15:17:20.719" v="1"/>
        <pc:sldMkLst>
          <pc:docMk/>
          <pc:sldMk cId="0" sldId="419"/>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263E88-8E95-4586-9F6A-337F63911358}" type="doc">
      <dgm:prSet loTypeId="urn:microsoft.com/office/officeart/2005/8/layout/cycle4" loCatId="cycle" qsTypeId="urn:microsoft.com/office/officeart/2005/8/quickstyle/simple1" qsCatId="simple" csTypeId="urn:microsoft.com/office/officeart/2005/8/colors/accent0_2" csCatId="mainScheme" phldr="1"/>
      <dgm:spPr/>
      <dgm:t>
        <a:bodyPr/>
        <a:lstStyle/>
        <a:p>
          <a:endParaRPr lang="en-US"/>
        </a:p>
      </dgm:t>
    </dgm:pt>
    <dgm:pt modelId="{8CEFD064-6858-4383-8922-60BD61A1AB8D}">
      <dgm:prSet phldrT="[Text]"/>
      <dgm:spPr/>
      <dgm:t>
        <a:bodyPr/>
        <a:lstStyle/>
        <a:p>
          <a:r>
            <a:rPr lang="en-US" dirty="0"/>
            <a:t>1 time quantum</a:t>
          </a:r>
        </a:p>
      </dgm:t>
    </dgm:pt>
    <dgm:pt modelId="{E0EC076E-9EEC-44A5-AA00-3716270F3F20}" type="parTrans" cxnId="{45D57113-AE9D-42F5-AEDB-A3824381C706}">
      <dgm:prSet/>
      <dgm:spPr/>
      <dgm:t>
        <a:bodyPr/>
        <a:lstStyle/>
        <a:p>
          <a:endParaRPr lang="en-US"/>
        </a:p>
      </dgm:t>
    </dgm:pt>
    <dgm:pt modelId="{1FD32CB3-4FC0-4E0F-99D3-F32335140A96}" type="sibTrans" cxnId="{45D57113-AE9D-42F5-AEDB-A3824381C706}">
      <dgm:prSet/>
      <dgm:spPr/>
      <dgm:t>
        <a:bodyPr/>
        <a:lstStyle/>
        <a:p>
          <a:endParaRPr lang="en-US"/>
        </a:p>
      </dgm:t>
    </dgm:pt>
    <dgm:pt modelId="{7F414737-0BEB-44AE-B76E-1F6A84581B8F}">
      <dgm:prSet phldrT="[Text]"/>
      <dgm:spPr/>
      <dgm:t>
        <a:bodyPr/>
        <a:lstStyle/>
        <a:p>
          <a:pPr>
            <a:buNone/>
          </a:pPr>
          <a:r>
            <a:rPr lang="en-US" dirty="0"/>
            <a:t>P1</a:t>
          </a:r>
        </a:p>
      </dgm:t>
    </dgm:pt>
    <dgm:pt modelId="{C712A1DB-FD08-425F-B9A3-A0065865C25C}" type="parTrans" cxnId="{03AAF903-ACAF-4AF6-8315-EC5A0D4FDB58}">
      <dgm:prSet/>
      <dgm:spPr/>
      <dgm:t>
        <a:bodyPr/>
        <a:lstStyle/>
        <a:p>
          <a:endParaRPr lang="en-US"/>
        </a:p>
      </dgm:t>
    </dgm:pt>
    <dgm:pt modelId="{6EF4FCF0-A18A-4C38-95AC-49BE6480EFF3}" type="sibTrans" cxnId="{03AAF903-ACAF-4AF6-8315-EC5A0D4FDB58}">
      <dgm:prSet/>
      <dgm:spPr/>
      <dgm:t>
        <a:bodyPr/>
        <a:lstStyle/>
        <a:p>
          <a:endParaRPr lang="en-US"/>
        </a:p>
      </dgm:t>
    </dgm:pt>
    <dgm:pt modelId="{EBDBE53C-1280-41CB-AEB6-2874B231901C}">
      <dgm:prSet phldrT="[Text]"/>
      <dgm:spPr/>
      <dgm:t>
        <a:bodyPr/>
        <a:lstStyle/>
        <a:p>
          <a:r>
            <a:rPr lang="en-US" dirty="0"/>
            <a:t>1 time quantum</a:t>
          </a:r>
        </a:p>
      </dgm:t>
    </dgm:pt>
    <dgm:pt modelId="{F5CE6ED3-5424-48ED-89EF-BC38DF4640AF}" type="parTrans" cxnId="{392478D9-2587-4FB5-A826-1145FF3DA94D}">
      <dgm:prSet/>
      <dgm:spPr/>
      <dgm:t>
        <a:bodyPr/>
        <a:lstStyle/>
        <a:p>
          <a:endParaRPr lang="en-US"/>
        </a:p>
      </dgm:t>
    </dgm:pt>
    <dgm:pt modelId="{00E42A08-DD94-4059-9CAB-F96BB57D9C0D}" type="sibTrans" cxnId="{392478D9-2587-4FB5-A826-1145FF3DA94D}">
      <dgm:prSet/>
      <dgm:spPr/>
      <dgm:t>
        <a:bodyPr/>
        <a:lstStyle/>
        <a:p>
          <a:endParaRPr lang="en-US"/>
        </a:p>
      </dgm:t>
    </dgm:pt>
    <dgm:pt modelId="{CE74114E-EE9A-4EB9-8F75-E1812AFCBF3A}">
      <dgm:prSet phldrT="[Text]"/>
      <dgm:spPr/>
      <dgm:t>
        <a:bodyPr/>
        <a:lstStyle/>
        <a:p>
          <a:pPr>
            <a:buNone/>
          </a:pPr>
          <a:r>
            <a:rPr lang="en-US" dirty="0"/>
            <a:t>P2</a:t>
          </a:r>
        </a:p>
      </dgm:t>
    </dgm:pt>
    <dgm:pt modelId="{0687FD50-4FE6-4F1D-AB17-E5338A32FCF6}" type="parTrans" cxnId="{69907C4E-2E95-4ED7-BCB4-74B460FF1A5B}">
      <dgm:prSet/>
      <dgm:spPr/>
      <dgm:t>
        <a:bodyPr/>
        <a:lstStyle/>
        <a:p>
          <a:endParaRPr lang="en-US"/>
        </a:p>
      </dgm:t>
    </dgm:pt>
    <dgm:pt modelId="{A610C750-2A28-4C33-81F9-1CE57FF6910B}" type="sibTrans" cxnId="{69907C4E-2E95-4ED7-BCB4-74B460FF1A5B}">
      <dgm:prSet/>
      <dgm:spPr/>
      <dgm:t>
        <a:bodyPr/>
        <a:lstStyle/>
        <a:p>
          <a:endParaRPr lang="en-US"/>
        </a:p>
      </dgm:t>
    </dgm:pt>
    <dgm:pt modelId="{9B463E32-ECC3-4B8E-96A3-164A441AA9B9}">
      <dgm:prSet phldrT="[Text]"/>
      <dgm:spPr/>
      <dgm:t>
        <a:bodyPr/>
        <a:lstStyle/>
        <a:p>
          <a:r>
            <a:rPr lang="en-US" dirty="0"/>
            <a:t>1 time quantum</a:t>
          </a:r>
        </a:p>
      </dgm:t>
    </dgm:pt>
    <dgm:pt modelId="{1E341808-95B4-49CD-9A0D-89249C34A5B4}" type="parTrans" cxnId="{A4A0A498-D071-4B84-918D-B7D6B0154779}">
      <dgm:prSet/>
      <dgm:spPr/>
      <dgm:t>
        <a:bodyPr/>
        <a:lstStyle/>
        <a:p>
          <a:endParaRPr lang="en-US"/>
        </a:p>
      </dgm:t>
    </dgm:pt>
    <dgm:pt modelId="{450202D7-72E5-4454-8B95-091399C43A9B}" type="sibTrans" cxnId="{A4A0A498-D071-4B84-918D-B7D6B0154779}">
      <dgm:prSet/>
      <dgm:spPr/>
      <dgm:t>
        <a:bodyPr/>
        <a:lstStyle/>
        <a:p>
          <a:endParaRPr lang="en-US"/>
        </a:p>
      </dgm:t>
    </dgm:pt>
    <dgm:pt modelId="{7898006F-4BD4-4203-977C-B2DBB4525442}">
      <dgm:prSet phldrT="[Text]"/>
      <dgm:spPr/>
      <dgm:t>
        <a:bodyPr/>
        <a:lstStyle/>
        <a:p>
          <a:pPr>
            <a:buNone/>
          </a:pPr>
          <a:r>
            <a:rPr lang="en-US" dirty="0"/>
            <a:t>P3</a:t>
          </a:r>
        </a:p>
      </dgm:t>
    </dgm:pt>
    <dgm:pt modelId="{C1651601-B653-4A1A-9820-653E393460C2}" type="parTrans" cxnId="{7CEB37A7-34D1-4BFA-9FEE-D7E2121DAC5E}">
      <dgm:prSet/>
      <dgm:spPr/>
      <dgm:t>
        <a:bodyPr/>
        <a:lstStyle/>
        <a:p>
          <a:endParaRPr lang="en-US"/>
        </a:p>
      </dgm:t>
    </dgm:pt>
    <dgm:pt modelId="{BE3BA107-6E45-49F2-95AD-A9C280023511}" type="sibTrans" cxnId="{7CEB37A7-34D1-4BFA-9FEE-D7E2121DAC5E}">
      <dgm:prSet/>
      <dgm:spPr/>
      <dgm:t>
        <a:bodyPr/>
        <a:lstStyle/>
        <a:p>
          <a:endParaRPr lang="en-US"/>
        </a:p>
      </dgm:t>
    </dgm:pt>
    <dgm:pt modelId="{60B09636-37F8-4F6C-833C-5891DD3B9864}">
      <dgm:prSet phldrT="[Text]"/>
      <dgm:spPr/>
      <dgm:t>
        <a:bodyPr/>
        <a:lstStyle/>
        <a:p>
          <a:r>
            <a:rPr lang="en-US" dirty="0"/>
            <a:t>1 time quantum</a:t>
          </a:r>
        </a:p>
      </dgm:t>
    </dgm:pt>
    <dgm:pt modelId="{C1EAAAD0-E258-4959-B406-CD3DDF65AA61}" type="parTrans" cxnId="{095ABC01-1FDE-4377-9A11-0C9EF30879A1}">
      <dgm:prSet/>
      <dgm:spPr/>
      <dgm:t>
        <a:bodyPr/>
        <a:lstStyle/>
        <a:p>
          <a:endParaRPr lang="en-US"/>
        </a:p>
      </dgm:t>
    </dgm:pt>
    <dgm:pt modelId="{6CA5AB9A-4542-47C9-A932-6270A92CE481}" type="sibTrans" cxnId="{095ABC01-1FDE-4377-9A11-0C9EF30879A1}">
      <dgm:prSet/>
      <dgm:spPr/>
      <dgm:t>
        <a:bodyPr/>
        <a:lstStyle/>
        <a:p>
          <a:endParaRPr lang="en-US"/>
        </a:p>
      </dgm:t>
    </dgm:pt>
    <dgm:pt modelId="{D93F95F6-98CA-48EC-827A-2D27660040C8}">
      <dgm:prSet phldrT="[Text]"/>
      <dgm:spPr/>
      <dgm:t>
        <a:bodyPr/>
        <a:lstStyle/>
        <a:p>
          <a:pPr>
            <a:buNone/>
          </a:pPr>
          <a:r>
            <a:rPr lang="en-US" dirty="0"/>
            <a:t>P4</a:t>
          </a:r>
        </a:p>
      </dgm:t>
    </dgm:pt>
    <dgm:pt modelId="{F87E70A9-EE7B-492C-B9E7-310A313D54FE}" type="parTrans" cxnId="{F0334CF9-EDB4-4E6A-BCFA-168C12A028B2}">
      <dgm:prSet/>
      <dgm:spPr/>
      <dgm:t>
        <a:bodyPr/>
        <a:lstStyle/>
        <a:p>
          <a:endParaRPr lang="en-US"/>
        </a:p>
      </dgm:t>
    </dgm:pt>
    <dgm:pt modelId="{599289CA-0A7E-4788-B11C-7BE15A4E5079}" type="sibTrans" cxnId="{F0334CF9-EDB4-4E6A-BCFA-168C12A028B2}">
      <dgm:prSet/>
      <dgm:spPr/>
      <dgm:t>
        <a:bodyPr/>
        <a:lstStyle/>
        <a:p>
          <a:endParaRPr lang="en-US"/>
        </a:p>
      </dgm:t>
    </dgm:pt>
    <dgm:pt modelId="{8A4D2778-04F0-4035-9D11-C43213B2B108}" type="pres">
      <dgm:prSet presAssocID="{42263E88-8E95-4586-9F6A-337F63911358}" presName="cycleMatrixDiagram" presStyleCnt="0">
        <dgm:presLayoutVars>
          <dgm:chMax val="1"/>
          <dgm:dir/>
          <dgm:animLvl val="lvl"/>
          <dgm:resizeHandles val="exact"/>
        </dgm:presLayoutVars>
      </dgm:prSet>
      <dgm:spPr/>
    </dgm:pt>
    <dgm:pt modelId="{92283A48-DDBE-4BB4-9E19-794A6A40FEE1}" type="pres">
      <dgm:prSet presAssocID="{42263E88-8E95-4586-9F6A-337F63911358}" presName="children" presStyleCnt="0"/>
      <dgm:spPr/>
    </dgm:pt>
    <dgm:pt modelId="{D26ECDFD-0609-43AE-8B85-60136D462C36}" type="pres">
      <dgm:prSet presAssocID="{42263E88-8E95-4586-9F6A-337F63911358}" presName="child1group" presStyleCnt="0"/>
      <dgm:spPr/>
    </dgm:pt>
    <dgm:pt modelId="{D678BEE2-F1EC-41CE-82FE-F68149FBACA2}" type="pres">
      <dgm:prSet presAssocID="{42263E88-8E95-4586-9F6A-337F63911358}" presName="child1" presStyleLbl="bgAcc1" presStyleIdx="0" presStyleCnt="4"/>
      <dgm:spPr/>
    </dgm:pt>
    <dgm:pt modelId="{07C3DEC6-F5E7-4F4C-A815-6798C7A3BE2A}" type="pres">
      <dgm:prSet presAssocID="{42263E88-8E95-4586-9F6A-337F63911358}" presName="child1Text" presStyleLbl="bgAcc1" presStyleIdx="0" presStyleCnt="4">
        <dgm:presLayoutVars>
          <dgm:bulletEnabled val="1"/>
        </dgm:presLayoutVars>
      </dgm:prSet>
      <dgm:spPr/>
    </dgm:pt>
    <dgm:pt modelId="{AC0DB1D9-E4DF-4C16-8510-92CB4A92A070}" type="pres">
      <dgm:prSet presAssocID="{42263E88-8E95-4586-9F6A-337F63911358}" presName="child2group" presStyleCnt="0"/>
      <dgm:spPr/>
    </dgm:pt>
    <dgm:pt modelId="{36716D81-5EC0-4423-92E1-777032A87DA4}" type="pres">
      <dgm:prSet presAssocID="{42263E88-8E95-4586-9F6A-337F63911358}" presName="child2" presStyleLbl="bgAcc1" presStyleIdx="1" presStyleCnt="4"/>
      <dgm:spPr/>
    </dgm:pt>
    <dgm:pt modelId="{3BAA27D9-C6B8-4EE5-B428-38918B7E19BC}" type="pres">
      <dgm:prSet presAssocID="{42263E88-8E95-4586-9F6A-337F63911358}" presName="child2Text" presStyleLbl="bgAcc1" presStyleIdx="1" presStyleCnt="4">
        <dgm:presLayoutVars>
          <dgm:bulletEnabled val="1"/>
        </dgm:presLayoutVars>
      </dgm:prSet>
      <dgm:spPr/>
    </dgm:pt>
    <dgm:pt modelId="{728087A0-DD07-4151-B898-98D010788546}" type="pres">
      <dgm:prSet presAssocID="{42263E88-8E95-4586-9F6A-337F63911358}" presName="child3group" presStyleCnt="0"/>
      <dgm:spPr/>
    </dgm:pt>
    <dgm:pt modelId="{B0F02A7D-DCA4-4018-A5AB-C4D9F8D1FB84}" type="pres">
      <dgm:prSet presAssocID="{42263E88-8E95-4586-9F6A-337F63911358}" presName="child3" presStyleLbl="bgAcc1" presStyleIdx="2" presStyleCnt="4"/>
      <dgm:spPr/>
    </dgm:pt>
    <dgm:pt modelId="{CB77B212-66C6-46AE-ACBA-531640C4ACDE}" type="pres">
      <dgm:prSet presAssocID="{42263E88-8E95-4586-9F6A-337F63911358}" presName="child3Text" presStyleLbl="bgAcc1" presStyleIdx="2" presStyleCnt="4">
        <dgm:presLayoutVars>
          <dgm:bulletEnabled val="1"/>
        </dgm:presLayoutVars>
      </dgm:prSet>
      <dgm:spPr/>
    </dgm:pt>
    <dgm:pt modelId="{2F12A7D0-6F01-40F2-8286-1C6AB8FF50C5}" type="pres">
      <dgm:prSet presAssocID="{42263E88-8E95-4586-9F6A-337F63911358}" presName="child4group" presStyleCnt="0"/>
      <dgm:spPr/>
    </dgm:pt>
    <dgm:pt modelId="{19D67CA0-FE89-48D4-9DB4-A73A11468C02}" type="pres">
      <dgm:prSet presAssocID="{42263E88-8E95-4586-9F6A-337F63911358}" presName="child4" presStyleLbl="bgAcc1" presStyleIdx="3" presStyleCnt="4"/>
      <dgm:spPr/>
    </dgm:pt>
    <dgm:pt modelId="{81C36B83-72FB-4222-9F1A-FBB8847C2CBB}" type="pres">
      <dgm:prSet presAssocID="{42263E88-8E95-4586-9F6A-337F63911358}" presName="child4Text" presStyleLbl="bgAcc1" presStyleIdx="3" presStyleCnt="4">
        <dgm:presLayoutVars>
          <dgm:bulletEnabled val="1"/>
        </dgm:presLayoutVars>
      </dgm:prSet>
      <dgm:spPr/>
    </dgm:pt>
    <dgm:pt modelId="{3DDF39FC-2378-4A65-BD22-3616D23FCA96}" type="pres">
      <dgm:prSet presAssocID="{42263E88-8E95-4586-9F6A-337F63911358}" presName="childPlaceholder" presStyleCnt="0"/>
      <dgm:spPr/>
    </dgm:pt>
    <dgm:pt modelId="{A4DB3340-1AC0-4BDF-B272-FE3E8519150A}" type="pres">
      <dgm:prSet presAssocID="{42263E88-8E95-4586-9F6A-337F63911358}" presName="circle" presStyleCnt="0"/>
      <dgm:spPr/>
    </dgm:pt>
    <dgm:pt modelId="{2AC9251A-3568-453A-A1A0-FC548BF9EA31}" type="pres">
      <dgm:prSet presAssocID="{42263E88-8E95-4586-9F6A-337F63911358}" presName="quadrant1" presStyleLbl="node1" presStyleIdx="0" presStyleCnt="4">
        <dgm:presLayoutVars>
          <dgm:chMax val="1"/>
          <dgm:bulletEnabled val="1"/>
        </dgm:presLayoutVars>
      </dgm:prSet>
      <dgm:spPr/>
    </dgm:pt>
    <dgm:pt modelId="{3D97BD37-4F37-4900-A07F-3FBB8603D582}" type="pres">
      <dgm:prSet presAssocID="{42263E88-8E95-4586-9F6A-337F63911358}" presName="quadrant2" presStyleLbl="node1" presStyleIdx="1" presStyleCnt="4">
        <dgm:presLayoutVars>
          <dgm:chMax val="1"/>
          <dgm:bulletEnabled val="1"/>
        </dgm:presLayoutVars>
      </dgm:prSet>
      <dgm:spPr/>
    </dgm:pt>
    <dgm:pt modelId="{79FE7000-5894-45A8-ABE7-BDF53551E47A}" type="pres">
      <dgm:prSet presAssocID="{42263E88-8E95-4586-9F6A-337F63911358}" presName="quadrant3" presStyleLbl="node1" presStyleIdx="2" presStyleCnt="4">
        <dgm:presLayoutVars>
          <dgm:chMax val="1"/>
          <dgm:bulletEnabled val="1"/>
        </dgm:presLayoutVars>
      </dgm:prSet>
      <dgm:spPr/>
    </dgm:pt>
    <dgm:pt modelId="{2045A31F-1D48-439A-AF8C-0B9568CA77EF}" type="pres">
      <dgm:prSet presAssocID="{42263E88-8E95-4586-9F6A-337F63911358}" presName="quadrant4" presStyleLbl="node1" presStyleIdx="3" presStyleCnt="4">
        <dgm:presLayoutVars>
          <dgm:chMax val="1"/>
          <dgm:bulletEnabled val="1"/>
        </dgm:presLayoutVars>
      </dgm:prSet>
      <dgm:spPr/>
    </dgm:pt>
    <dgm:pt modelId="{09BEE3F1-B230-40E3-9E42-0BE0FC478DEC}" type="pres">
      <dgm:prSet presAssocID="{42263E88-8E95-4586-9F6A-337F63911358}" presName="quadrantPlaceholder" presStyleCnt="0"/>
      <dgm:spPr/>
    </dgm:pt>
    <dgm:pt modelId="{62546348-8CEC-40D6-8BD1-54D381FD4B12}" type="pres">
      <dgm:prSet presAssocID="{42263E88-8E95-4586-9F6A-337F63911358}" presName="center1" presStyleLbl="fgShp" presStyleIdx="0" presStyleCnt="2"/>
      <dgm:spPr/>
    </dgm:pt>
    <dgm:pt modelId="{4885271F-B2DE-4176-BE73-8F0D5FEB606A}" type="pres">
      <dgm:prSet presAssocID="{42263E88-8E95-4586-9F6A-337F63911358}" presName="center2" presStyleLbl="fgShp" presStyleIdx="1" presStyleCnt="2"/>
      <dgm:spPr/>
    </dgm:pt>
  </dgm:ptLst>
  <dgm:cxnLst>
    <dgm:cxn modelId="{095ABC01-1FDE-4377-9A11-0C9EF30879A1}" srcId="{42263E88-8E95-4586-9F6A-337F63911358}" destId="{60B09636-37F8-4F6C-833C-5891DD3B9864}" srcOrd="3" destOrd="0" parTransId="{C1EAAAD0-E258-4959-B406-CD3DDF65AA61}" sibTransId="{6CA5AB9A-4542-47C9-A932-6270A92CE481}"/>
    <dgm:cxn modelId="{03AAF903-ACAF-4AF6-8315-EC5A0D4FDB58}" srcId="{8CEFD064-6858-4383-8922-60BD61A1AB8D}" destId="{7F414737-0BEB-44AE-B76E-1F6A84581B8F}" srcOrd="0" destOrd="0" parTransId="{C712A1DB-FD08-425F-B9A3-A0065865C25C}" sibTransId="{6EF4FCF0-A18A-4C38-95AC-49BE6480EFF3}"/>
    <dgm:cxn modelId="{E2DC2E0F-C7DE-489B-84DD-336F90F9FE2F}" type="presOf" srcId="{60B09636-37F8-4F6C-833C-5891DD3B9864}" destId="{2045A31F-1D48-439A-AF8C-0B9568CA77EF}" srcOrd="0" destOrd="0" presId="urn:microsoft.com/office/officeart/2005/8/layout/cycle4"/>
    <dgm:cxn modelId="{5A3D4611-7D07-4B1C-80F2-278634A9EC0D}" type="presOf" srcId="{CE74114E-EE9A-4EB9-8F75-E1812AFCBF3A}" destId="{3BAA27D9-C6B8-4EE5-B428-38918B7E19BC}" srcOrd="1" destOrd="0" presId="urn:microsoft.com/office/officeart/2005/8/layout/cycle4"/>
    <dgm:cxn modelId="{5E110912-629D-4E85-9C9D-4B8424F7C9C0}" type="presOf" srcId="{8CEFD064-6858-4383-8922-60BD61A1AB8D}" destId="{2AC9251A-3568-453A-A1A0-FC548BF9EA31}" srcOrd="0" destOrd="0" presId="urn:microsoft.com/office/officeart/2005/8/layout/cycle4"/>
    <dgm:cxn modelId="{45D57113-AE9D-42F5-AEDB-A3824381C706}" srcId="{42263E88-8E95-4586-9F6A-337F63911358}" destId="{8CEFD064-6858-4383-8922-60BD61A1AB8D}" srcOrd="0" destOrd="0" parTransId="{E0EC076E-9EEC-44A5-AA00-3716270F3F20}" sibTransId="{1FD32CB3-4FC0-4E0F-99D3-F32335140A96}"/>
    <dgm:cxn modelId="{9EEAA513-FC77-43DC-8D62-5B25284CB08A}" type="presOf" srcId="{EBDBE53C-1280-41CB-AEB6-2874B231901C}" destId="{3D97BD37-4F37-4900-A07F-3FBB8603D582}" srcOrd="0" destOrd="0" presId="urn:microsoft.com/office/officeart/2005/8/layout/cycle4"/>
    <dgm:cxn modelId="{FB167A47-B855-437E-9608-3721A8FB13AD}" type="presOf" srcId="{D93F95F6-98CA-48EC-827A-2D27660040C8}" destId="{19D67CA0-FE89-48D4-9DB4-A73A11468C02}" srcOrd="0" destOrd="0" presId="urn:microsoft.com/office/officeart/2005/8/layout/cycle4"/>
    <dgm:cxn modelId="{2E20994A-F044-4BC0-B248-B8226DDEE2E2}" type="presOf" srcId="{7898006F-4BD4-4203-977C-B2DBB4525442}" destId="{B0F02A7D-DCA4-4018-A5AB-C4D9F8D1FB84}" srcOrd="0" destOrd="0" presId="urn:microsoft.com/office/officeart/2005/8/layout/cycle4"/>
    <dgm:cxn modelId="{69907C4E-2E95-4ED7-BCB4-74B460FF1A5B}" srcId="{EBDBE53C-1280-41CB-AEB6-2874B231901C}" destId="{CE74114E-EE9A-4EB9-8F75-E1812AFCBF3A}" srcOrd="0" destOrd="0" parTransId="{0687FD50-4FE6-4F1D-AB17-E5338A32FCF6}" sibTransId="{A610C750-2A28-4C33-81F9-1CE57FF6910B}"/>
    <dgm:cxn modelId="{FACAAB74-9B8D-4BF4-AE5F-203CF4524ECB}" type="presOf" srcId="{7F414737-0BEB-44AE-B76E-1F6A84581B8F}" destId="{07C3DEC6-F5E7-4F4C-A815-6798C7A3BE2A}" srcOrd="1" destOrd="0" presId="urn:microsoft.com/office/officeart/2005/8/layout/cycle4"/>
    <dgm:cxn modelId="{EEEAEC57-2897-47F2-BBE0-BBD6A186BEFD}" type="presOf" srcId="{D93F95F6-98CA-48EC-827A-2D27660040C8}" destId="{81C36B83-72FB-4222-9F1A-FBB8847C2CBB}" srcOrd="1" destOrd="0" presId="urn:microsoft.com/office/officeart/2005/8/layout/cycle4"/>
    <dgm:cxn modelId="{1135137F-7D2C-4AC1-BC5A-D01E966AB74F}" type="presOf" srcId="{7F414737-0BEB-44AE-B76E-1F6A84581B8F}" destId="{D678BEE2-F1EC-41CE-82FE-F68149FBACA2}" srcOrd="0" destOrd="0" presId="urn:microsoft.com/office/officeart/2005/8/layout/cycle4"/>
    <dgm:cxn modelId="{FEE86D90-8D7F-4C3A-B804-DD2ECC9DB3A9}" type="presOf" srcId="{CE74114E-EE9A-4EB9-8F75-E1812AFCBF3A}" destId="{36716D81-5EC0-4423-92E1-777032A87DA4}" srcOrd="0" destOrd="0" presId="urn:microsoft.com/office/officeart/2005/8/layout/cycle4"/>
    <dgm:cxn modelId="{046A0C98-21B7-4F5C-8720-10AA533A10BC}" type="presOf" srcId="{42263E88-8E95-4586-9F6A-337F63911358}" destId="{8A4D2778-04F0-4035-9D11-C43213B2B108}" srcOrd="0" destOrd="0" presId="urn:microsoft.com/office/officeart/2005/8/layout/cycle4"/>
    <dgm:cxn modelId="{A4A0A498-D071-4B84-918D-B7D6B0154779}" srcId="{42263E88-8E95-4586-9F6A-337F63911358}" destId="{9B463E32-ECC3-4B8E-96A3-164A441AA9B9}" srcOrd="2" destOrd="0" parTransId="{1E341808-95B4-49CD-9A0D-89249C34A5B4}" sibTransId="{450202D7-72E5-4454-8B95-091399C43A9B}"/>
    <dgm:cxn modelId="{7CEB37A7-34D1-4BFA-9FEE-D7E2121DAC5E}" srcId="{9B463E32-ECC3-4B8E-96A3-164A441AA9B9}" destId="{7898006F-4BD4-4203-977C-B2DBB4525442}" srcOrd="0" destOrd="0" parTransId="{C1651601-B653-4A1A-9820-653E393460C2}" sibTransId="{BE3BA107-6E45-49F2-95AD-A9C280023511}"/>
    <dgm:cxn modelId="{7EBDC4C8-42AE-493A-ABF3-6C19BF9DF7B3}" type="presOf" srcId="{9B463E32-ECC3-4B8E-96A3-164A441AA9B9}" destId="{79FE7000-5894-45A8-ABE7-BDF53551E47A}" srcOrd="0" destOrd="0" presId="urn:microsoft.com/office/officeart/2005/8/layout/cycle4"/>
    <dgm:cxn modelId="{594DBFD8-589A-40B0-A070-C681A233EF5E}" type="presOf" srcId="{7898006F-4BD4-4203-977C-B2DBB4525442}" destId="{CB77B212-66C6-46AE-ACBA-531640C4ACDE}" srcOrd="1" destOrd="0" presId="urn:microsoft.com/office/officeart/2005/8/layout/cycle4"/>
    <dgm:cxn modelId="{392478D9-2587-4FB5-A826-1145FF3DA94D}" srcId="{42263E88-8E95-4586-9F6A-337F63911358}" destId="{EBDBE53C-1280-41CB-AEB6-2874B231901C}" srcOrd="1" destOrd="0" parTransId="{F5CE6ED3-5424-48ED-89EF-BC38DF4640AF}" sibTransId="{00E42A08-DD94-4059-9CAB-F96BB57D9C0D}"/>
    <dgm:cxn modelId="{F0334CF9-EDB4-4E6A-BCFA-168C12A028B2}" srcId="{60B09636-37F8-4F6C-833C-5891DD3B9864}" destId="{D93F95F6-98CA-48EC-827A-2D27660040C8}" srcOrd="0" destOrd="0" parTransId="{F87E70A9-EE7B-492C-B9E7-310A313D54FE}" sibTransId="{599289CA-0A7E-4788-B11C-7BE15A4E5079}"/>
    <dgm:cxn modelId="{37C43CB2-515A-4D4B-BF4A-6E163DA7C5B3}" type="presParOf" srcId="{8A4D2778-04F0-4035-9D11-C43213B2B108}" destId="{92283A48-DDBE-4BB4-9E19-794A6A40FEE1}" srcOrd="0" destOrd="0" presId="urn:microsoft.com/office/officeart/2005/8/layout/cycle4"/>
    <dgm:cxn modelId="{0A9E543E-5829-4B7D-9271-7B6F9ED3B387}" type="presParOf" srcId="{92283A48-DDBE-4BB4-9E19-794A6A40FEE1}" destId="{D26ECDFD-0609-43AE-8B85-60136D462C36}" srcOrd="0" destOrd="0" presId="urn:microsoft.com/office/officeart/2005/8/layout/cycle4"/>
    <dgm:cxn modelId="{DDAE0391-CF6B-447E-A0C2-531B6B556C2C}" type="presParOf" srcId="{D26ECDFD-0609-43AE-8B85-60136D462C36}" destId="{D678BEE2-F1EC-41CE-82FE-F68149FBACA2}" srcOrd="0" destOrd="0" presId="urn:microsoft.com/office/officeart/2005/8/layout/cycle4"/>
    <dgm:cxn modelId="{D0E11EA8-99E7-41CD-AE84-F873B1B88BEA}" type="presParOf" srcId="{D26ECDFD-0609-43AE-8B85-60136D462C36}" destId="{07C3DEC6-F5E7-4F4C-A815-6798C7A3BE2A}" srcOrd="1" destOrd="0" presId="urn:microsoft.com/office/officeart/2005/8/layout/cycle4"/>
    <dgm:cxn modelId="{4E5777B3-9D2A-4659-90E0-D4A68E42F98B}" type="presParOf" srcId="{92283A48-DDBE-4BB4-9E19-794A6A40FEE1}" destId="{AC0DB1D9-E4DF-4C16-8510-92CB4A92A070}" srcOrd="1" destOrd="0" presId="urn:microsoft.com/office/officeart/2005/8/layout/cycle4"/>
    <dgm:cxn modelId="{946E2773-637F-43E7-B066-1D5332FAA226}" type="presParOf" srcId="{AC0DB1D9-E4DF-4C16-8510-92CB4A92A070}" destId="{36716D81-5EC0-4423-92E1-777032A87DA4}" srcOrd="0" destOrd="0" presId="urn:microsoft.com/office/officeart/2005/8/layout/cycle4"/>
    <dgm:cxn modelId="{A660FA08-C5E0-4160-A8FA-1299A56F497D}" type="presParOf" srcId="{AC0DB1D9-E4DF-4C16-8510-92CB4A92A070}" destId="{3BAA27D9-C6B8-4EE5-B428-38918B7E19BC}" srcOrd="1" destOrd="0" presId="urn:microsoft.com/office/officeart/2005/8/layout/cycle4"/>
    <dgm:cxn modelId="{E9C94233-2258-4828-8356-C4684BF7E784}" type="presParOf" srcId="{92283A48-DDBE-4BB4-9E19-794A6A40FEE1}" destId="{728087A0-DD07-4151-B898-98D010788546}" srcOrd="2" destOrd="0" presId="urn:microsoft.com/office/officeart/2005/8/layout/cycle4"/>
    <dgm:cxn modelId="{074749E9-1F79-4B2C-B4CE-FBBF99C5F66A}" type="presParOf" srcId="{728087A0-DD07-4151-B898-98D010788546}" destId="{B0F02A7D-DCA4-4018-A5AB-C4D9F8D1FB84}" srcOrd="0" destOrd="0" presId="urn:microsoft.com/office/officeart/2005/8/layout/cycle4"/>
    <dgm:cxn modelId="{405D03B7-6C26-4793-A7A6-335837E33952}" type="presParOf" srcId="{728087A0-DD07-4151-B898-98D010788546}" destId="{CB77B212-66C6-46AE-ACBA-531640C4ACDE}" srcOrd="1" destOrd="0" presId="urn:microsoft.com/office/officeart/2005/8/layout/cycle4"/>
    <dgm:cxn modelId="{52990C28-06B5-44CA-9698-5232E6697317}" type="presParOf" srcId="{92283A48-DDBE-4BB4-9E19-794A6A40FEE1}" destId="{2F12A7D0-6F01-40F2-8286-1C6AB8FF50C5}" srcOrd="3" destOrd="0" presId="urn:microsoft.com/office/officeart/2005/8/layout/cycle4"/>
    <dgm:cxn modelId="{97553643-2E8C-4AEA-82C0-8A06C683D99E}" type="presParOf" srcId="{2F12A7D0-6F01-40F2-8286-1C6AB8FF50C5}" destId="{19D67CA0-FE89-48D4-9DB4-A73A11468C02}" srcOrd="0" destOrd="0" presId="urn:microsoft.com/office/officeart/2005/8/layout/cycle4"/>
    <dgm:cxn modelId="{BD8F2E4C-F68F-42A9-A9D5-9830F633892F}" type="presParOf" srcId="{2F12A7D0-6F01-40F2-8286-1C6AB8FF50C5}" destId="{81C36B83-72FB-4222-9F1A-FBB8847C2CBB}" srcOrd="1" destOrd="0" presId="urn:microsoft.com/office/officeart/2005/8/layout/cycle4"/>
    <dgm:cxn modelId="{BD734E1B-CC81-429E-ABEB-F54437688AA6}" type="presParOf" srcId="{92283A48-DDBE-4BB4-9E19-794A6A40FEE1}" destId="{3DDF39FC-2378-4A65-BD22-3616D23FCA96}" srcOrd="4" destOrd="0" presId="urn:microsoft.com/office/officeart/2005/8/layout/cycle4"/>
    <dgm:cxn modelId="{7680537A-CECD-4C84-A2A5-C7E7814AD25C}" type="presParOf" srcId="{8A4D2778-04F0-4035-9D11-C43213B2B108}" destId="{A4DB3340-1AC0-4BDF-B272-FE3E8519150A}" srcOrd="1" destOrd="0" presId="urn:microsoft.com/office/officeart/2005/8/layout/cycle4"/>
    <dgm:cxn modelId="{406C2B5A-F935-4EAF-AB78-ABB42611BD93}" type="presParOf" srcId="{A4DB3340-1AC0-4BDF-B272-FE3E8519150A}" destId="{2AC9251A-3568-453A-A1A0-FC548BF9EA31}" srcOrd="0" destOrd="0" presId="urn:microsoft.com/office/officeart/2005/8/layout/cycle4"/>
    <dgm:cxn modelId="{0313578A-55A5-43A2-8809-66FBE946186E}" type="presParOf" srcId="{A4DB3340-1AC0-4BDF-B272-FE3E8519150A}" destId="{3D97BD37-4F37-4900-A07F-3FBB8603D582}" srcOrd="1" destOrd="0" presId="urn:microsoft.com/office/officeart/2005/8/layout/cycle4"/>
    <dgm:cxn modelId="{9068BCCA-7E7D-493E-94A5-5C4035DD7511}" type="presParOf" srcId="{A4DB3340-1AC0-4BDF-B272-FE3E8519150A}" destId="{79FE7000-5894-45A8-ABE7-BDF53551E47A}" srcOrd="2" destOrd="0" presId="urn:microsoft.com/office/officeart/2005/8/layout/cycle4"/>
    <dgm:cxn modelId="{28EB722B-3DEB-43A4-9D70-45D52935FE87}" type="presParOf" srcId="{A4DB3340-1AC0-4BDF-B272-FE3E8519150A}" destId="{2045A31F-1D48-439A-AF8C-0B9568CA77EF}" srcOrd="3" destOrd="0" presId="urn:microsoft.com/office/officeart/2005/8/layout/cycle4"/>
    <dgm:cxn modelId="{60065D75-DD2B-4DBD-BDA5-CA2D614C0023}" type="presParOf" srcId="{A4DB3340-1AC0-4BDF-B272-FE3E8519150A}" destId="{09BEE3F1-B230-40E3-9E42-0BE0FC478DEC}" srcOrd="4" destOrd="0" presId="urn:microsoft.com/office/officeart/2005/8/layout/cycle4"/>
    <dgm:cxn modelId="{24FA52E3-FC8F-4B40-8818-EE0D0E694D7D}" type="presParOf" srcId="{8A4D2778-04F0-4035-9D11-C43213B2B108}" destId="{62546348-8CEC-40D6-8BD1-54D381FD4B12}" srcOrd="2" destOrd="0" presId="urn:microsoft.com/office/officeart/2005/8/layout/cycle4"/>
    <dgm:cxn modelId="{5F91E5E5-85EE-482F-BAE9-729D02893B2F}" type="presParOf" srcId="{8A4D2778-04F0-4035-9D11-C43213B2B108}" destId="{4885271F-B2DE-4176-BE73-8F0D5FEB606A}"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F02A7D-DCA4-4018-A5AB-C4D9F8D1FB84}">
      <dsp:nvSpPr>
        <dsp:cNvPr id="0" name=""/>
        <dsp:cNvSpPr/>
      </dsp:nvSpPr>
      <dsp:spPr>
        <a:xfrm>
          <a:off x="4371885" y="2265870"/>
          <a:ext cx="1646088" cy="1066292"/>
        </a:xfrm>
        <a:prstGeom prst="roundRect">
          <a:avLst>
            <a:gd name="adj" fmla="val 10000"/>
          </a:avLst>
        </a:prstGeom>
        <a:solidFill>
          <a:schemeClr val="dk2">
            <a:alpha val="90000"/>
            <a:tint val="40000"/>
            <a:hueOff val="0"/>
            <a:satOff val="0"/>
            <a:lumOff val="0"/>
            <a:alphaOff val="0"/>
          </a:schemeClr>
        </a:solidFill>
        <a:ln w="1587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285750" lvl="1" indent="-285750" algn="l" defTabSz="1377950">
            <a:lnSpc>
              <a:spcPct val="90000"/>
            </a:lnSpc>
            <a:spcBef>
              <a:spcPct val="0"/>
            </a:spcBef>
            <a:spcAft>
              <a:spcPct val="15000"/>
            </a:spcAft>
            <a:buNone/>
          </a:pPr>
          <a:r>
            <a:rPr lang="en-US" sz="3100" kern="1200" dirty="0"/>
            <a:t>P3</a:t>
          </a:r>
        </a:p>
      </dsp:txBody>
      <dsp:txXfrm>
        <a:off x="4889135" y="2555866"/>
        <a:ext cx="1105415" cy="752873"/>
      </dsp:txXfrm>
    </dsp:sp>
    <dsp:sp modelId="{19D67CA0-FE89-48D4-9DB4-A73A11468C02}">
      <dsp:nvSpPr>
        <dsp:cNvPr id="0" name=""/>
        <dsp:cNvSpPr/>
      </dsp:nvSpPr>
      <dsp:spPr>
        <a:xfrm>
          <a:off x="1686162" y="2265870"/>
          <a:ext cx="1646088" cy="1066292"/>
        </a:xfrm>
        <a:prstGeom prst="roundRect">
          <a:avLst>
            <a:gd name="adj" fmla="val 10000"/>
          </a:avLst>
        </a:prstGeom>
        <a:solidFill>
          <a:schemeClr val="dk2">
            <a:alpha val="90000"/>
            <a:tint val="40000"/>
            <a:hueOff val="0"/>
            <a:satOff val="0"/>
            <a:lumOff val="0"/>
            <a:alphaOff val="0"/>
          </a:schemeClr>
        </a:solidFill>
        <a:ln w="1587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285750" lvl="1" indent="-285750" algn="l" defTabSz="1377950">
            <a:lnSpc>
              <a:spcPct val="90000"/>
            </a:lnSpc>
            <a:spcBef>
              <a:spcPct val="0"/>
            </a:spcBef>
            <a:spcAft>
              <a:spcPct val="15000"/>
            </a:spcAft>
            <a:buNone/>
          </a:pPr>
          <a:r>
            <a:rPr lang="en-US" sz="3100" kern="1200" dirty="0"/>
            <a:t>P4</a:t>
          </a:r>
        </a:p>
      </dsp:txBody>
      <dsp:txXfrm>
        <a:off x="1709585" y="2555866"/>
        <a:ext cx="1105415" cy="752873"/>
      </dsp:txXfrm>
    </dsp:sp>
    <dsp:sp modelId="{36716D81-5EC0-4423-92E1-777032A87DA4}">
      <dsp:nvSpPr>
        <dsp:cNvPr id="0" name=""/>
        <dsp:cNvSpPr/>
      </dsp:nvSpPr>
      <dsp:spPr>
        <a:xfrm>
          <a:off x="4371885" y="0"/>
          <a:ext cx="1646088" cy="1066292"/>
        </a:xfrm>
        <a:prstGeom prst="roundRect">
          <a:avLst>
            <a:gd name="adj" fmla="val 10000"/>
          </a:avLst>
        </a:prstGeom>
        <a:solidFill>
          <a:schemeClr val="dk2">
            <a:alpha val="90000"/>
            <a:tint val="40000"/>
            <a:hueOff val="0"/>
            <a:satOff val="0"/>
            <a:lumOff val="0"/>
            <a:alphaOff val="0"/>
          </a:schemeClr>
        </a:solidFill>
        <a:ln w="1587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285750" lvl="1" indent="-285750" algn="l" defTabSz="1377950">
            <a:lnSpc>
              <a:spcPct val="90000"/>
            </a:lnSpc>
            <a:spcBef>
              <a:spcPct val="0"/>
            </a:spcBef>
            <a:spcAft>
              <a:spcPct val="15000"/>
            </a:spcAft>
            <a:buNone/>
          </a:pPr>
          <a:r>
            <a:rPr lang="en-US" sz="3100" kern="1200" dirty="0"/>
            <a:t>P2</a:t>
          </a:r>
        </a:p>
      </dsp:txBody>
      <dsp:txXfrm>
        <a:off x="4889135" y="23423"/>
        <a:ext cx="1105415" cy="752873"/>
      </dsp:txXfrm>
    </dsp:sp>
    <dsp:sp modelId="{D678BEE2-F1EC-41CE-82FE-F68149FBACA2}">
      <dsp:nvSpPr>
        <dsp:cNvPr id="0" name=""/>
        <dsp:cNvSpPr/>
      </dsp:nvSpPr>
      <dsp:spPr>
        <a:xfrm>
          <a:off x="1686162" y="0"/>
          <a:ext cx="1646088" cy="1066292"/>
        </a:xfrm>
        <a:prstGeom prst="roundRect">
          <a:avLst>
            <a:gd name="adj" fmla="val 10000"/>
          </a:avLst>
        </a:prstGeom>
        <a:solidFill>
          <a:schemeClr val="dk2">
            <a:alpha val="90000"/>
            <a:tint val="40000"/>
            <a:hueOff val="0"/>
            <a:satOff val="0"/>
            <a:lumOff val="0"/>
            <a:alphaOff val="0"/>
          </a:schemeClr>
        </a:solidFill>
        <a:ln w="1587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285750" lvl="1" indent="-285750" algn="l" defTabSz="1377950">
            <a:lnSpc>
              <a:spcPct val="90000"/>
            </a:lnSpc>
            <a:spcBef>
              <a:spcPct val="0"/>
            </a:spcBef>
            <a:spcAft>
              <a:spcPct val="15000"/>
            </a:spcAft>
            <a:buNone/>
          </a:pPr>
          <a:r>
            <a:rPr lang="en-US" sz="3100" kern="1200" dirty="0"/>
            <a:t>P1</a:t>
          </a:r>
        </a:p>
      </dsp:txBody>
      <dsp:txXfrm>
        <a:off x="1709585" y="23423"/>
        <a:ext cx="1105415" cy="752873"/>
      </dsp:txXfrm>
    </dsp:sp>
    <dsp:sp modelId="{2AC9251A-3568-453A-A1A0-FC548BF9EA31}">
      <dsp:nvSpPr>
        <dsp:cNvPr id="0" name=""/>
        <dsp:cNvSpPr/>
      </dsp:nvSpPr>
      <dsp:spPr>
        <a:xfrm>
          <a:off x="2375920" y="189933"/>
          <a:ext cx="1442826" cy="1442826"/>
        </a:xfrm>
        <a:prstGeom prst="pieWedge">
          <a:avLst/>
        </a:prstGeom>
        <a:solidFill>
          <a:schemeClr val="lt1">
            <a:hueOff val="0"/>
            <a:satOff val="0"/>
            <a:lumOff val="0"/>
            <a:alphaOff val="0"/>
          </a:schemeClr>
        </a:solidFill>
        <a:ln w="15875" cap="rnd"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1 time quantum</a:t>
          </a:r>
        </a:p>
      </dsp:txBody>
      <dsp:txXfrm>
        <a:off x="2798514" y="612527"/>
        <a:ext cx="1020232" cy="1020232"/>
      </dsp:txXfrm>
    </dsp:sp>
    <dsp:sp modelId="{3D97BD37-4F37-4900-A07F-3FBB8603D582}">
      <dsp:nvSpPr>
        <dsp:cNvPr id="0" name=""/>
        <dsp:cNvSpPr/>
      </dsp:nvSpPr>
      <dsp:spPr>
        <a:xfrm rot="5400000">
          <a:off x="3885390" y="189933"/>
          <a:ext cx="1442826" cy="1442826"/>
        </a:xfrm>
        <a:prstGeom prst="pieWedge">
          <a:avLst/>
        </a:prstGeom>
        <a:solidFill>
          <a:schemeClr val="lt1">
            <a:hueOff val="0"/>
            <a:satOff val="0"/>
            <a:lumOff val="0"/>
            <a:alphaOff val="0"/>
          </a:schemeClr>
        </a:solidFill>
        <a:ln w="15875" cap="rnd"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1 time quantum</a:t>
          </a:r>
        </a:p>
      </dsp:txBody>
      <dsp:txXfrm rot="-5400000">
        <a:off x="3885390" y="612527"/>
        <a:ext cx="1020232" cy="1020232"/>
      </dsp:txXfrm>
    </dsp:sp>
    <dsp:sp modelId="{79FE7000-5894-45A8-ABE7-BDF53551E47A}">
      <dsp:nvSpPr>
        <dsp:cNvPr id="0" name=""/>
        <dsp:cNvSpPr/>
      </dsp:nvSpPr>
      <dsp:spPr>
        <a:xfrm rot="10800000">
          <a:off x="3885390" y="1699403"/>
          <a:ext cx="1442826" cy="1442826"/>
        </a:xfrm>
        <a:prstGeom prst="pieWedge">
          <a:avLst/>
        </a:prstGeom>
        <a:solidFill>
          <a:schemeClr val="lt1">
            <a:hueOff val="0"/>
            <a:satOff val="0"/>
            <a:lumOff val="0"/>
            <a:alphaOff val="0"/>
          </a:schemeClr>
        </a:solidFill>
        <a:ln w="15875" cap="rnd"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1 time quantum</a:t>
          </a:r>
        </a:p>
      </dsp:txBody>
      <dsp:txXfrm rot="10800000">
        <a:off x="3885390" y="1699403"/>
        <a:ext cx="1020232" cy="1020232"/>
      </dsp:txXfrm>
    </dsp:sp>
    <dsp:sp modelId="{2045A31F-1D48-439A-AF8C-0B9568CA77EF}">
      <dsp:nvSpPr>
        <dsp:cNvPr id="0" name=""/>
        <dsp:cNvSpPr/>
      </dsp:nvSpPr>
      <dsp:spPr>
        <a:xfrm rot="16200000">
          <a:off x="2375920" y="1699403"/>
          <a:ext cx="1442826" cy="1442826"/>
        </a:xfrm>
        <a:prstGeom prst="pieWedge">
          <a:avLst/>
        </a:prstGeom>
        <a:solidFill>
          <a:schemeClr val="lt1">
            <a:hueOff val="0"/>
            <a:satOff val="0"/>
            <a:lumOff val="0"/>
            <a:alphaOff val="0"/>
          </a:schemeClr>
        </a:solidFill>
        <a:ln w="15875" cap="rnd"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1 time quantum</a:t>
          </a:r>
        </a:p>
      </dsp:txBody>
      <dsp:txXfrm rot="5400000">
        <a:off x="2798514" y="1699403"/>
        <a:ext cx="1020232" cy="1020232"/>
      </dsp:txXfrm>
    </dsp:sp>
    <dsp:sp modelId="{62546348-8CEC-40D6-8BD1-54D381FD4B12}">
      <dsp:nvSpPr>
        <dsp:cNvPr id="0" name=""/>
        <dsp:cNvSpPr/>
      </dsp:nvSpPr>
      <dsp:spPr>
        <a:xfrm>
          <a:off x="3602989" y="1366186"/>
          <a:ext cx="498158" cy="433181"/>
        </a:xfrm>
        <a:prstGeom prst="circularArrow">
          <a:avLst/>
        </a:prstGeom>
        <a:solidFill>
          <a:schemeClr val="dk2">
            <a:tint val="6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885271F-B2DE-4176-BE73-8F0D5FEB606A}">
      <dsp:nvSpPr>
        <dsp:cNvPr id="0" name=""/>
        <dsp:cNvSpPr/>
      </dsp:nvSpPr>
      <dsp:spPr>
        <a:xfrm rot="10800000">
          <a:off x="3602989" y="1532794"/>
          <a:ext cx="498158" cy="433181"/>
        </a:xfrm>
        <a:prstGeom prst="circularArrow">
          <a:avLst/>
        </a:prstGeom>
        <a:solidFill>
          <a:schemeClr val="dk2">
            <a:tint val="6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4"/>
            <a:ext cx="2944284" cy="495935"/>
          </a:xfrm>
          <a:prstGeom prst="rect">
            <a:avLst/>
          </a:prstGeom>
        </p:spPr>
        <p:txBody>
          <a:bodyPr vert="horz" lIns="94698" tIns="47348" rIns="94698" bIns="47348" rtlCol="0"/>
          <a:lstStyle>
            <a:lvl1pPr algn="l">
              <a:defRPr sz="1300"/>
            </a:lvl1pPr>
          </a:lstStyle>
          <a:p>
            <a:endParaRPr lang="en-US"/>
          </a:p>
        </p:txBody>
      </p:sp>
      <p:sp>
        <p:nvSpPr>
          <p:cNvPr id="3" name="Date Placeholder 2"/>
          <p:cNvSpPr>
            <a:spLocks noGrp="1"/>
          </p:cNvSpPr>
          <p:nvPr>
            <p:ph type="dt" sz="quarter" idx="1"/>
          </p:nvPr>
        </p:nvSpPr>
        <p:spPr>
          <a:xfrm>
            <a:off x="3848645" y="4"/>
            <a:ext cx="2944284" cy="495935"/>
          </a:xfrm>
          <a:prstGeom prst="rect">
            <a:avLst/>
          </a:prstGeom>
        </p:spPr>
        <p:txBody>
          <a:bodyPr vert="horz" lIns="94698" tIns="47348" rIns="94698" bIns="47348" rtlCol="0"/>
          <a:lstStyle>
            <a:lvl1pPr algn="r">
              <a:defRPr sz="1300"/>
            </a:lvl1pPr>
          </a:lstStyle>
          <a:p>
            <a:fld id="{623508D7-CD65-4285-B828-B369E2351DE2}" type="datetimeFigureOut">
              <a:rPr lang="en-US" smtClean="0"/>
              <a:pPr/>
              <a:t>9/12/2024</a:t>
            </a:fld>
            <a:endParaRPr lang="en-US"/>
          </a:p>
        </p:txBody>
      </p:sp>
      <p:sp>
        <p:nvSpPr>
          <p:cNvPr id="4" name="Footer Placeholder 3"/>
          <p:cNvSpPr>
            <a:spLocks noGrp="1"/>
          </p:cNvSpPr>
          <p:nvPr>
            <p:ph type="ftr" sz="quarter" idx="2"/>
          </p:nvPr>
        </p:nvSpPr>
        <p:spPr>
          <a:xfrm>
            <a:off x="1" y="9421048"/>
            <a:ext cx="2944284" cy="495935"/>
          </a:xfrm>
          <a:prstGeom prst="rect">
            <a:avLst/>
          </a:prstGeom>
        </p:spPr>
        <p:txBody>
          <a:bodyPr vert="horz" lIns="94698" tIns="47348" rIns="94698" bIns="47348" rtlCol="0" anchor="b"/>
          <a:lstStyle>
            <a:lvl1pPr algn="l">
              <a:defRPr sz="1300"/>
            </a:lvl1pPr>
          </a:lstStyle>
          <a:p>
            <a:endParaRPr lang="en-US"/>
          </a:p>
        </p:txBody>
      </p:sp>
      <p:sp>
        <p:nvSpPr>
          <p:cNvPr id="5" name="Slide Number Placeholder 4"/>
          <p:cNvSpPr>
            <a:spLocks noGrp="1"/>
          </p:cNvSpPr>
          <p:nvPr>
            <p:ph type="sldNum" sz="quarter" idx="3"/>
          </p:nvPr>
        </p:nvSpPr>
        <p:spPr>
          <a:xfrm>
            <a:off x="3848645" y="9421048"/>
            <a:ext cx="2944284" cy="495935"/>
          </a:xfrm>
          <a:prstGeom prst="rect">
            <a:avLst/>
          </a:prstGeom>
        </p:spPr>
        <p:txBody>
          <a:bodyPr vert="horz" lIns="94698" tIns="47348" rIns="94698" bIns="47348" rtlCol="0" anchor="b"/>
          <a:lstStyle>
            <a:lvl1pPr algn="r">
              <a:defRPr sz="1300"/>
            </a:lvl1pPr>
          </a:lstStyle>
          <a:p>
            <a:fld id="{6A854FC7-2F89-40CE-8D5B-3D90DD628EC1}" type="slidenum">
              <a:rPr lang="en-US" smtClean="0"/>
              <a:pPr/>
              <a:t>‹#›</a:t>
            </a:fld>
            <a:endParaRPr lang="en-US"/>
          </a:p>
        </p:txBody>
      </p:sp>
    </p:spTree>
    <p:extLst>
      <p:ext uri="{BB962C8B-B14F-4D97-AF65-F5344CB8AC3E}">
        <p14:creationId xmlns:p14="http://schemas.microsoft.com/office/powerpoint/2010/main" val="32747734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4"/>
            <a:ext cx="2944284" cy="495935"/>
          </a:xfrm>
          <a:prstGeom prst="rect">
            <a:avLst/>
          </a:prstGeom>
        </p:spPr>
        <p:txBody>
          <a:bodyPr vert="horz" lIns="94698" tIns="47348" rIns="94698" bIns="47348" rtlCol="0"/>
          <a:lstStyle>
            <a:lvl1pPr algn="l">
              <a:defRPr sz="1300"/>
            </a:lvl1pPr>
          </a:lstStyle>
          <a:p>
            <a:endParaRPr lang="en-US"/>
          </a:p>
        </p:txBody>
      </p:sp>
      <p:sp>
        <p:nvSpPr>
          <p:cNvPr id="3" name="Date Placeholder 2"/>
          <p:cNvSpPr>
            <a:spLocks noGrp="1"/>
          </p:cNvSpPr>
          <p:nvPr>
            <p:ph type="dt" idx="1"/>
          </p:nvPr>
        </p:nvSpPr>
        <p:spPr>
          <a:xfrm>
            <a:off x="3848645" y="4"/>
            <a:ext cx="2944284" cy="495935"/>
          </a:xfrm>
          <a:prstGeom prst="rect">
            <a:avLst/>
          </a:prstGeom>
        </p:spPr>
        <p:txBody>
          <a:bodyPr vert="horz" lIns="94698" tIns="47348" rIns="94698" bIns="47348" rtlCol="0"/>
          <a:lstStyle>
            <a:lvl1pPr algn="r">
              <a:defRPr sz="1300"/>
            </a:lvl1pPr>
          </a:lstStyle>
          <a:p>
            <a:fld id="{68A3EB84-E0F6-4EF5-A6B6-15B35501A2C4}" type="datetimeFigureOut">
              <a:rPr lang="en-US" smtClean="0"/>
              <a:pPr/>
              <a:t>9/12/2024</a:t>
            </a:fld>
            <a:endParaRPr lang="en-US"/>
          </a:p>
        </p:txBody>
      </p:sp>
      <p:sp>
        <p:nvSpPr>
          <p:cNvPr id="4" name="Slide Image Placeholder 3"/>
          <p:cNvSpPr>
            <a:spLocks noGrp="1" noRot="1" noChangeAspect="1"/>
          </p:cNvSpPr>
          <p:nvPr>
            <p:ph type="sldImg" idx="2"/>
          </p:nvPr>
        </p:nvSpPr>
        <p:spPr>
          <a:xfrm>
            <a:off x="917575" y="744538"/>
            <a:ext cx="4959350" cy="3719512"/>
          </a:xfrm>
          <a:prstGeom prst="rect">
            <a:avLst/>
          </a:prstGeom>
          <a:noFill/>
          <a:ln w="12700">
            <a:solidFill>
              <a:prstClr val="black"/>
            </a:solidFill>
          </a:ln>
        </p:spPr>
        <p:txBody>
          <a:bodyPr vert="horz" lIns="94698" tIns="47348" rIns="94698" bIns="47348" rtlCol="0" anchor="ctr"/>
          <a:lstStyle/>
          <a:p>
            <a:endParaRPr lang="en-US"/>
          </a:p>
        </p:txBody>
      </p:sp>
      <p:sp>
        <p:nvSpPr>
          <p:cNvPr id="5" name="Notes Placeholder 4"/>
          <p:cNvSpPr>
            <a:spLocks noGrp="1"/>
          </p:cNvSpPr>
          <p:nvPr>
            <p:ph type="body" sz="quarter" idx="3"/>
          </p:nvPr>
        </p:nvSpPr>
        <p:spPr>
          <a:xfrm>
            <a:off x="679450" y="4711385"/>
            <a:ext cx="5435600" cy="4463415"/>
          </a:xfrm>
          <a:prstGeom prst="rect">
            <a:avLst/>
          </a:prstGeom>
        </p:spPr>
        <p:txBody>
          <a:bodyPr vert="horz" lIns="94698" tIns="47348" rIns="94698" bIns="4734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1" y="9421048"/>
            <a:ext cx="2944284" cy="495935"/>
          </a:xfrm>
          <a:prstGeom prst="rect">
            <a:avLst/>
          </a:prstGeom>
        </p:spPr>
        <p:txBody>
          <a:bodyPr vert="horz" lIns="94698" tIns="47348" rIns="94698" bIns="47348" rtlCol="0" anchor="b"/>
          <a:lstStyle>
            <a:lvl1pPr algn="l">
              <a:defRPr sz="1300"/>
            </a:lvl1pPr>
          </a:lstStyle>
          <a:p>
            <a:endParaRPr lang="en-US"/>
          </a:p>
        </p:txBody>
      </p:sp>
      <p:sp>
        <p:nvSpPr>
          <p:cNvPr id="7" name="Slide Number Placeholder 6"/>
          <p:cNvSpPr>
            <a:spLocks noGrp="1"/>
          </p:cNvSpPr>
          <p:nvPr>
            <p:ph type="sldNum" sz="quarter" idx="5"/>
          </p:nvPr>
        </p:nvSpPr>
        <p:spPr>
          <a:xfrm>
            <a:off x="3848645" y="9421048"/>
            <a:ext cx="2944284" cy="495935"/>
          </a:xfrm>
          <a:prstGeom prst="rect">
            <a:avLst/>
          </a:prstGeom>
        </p:spPr>
        <p:txBody>
          <a:bodyPr vert="horz" lIns="94698" tIns="47348" rIns="94698" bIns="47348" rtlCol="0" anchor="b"/>
          <a:lstStyle>
            <a:lvl1pPr algn="r">
              <a:defRPr sz="1300"/>
            </a:lvl1pPr>
          </a:lstStyle>
          <a:p>
            <a:fld id="{70A64E9A-006E-4595-84A4-B133CBD63029}" type="slidenum">
              <a:rPr lang="en-US" smtClean="0"/>
              <a:pPr/>
              <a:t>‹#›</a:t>
            </a:fld>
            <a:endParaRPr lang="en-US"/>
          </a:p>
        </p:txBody>
      </p:sp>
    </p:spTree>
    <p:extLst>
      <p:ext uri="{BB962C8B-B14F-4D97-AF65-F5344CB8AC3E}">
        <p14:creationId xmlns:p14="http://schemas.microsoft.com/office/powerpoint/2010/main" val="278332218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Slide Image Placeholder 1"/>
          <p:cNvSpPr>
            <a:spLocks noGrp="1" noRot="1" noChangeAspect="1"/>
          </p:cNvSpPr>
          <p:nvPr>
            <p:ph type="sldImg"/>
          </p:nvPr>
        </p:nvSpPr>
        <p:spPr bwMode="auto">
          <a:noFill/>
          <a:ln>
            <a:solidFill>
              <a:srgbClr val="000000"/>
            </a:solidFill>
            <a:miter lim="800000"/>
            <a:headEnd/>
            <a:tailEnd/>
          </a:ln>
        </p:spPr>
      </p:sp>
      <p:sp>
        <p:nvSpPr>
          <p:cNvPr id="1331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p>
        </p:txBody>
      </p:sp>
      <p:sp>
        <p:nvSpPr>
          <p:cNvPr id="13315"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3F77F84-EBF5-4DC2-873D-49BD8B121CCF}" type="slidenum">
              <a:rPr lang="en-US">
                <a:cs typeface="Arial" charset="0"/>
              </a:rPr>
              <a:pPr fontAlgn="base">
                <a:spcBef>
                  <a:spcPct val="0"/>
                </a:spcBef>
                <a:spcAft>
                  <a:spcPct val="0"/>
                </a:spcAft>
                <a:defRPr/>
              </a:pPr>
              <a:t>1</a:t>
            </a:fld>
            <a:endParaRPr lang="en-US">
              <a:cs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632C1CBB-133D-A499-0D6D-C3ACF427F8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902E79C5-A618-4A73-A5B5-7DF44E840662}"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53251" name="Rectangle 2">
            <a:extLst>
              <a:ext uri="{FF2B5EF4-FFF2-40B4-BE49-F238E27FC236}">
                <a16:creationId xmlns:a16="http://schemas.microsoft.com/office/drawing/2014/main" id="{2D77F151-96C5-6448-A20A-1DC938BC69DB}"/>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26B2B8C2-763E-115C-926A-DA34001570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1DB916EA-045D-95EC-C412-2396F66F4C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DCCF0A32-08FB-4705-B54F-149CDFDF5CD3}"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56323" name="Rectangle 2">
            <a:extLst>
              <a:ext uri="{FF2B5EF4-FFF2-40B4-BE49-F238E27FC236}">
                <a16:creationId xmlns:a16="http://schemas.microsoft.com/office/drawing/2014/main" id="{65B6AECE-0E23-B17D-9718-1C8654D46E59}"/>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889CEA1C-38FE-E813-297E-7FBBC16B59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mn-lt"/>
                <a:ea typeface="+mn-ea"/>
                <a:cs typeface="+mn-cs"/>
              </a:rPr>
              <a:t>This situation occurs whenever two or more processes or threads are simultaneously in the ready state. If only one CPU is available, a choice has to be made which process to run next.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Many of the same issues that apply to process scheduling also apply to thread scheduling, although some are different. Initially we will focus on scheduling issues that apply to both processes and threads. </a:t>
            </a:r>
            <a:endParaRPr lang="en-US" dirty="0"/>
          </a:p>
        </p:txBody>
      </p:sp>
      <p:sp>
        <p:nvSpPr>
          <p:cNvPr id="4" name="Slide Number Placeholder 3"/>
          <p:cNvSpPr>
            <a:spLocks noGrp="1"/>
          </p:cNvSpPr>
          <p:nvPr>
            <p:ph type="sldNum" sz="quarter" idx="10"/>
          </p:nvPr>
        </p:nvSpPr>
        <p:spPr/>
        <p:txBody>
          <a:bodyPr/>
          <a:lstStyle/>
          <a:p>
            <a:fld id="{70A64E9A-006E-4595-84A4-B133CBD63029}" type="slidenum">
              <a:rPr lang="en-US" smtClean="0"/>
              <a:pPr/>
              <a:t>5</a:t>
            </a:fld>
            <a:endParaRPr lang="en-US"/>
          </a:p>
        </p:txBody>
      </p:sp>
    </p:spTree>
    <p:extLst>
      <p:ext uri="{BB962C8B-B14F-4D97-AF65-F5344CB8AC3E}">
        <p14:creationId xmlns:p14="http://schemas.microsoft.com/office/powerpoint/2010/main" val="83463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mn-lt"/>
                <a:ea typeface="+mn-ea"/>
                <a:cs typeface="+mn-cs"/>
              </a:rPr>
              <a:t>Back in the old days of batch systems with input in the form of card images on a magnetic tape, the scheduling algorithm was simple: just run the next job on the tape. With multiprogramming systems, the scheduling algorithm became more complex because there were generally multiple users waiting for service.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CPU time is a scarce resource on these machines, a good scheduler can make a big difference in perceived performance and user satisfaction </a:t>
            </a:r>
            <a:endParaRPr lang="en-US" dirty="0"/>
          </a:p>
        </p:txBody>
      </p:sp>
      <p:sp>
        <p:nvSpPr>
          <p:cNvPr id="4" name="Slide Number Placeholder 3"/>
          <p:cNvSpPr>
            <a:spLocks noGrp="1"/>
          </p:cNvSpPr>
          <p:nvPr>
            <p:ph type="sldNum" sz="quarter" idx="10"/>
          </p:nvPr>
        </p:nvSpPr>
        <p:spPr/>
        <p:txBody>
          <a:bodyPr/>
          <a:lstStyle/>
          <a:p>
            <a:fld id="{70A64E9A-006E-4595-84A4-B133CBD63029}" type="slidenum">
              <a:rPr lang="en-US" smtClean="0"/>
              <a:pPr/>
              <a:t>6</a:t>
            </a:fld>
            <a:endParaRPr lang="en-US"/>
          </a:p>
        </p:txBody>
      </p:sp>
    </p:spTree>
    <p:extLst>
      <p:ext uri="{BB962C8B-B14F-4D97-AF65-F5344CB8AC3E}">
        <p14:creationId xmlns:p14="http://schemas.microsoft.com/office/powerpoint/2010/main" val="86444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ECE463EC-907B-266B-6381-EA81B6F549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8B39410E-187E-4B61-B708-7FB76437F26C}"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57347" name="Rectangle 2">
            <a:extLst>
              <a:ext uri="{FF2B5EF4-FFF2-40B4-BE49-F238E27FC236}">
                <a16:creationId xmlns:a16="http://schemas.microsoft.com/office/drawing/2014/main" id="{3EA3A8C9-3150-04CC-88B9-D5C686DBE5AB}"/>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58B4B461-EA99-529E-4873-13F7ADDC35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AE8307E2-C57F-1831-7AC1-EBBA755BCC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BDF9239D-092E-40E5-9380-339C60180B25}"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
        <p:nvSpPr>
          <p:cNvPr id="58371" name="Rectangle 2">
            <a:extLst>
              <a:ext uri="{FF2B5EF4-FFF2-40B4-BE49-F238E27FC236}">
                <a16:creationId xmlns:a16="http://schemas.microsoft.com/office/drawing/2014/main" id="{DB83E9E1-23CF-D686-1756-F1BD11593882}"/>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3F796903-CE52-1822-7515-303B39A486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4BA63B29-7992-6DBE-B5FA-A42481005F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ＭＳ Ｐゴシック" panose="020B0600070205080204" pitchFamily="34" charset="-128"/>
              </a:defRPr>
            </a:lvl1pPr>
            <a:lvl2pPr marL="742950" indent="-285750" defTabSz="930275">
              <a:defRPr>
                <a:solidFill>
                  <a:schemeClr val="tx1"/>
                </a:solidFill>
                <a:latin typeface="Verdana" panose="020B0604030504040204" pitchFamily="34" charset="0"/>
                <a:ea typeface="ＭＳ Ｐゴシック" panose="020B0600070205080204" pitchFamily="34" charset="-128"/>
              </a:defRPr>
            </a:lvl2pPr>
            <a:lvl3pPr marL="1143000" indent="-228600" defTabSz="930275">
              <a:defRPr>
                <a:solidFill>
                  <a:schemeClr val="tx1"/>
                </a:solidFill>
                <a:latin typeface="Verdana" panose="020B0604030504040204" pitchFamily="34" charset="0"/>
                <a:ea typeface="ＭＳ Ｐゴシック" panose="020B0600070205080204" pitchFamily="34" charset="-128"/>
              </a:defRPr>
            </a:lvl3pPr>
            <a:lvl4pPr marL="1600200" indent="-228600" defTabSz="930275">
              <a:defRPr>
                <a:solidFill>
                  <a:schemeClr val="tx1"/>
                </a:solidFill>
                <a:latin typeface="Verdana" panose="020B0604030504040204" pitchFamily="34" charset="0"/>
                <a:ea typeface="ＭＳ Ｐゴシック" panose="020B0600070205080204" pitchFamily="34" charset="-128"/>
              </a:defRPr>
            </a:lvl4pPr>
            <a:lvl5pPr marL="2057400" indent="-228600" defTabSz="930275">
              <a:defRPr>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E78F6C3F-0AE0-4812-90D9-02CEE10BB7FC}"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59395" name="Rectangle 2">
            <a:extLst>
              <a:ext uri="{FF2B5EF4-FFF2-40B4-BE49-F238E27FC236}">
                <a16:creationId xmlns:a16="http://schemas.microsoft.com/office/drawing/2014/main" id="{E260F748-26B4-ABAB-69D0-B33D670F6E26}"/>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48BF9CCF-6D4B-4ADC-1A68-552BFA322A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mn-lt"/>
                <a:ea typeface="+mn-ea"/>
                <a:cs typeface="+mn-cs"/>
              </a:rPr>
              <a:t>a switch from user mode to kernel mode must occur. Then the state of the current process must be saved, including storing its registers in the process table so they can be reloaded later. In some systems, the memory map (e.g., memory reference bits in the page table) must be saved as well. Next a new process must be selected by running the scheduling algorithm</a:t>
            </a:r>
            <a:endParaRPr lang="en-US" dirty="0"/>
          </a:p>
        </p:txBody>
      </p:sp>
      <p:sp>
        <p:nvSpPr>
          <p:cNvPr id="4" name="Slide Number Placeholder 3"/>
          <p:cNvSpPr>
            <a:spLocks noGrp="1"/>
          </p:cNvSpPr>
          <p:nvPr>
            <p:ph type="sldNum" sz="quarter" idx="10"/>
          </p:nvPr>
        </p:nvSpPr>
        <p:spPr/>
        <p:txBody>
          <a:bodyPr/>
          <a:lstStyle/>
          <a:p>
            <a:fld id="{70A64E9A-006E-4595-84A4-B133CBD63029}" type="slidenum">
              <a:rPr lang="en-US" smtClean="0"/>
              <a:pPr/>
              <a:t>10</a:t>
            </a:fld>
            <a:endParaRPr lang="en-US"/>
          </a:p>
        </p:txBody>
      </p:sp>
    </p:spTree>
    <p:extLst>
      <p:ext uri="{BB962C8B-B14F-4D97-AF65-F5344CB8AC3E}">
        <p14:creationId xmlns:p14="http://schemas.microsoft.com/office/powerpoint/2010/main" val="775434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The OS maintains all PCBs in Process Scheduling Queues. The OS maintains a separate queue for each of the process states and PCBs of all processes in the same execution state are placed in the same queue. When the state of a process is changed, its PCB is unlinked from its current queue and moved to its new state queue.</a:t>
            </a:r>
          </a:p>
          <a:p>
            <a:r>
              <a:rPr lang="en-US" sz="1200" b="1" i="0" kern="1200" dirty="0">
                <a:solidFill>
                  <a:schemeClr val="tx1"/>
                </a:solidFill>
                <a:effectLst/>
                <a:latin typeface="+mn-lt"/>
                <a:ea typeface="+mn-ea"/>
                <a:cs typeface="+mn-cs"/>
              </a:rPr>
              <a:t>Ready queue</a:t>
            </a:r>
            <a:r>
              <a:rPr lang="en-US" sz="1200" b="0" i="0" kern="1200" dirty="0">
                <a:solidFill>
                  <a:schemeClr val="tx1"/>
                </a:solidFill>
                <a:effectLst/>
                <a:latin typeface="+mn-lt"/>
                <a:ea typeface="+mn-ea"/>
                <a:cs typeface="+mn-cs"/>
              </a:rPr>
              <a:t> − This queue keeps a set of all processes residing in main memory, ready and waiting to execute. </a:t>
            </a:r>
            <a:endParaRPr lang="en-US" dirty="0"/>
          </a:p>
        </p:txBody>
      </p:sp>
      <p:sp>
        <p:nvSpPr>
          <p:cNvPr id="4" name="Slide Number Placeholder 3"/>
          <p:cNvSpPr>
            <a:spLocks noGrp="1"/>
          </p:cNvSpPr>
          <p:nvPr>
            <p:ph type="sldNum" sz="quarter" idx="10"/>
          </p:nvPr>
        </p:nvSpPr>
        <p:spPr/>
        <p:txBody>
          <a:bodyPr/>
          <a:lstStyle/>
          <a:p>
            <a:fld id="{70A64E9A-006E-4595-84A4-B133CBD63029}" type="slidenum">
              <a:rPr lang="en-US" smtClean="0"/>
              <a:pPr/>
              <a:t>11</a:t>
            </a:fld>
            <a:endParaRPr lang="en-US"/>
          </a:p>
        </p:txBody>
      </p:sp>
    </p:spTree>
    <p:extLst>
      <p:ext uri="{BB962C8B-B14F-4D97-AF65-F5344CB8AC3E}">
        <p14:creationId xmlns:p14="http://schemas.microsoft.com/office/powerpoint/2010/main" val="11162360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r>
              <a:rPr lang="en-US" dirty="0"/>
              <a:t>These services usually share two common features which can be used to identify if it is a cloud service. There are usually three layers in cloud computing. Companies use them differently based on what they offer.  From the top to the bottom, we have application, platform and computer infrastructure as services.  At the bottom is the foundation, the infrastructure. This is the layer where cloud hosting lives. In cloud hosting, traditional web or server applications run in virtual servers. Hosting in a cloud is an economical way for small companies to build their own web services since it removes the up-front commitment  to hardware resources and only rent the necessary capacity from cloud. Its success depends on effective capacity management.</a:t>
            </a:r>
          </a:p>
        </p:txBody>
      </p:sp>
      <p:sp>
        <p:nvSpPr>
          <p:cNvPr id="4" name="Slide Number Placeholder 3"/>
          <p:cNvSpPr>
            <a:spLocks noGrp="1"/>
          </p:cNvSpPr>
          <p:nvPr>
            <p:ph type="sldNum" sz="quarter" idx="10"/>
          </p:nvPr>
        </p:nvSpPr>
        <p:spPr/>
        <p:txBody>
          <a:bodyPr/>
          <a:lstStyle/>
          <a:p>
            <a:fld id="{70A64E9A-006E-4595-84A4-B133CBD63029}" type="slidenum">
              <a:rPr lang="en-US" smtClean="0"/>
              <a:pPr/>
              <a:t>12</a:t>
            </a:fld>
            <a:endParaRPr lang="en-US"/>
          </a:p>
        </p:txBody>
      </p:sp>
    </p:spTree>
    <p:extLst>
      <p:ext uri="{BB962C8B-B14F-4D97-AF65-F5344CB8AC3E}">
        <p14:creationId xmlns:p14="http://schemas.microsoft.com/office/powerpoint/2010/main" val="1267831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r>
              <a:rPr lang="en-US" dirty="0"/>
              <a:t>http://</a:t>
            </a:r>
            <a:r>
              <a:rPr lang="en-US" dirty="0" err="1"/>
              <a:t>www.tutorialspoint.com</a:t>
            </a:r>
            <a:r>
              <a:rPr lang="en-US" dirty="0"/>
              <a:t>/</a:t>
            </a:r>
            <a:r>
              <a:rPr lang="en-US" dirty="0" err="1"/>
              <a:t>operating_system</a:t>
            </a:r>
            <a:r>
              <a:rPr lang="en-US" dirty="0"/>
              <a:t>/</a:t>
            </a:r>
            <a:r>
              <a:rPr lang="en-US" dirty="0" err="1"/>
              <a:t>os_process_scheduling.htm</a:t>
            </a:r>
            <a:endParaRPr lang="en-US" dirty="0"/>
          </a:p>
        </p:txBody>
      </p:sp>
      <p:sp>
        <p:nvSpPr>
          <p:cNvPr id="4" name="Slide Number Placeholder 3"/>
          <p:cNvSpPr>
            <a:spLocks noGrp="1"/>
          </p:cNvSpPr>
          <p:nvPr>
            <p:ph type="sldNum" sz="quarter" idx="10"/>
          </p:nvPr>
        </p:nvSpPr>
        <p:spPr/>
        <p:txBody>
          <a:bodyPr/>
          <a:lstStyle/>
          <a:p>
            <a:fld id="{70A64E9A-006E-4595-84A4-B133CBD63029}" type="slidenum">
              <a:rPr lang="en-US" smtClean="0"/>
              <a:pPr/>
              <a:t>14</a:t>
            </a:fld>
            <a:endParaRPr lang="en-US"/>
          </a:p>
        </p:txBody>
      </p:sp>
    </p:spTree>
    <p:extLst>
      <p:ext uri="{BB962C8B-B14F-4D97-AF65-F5344CB8AC3E}">
        <p14:creationId xmlns:p14="http://schemas.microsoft.com/office/powerpoint/2010/main" val="17469118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 did not have to wait any amount of time because it arrived first</a:t>
            </a:r>
          </a:p>
          <a:p>
            <a:r>
              <a:rPr lang="en-US" dirty="0"/>
              <a:t>P2 had to wait 32 </a:t>
            </a:r>
            <a:r>
              <a:rPr lang="en-US" dirty="0" err="1"/>
              <a:t>ms</a:t>
            </a:r>
            <a:r>
              <a:rPr lang="en-US" dirty="0"/>
              <a:t> before it could use the CPU</a:t>
            </a:r>
          </a:p>
          <a:p>
            <a:r>
              <a:rPr lang="en-US" dirty="0"/>
              <a:t>P3 had to wait 40 </a:t>
            </a:r>
            <a:r>
              <a:rPr lang="en-US" dirty="0" err="1"/>
              <a:t>ms</a:t>
            </a:r>
            <a:r>
              <a:rPr lang="en-US" dirty="0"/>
              <a:t> before it could use the CPU</a:t>
            </a:r>
          </a:p>
        </p:txBody>
      </p:sp>
      <p:sp>
        <p:nvSpPr>
          <p:cNvPr id="4" name="Slide Number Placeholder 3"/>
          <p:cNvSpPr>
            <a:spLocks noGrp="1"/>
          </p:cNvSpPr>
          <p:nvPr>
            <p:ph type="sldNum" sz="quarter" idx="5"/>
          </p:nvPr>
        </p:nvSpPr>
        <p:spPr/>
        <p:txBody>
          <a:bodyPr/>
          <a:lstStyle/>
          <a:p>
            <a:fld id="{70A64E9A-006E-4595-84A4-B133CBD63029}" type="slidenum">
              <a:rPr lang="en-US" smtClean="0"/>
              <a:pPr/>
              <a:t>19</a:t>
            </a:fld>
            <a:endParaRPr lang="en-US"/>
          </a:p>
        </p:txBody>
      </p:sp>
    </p:spTree>
    <p:extLst>
      <p:ext uri="{BB962C8B-B14F-4D97-AF65-F5344CB8AC3E}">
        <p14:creationId xmlns:p14="http://schemas.microsoft.com/office/powerpoint/2010/main" val="30821840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Turnaround time is the amount of time it takes for a process to complete after it has arrived at the scheduler to the time the process is complete (including wait time) – not the same as burst time which is the amount of time it takes to process</a:t>
            </a:r>
          </a:p>
        </p:txBody>
      </p:sp>
      <p:sp>
        <p:nvSpPr>
          <p:cNvPr id="4" name="Slide Number Placeholder 3"/>
          <p:cNvSpPr>
            <a:spLocks noGrp="1"/>
          </p:cNvSpPr>
          <p:nvPr>
            <p:ph type="sldNum" sz="quarter" idx="5"/>
          </p:nvPr>
        </p:nvSpPr>
        <p:spPr/>
        <p:txBody>
          <a:bodyPr/>
          <a:lstStyle/>
          <a:p>
            <a:fld id="{70A64E9A-006E-4595-84A4-B133CBD63029}" type="slidenum">
              <a:rPr lang="en-US" smtClean="0"/>
              <a:pPr/>
              <a:t>23</a:t>
            </a:fld>
            <a:endParaRPr lang="en-US"/>
          </a:p>
        </p:txBody>
      </p:sp>
    </p:spTree>
    <p:extLst>
      <p:ext uri="{BB962C8B-B14F-4D97-AF65-F5344CB8AC3E}">
        <p14:creationId xmlns:p14="http://schemas.microsoft.com/office/powerpoint/2010/main" val="40268824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Turnaround time is the amount of time it takes for a process to complete after it has arrived at the scheduler to the time the process is complete (including wait time) – not the same as burst time which is the amount of time it takes to process</a:t>
            </a:r>
          </a:p>
        </p:txBody>
      </p:sp>
      <p:sp>
        <p:nvSpPr>
          <p:cNvPr id="4" name="Slide Number Placeholder 3"/>
          <p:cNvSpPr>
            <a:spLocks noGrp="1"/>
          </p:cNvSpPr>
          <p:nvPr>
            <p:ph type="sldNum" sz="quarter" idx="5"/>
          </p:nvPr>
        </p:nvSpPr>
        <p:spPr/>
        <p:txBody>
          <a:bodyPr/>
          <a:lstStyle/>
          <a:p>
            <a:fld id="{70A64E9A-006E-4595-84A4-B133CBD63029}" type="slidenum">
              <a:rPr lang="en-US" smtClean="0"/>
              <a:pPr/>
              <a:t>24</a:t>
            </a:fld>
            <a:endParaRPr lang="en-US"/>
          </a:p>
        </p:txBody>
      </p:sp>
    </p:spTree>
    <p:extLst>
      <p:ext uri="{BB962C8B-B14F-4D97-AF65-F5344CB8AC3E}">
        <p14:creationId xmlns:p14="http://schemas.microsoft.com/office/powerpoint/2010/main" val="30236343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mn-lt"/>
                <a:ea typeface="+mn-ea"/>
                <a:cs typeface="+mn-cs"/>
              </a:rPr>
              <a:t>processes are assigned the CPU in the order they arrive. Basically, there is a single queue of ready processes.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 other jobs come in, they are put onto the end of the queue. When the running process blocks, the first process on the queue is run next. When a blocked process becomes ready, like a newly arrived job, it is put on the end of the queue.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great strength of this algorithm is that it is easy to understand and equally easy to program. a single linked list keeps track of all ready processes. Picking a process to run just requires removing one from the front of the queue. Adding a new job or unblocked process just requires attaching it to the end of the queue.</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Nonpreemptive</a:t>
            </a:r>
            <a:r>
              <a:rPr lang="en-US" sz="1200" kern="1200" dirty="0">
                <a:solidFill>
                  <a:schemeClr val="tx1"/>
                </a:solidFill>
                <a:effectLst/>
                <a:latin typeface="+mn-lt"/>
                <a:ea typeface="+mn-ea"/>
                <a:cs typeface="+mn-cs"/>
              </a:rPr>
              <a:t> – the currently running process must be complete before the next process can run</a:t>
            </a:r>
          </a:p>
          <a:p>
            <a:pPr marL="0" marR="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02124"/>
                </a:solidFill>
                <a:effectLst/>
                <a:latin typeface="Roboto" panose="02000000000000000000" pitchFamily="2" charset="0"/>
              </a:rPr>
              <a:t>Response time – amount of time from when a request was submitted until the first response is produced.</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0A64E9A-006E-4595-84A4-B133CBD63029}" type="slidenum">
              <a:rPr lang="en-US" smtClean="0"/>
              <a:pPr/>
              <a:t>26</a:t>
            </a:fld>
            <a:endParaRPr lang="en-US"/>
          </a:p>
        </p:txBody>
      </p:sp>
    </p:spTree>
    <p:extLst>
      <p:ext uri="{BB962C8B-B14F-4D97-AF65-F5344CB8AC3E}">
        <p14:creationId xmlns:p14="http://schemas.microsoft.com/office/powerpoint/2010/main" val="2099180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other processes can interrupt the current process once it is using the CPU.</a:t>
            </a:r>
          </a:p>
          <a:p>
            <a:endParaRPr lang="en-US" dirty="0"/>
          </a:p>
          <a:p>
            <a:r>
              <a:rPr lang="en-US" dirty="0"/>
              <a:t>Average waiting time 0+4+11+19= 34/4 = 8.5 </a:t>
            </a:r>
            <a:r>
              <a:rPr lang="en-US" dirty="0" err="1"/>
              <a:t>ms</a:t>
            </a:r>
            <a:endParaRPr lang="en-US" dirty="0"/>
          </a:p>
          <a:p>
            <a:r>
              <a:rPr lang="en-US" dirty="0"/>
              <a:t>See slide 29</a:t>
            </a:r>
          </a:p>
        </p:txBody>
      </p:sp>
      <p:sp>
        <p:nvSpPr>
          <p:cNvPr id="4" name="Slide Number Placeholder 3"/>
          <p:cNvSpPr>
            <a:spLocks noGrp="1"/>
          </p:cNvSpPr>
          <p:nvPr>
            <p:ph type="sldNum" sz="quarter" idx="5"/>
          </p:nvPr>
        </p:nvSpPr>
        <p:spPr/>
        <p:txBody>
          <a:bodyPr/>
          <a:lstStyle/>
          <a:p>
            <a:fld id="{70A64E9A-006E-4595-84A4-B133CBD63029}" type="slidenum">
              <a:rPr lang="en-US" smtClean="0"/>
              <a:pPr/>
              <a:t>30</a:t>
            </a:fld>
            <a:endParaRPr lang="en-US"/>
          </a:p>
        </p:txBody>
      </p:sp>
    </p:spTree>
    <p:extLst>
      <p:ext uri="{BB962C8B-B14F-4D97-AF65-F5344CB8AC3E}">
        <p14:creationId xmlns:p14="http://schemas.microsoft.com/office/powerpoint/2010/main" val="27535336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preemptive scheduling because based on a condition the next process could take over the CPU, regardless if there is already a process running on the CPU.</a:t>
            </a:r>
          </a:p>
          <a:p>
            <a:endParaRPr lang="en-US" dirty="0"/>
          </a:p>
          <a:p>
            <a:r>
              <a:rPr lang="en-US" dirty="0"/>
              <a:t>At arrival time 0, the only process in the queue was P1, so it goes first</a:t>
            </a:r>
          </a:p>
          <a:p>
            <a:r>
              <a:rPr lang="en-US" dirty="0"/>
              <a:t>At arrival time 1, P2 arrives in the queue and has less burst time than P1. P1 is preempted and removed from the CPU. P2 starts at 1 and it takes 5 bursts, ending on 6.</a:t>
            </a:r>
          </a:p>
          <a:p>
            <a:r>
              <a:rPr lang="en-US" dirty="0"/>
              <a:t>At arrival time 2, P3 arrives and the burst time is greater than the burst time for P2, so P2 is not preempted.</a:t>
            </a:r>
          </a:p>
          <a:p>
            <a:r>
              <a:rPr lang="en-US" dirty="0"/>
              <a:t>At arrival time 3, P4 arrives and compares itself to the CURRENT time P2 is in its process – P2 was at 3 </a:t>
            </a:r>
            <a:r>
              <a:rPr lang="en-US" dirty="0" err="1"/>
              <a:t>ms</a:t>
            </a:r>
            <a:r>
              <a:rPr lang="en-US" dirty="0"/>
              <a:t> into its process, so P2 was not preempted</a:t>
            </a:r>
          </a:p>
          <a:p>
            <a:r>
              <a:rPr lang="en-US" dirty="0"/>
              <a:t>P2 completes its process and have to decide which process is next --- NOTE: You have to consider the amount of time the first process was using the CPU before it was preempted. In this case, P1 was using the CPU for 1 </a:t>
            </a:r>
            <a:r>
              <a:rPr lang="en-US" dirty="0" err="1"/>
              <a:t>ms</a:t>
            </a:r>
            <a:r>
              <a:rPr lang="en-US" dirty="0"/>
              <a:t> before P2 arrived, the burst time only has 8 </a:t>
            </a:r>
            <a:r>
              <a:rPr lang="en-US" dirty="0" err="1"/>
              <a:t>ms</a:t>
            </a:r>
            <a:r>
              <a:rPr lang="en-US" dirty="0"/>
              <a:t> remaining</a:t>
            </a:r>
          </a:p>
          <a:p>
            <a:r>
              <a:rPr lang="en-US" dirty="0"/>
              <a:t>Now, P4 has the shortest burst time, so it goes next for 6 </a:t>
            </a:r>
            <a:r>
              <a:rPr lang="en-US" dirty="0" err="1"/>
              <a:t>ms</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31</a:t>
            </a:fld>
            <a:endParaRPr lang="en-US"/>
          </a:p>
        </p:txBody>
      </p:sp>
    </p:spTree>
    <p:extLst>
      <p:ext uri="{BB962C8B-B14F-4D97-AF65-F5344CB8AC3E}">
        <p14:creationId xmlns:p14="http://schemas.microsoft.com/office/powerpoint/2010/main" val="28830392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32</a:t>
            </a:fld>
            <a:endParaRPr lang="en-US"/>
          </a:p>
        </p:txBody>
      </p:sp>
    </p:spTree>
    <p:extLst>
      <p:ext uri="{BB962C8B-B14F-4D97-AF65-F5344CB8AC3E}">
        <p14:creationId xmlns:p14="http://schemas.microsoft.com/office/powerpoint/2010/main" val="12850788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assumes the run times are known in advance.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Shortest job first is provably optimal.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cs typeface="Calibri"/>
            </a:endParaRPr>
          </a:p>
        </p:txBody>
      </p:sp>
      <p:sp>
        <p:nvSpPr>
          <p:cNvPr id="4" name="Slide Number Placeholder 3"/>
          <p:cNvSpPr>
            <a:spLocks noGrp="1"/>
          </p:cNvSpPr>
          <p:nvPr>
            <p:ph type="sldNum" sz="quarter" idx="10"/>
          </p:nvPr>
        </p:nvSpPr>
        <p:spPr/>
        <p:txBody>
          <a:bodyPr/>
          <a:lstStyle/>
          <a:p>
            <a:fld id="{70A64E9A-006E-4595-84A4-B133CBD63029}" type="slidenum">
              <a:rPr lang="en-US" smtClean="0"/>
              <a:pPr/>
              <a:t>33</a:t>
            </a:fld>
            <a:endParaRPr lang="en-US"/>
          </a:p>
        </p:txBody>
      </p:sp>
    </p:spTree>
    <p:extLst>
      <p:ext uri="{BB962C8B-B14F-4D97-AF65-F5344CB8AC3E}">
        <p14:creationId xmlns:p14="http://schemas.microsoft.com/office/powerpoint/2010/main" val="20617138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0+7+16+24=47/4=11.75 </a:t>
            </a:r>
            <a:r>
              <a:rPr lang="en-US" dirty="0" err="1"/>
              <a:t>ms</a:t>
            </a:r>
            <a:endParaRPr lang="en-US" dirty="0"/>
          </a:p>
          <a:p>
            <a:endParaRPr lang="en-US" dirty="0"/>
          </a:p>
          <a:p>
            <a:r>
              <a:rPr lang="en-US" dirty="0"/>
              <a:t>11.75 – 8.5 = 3.25 </a:t>
            </a:r>
            <a:r>
              <a:rPr lang="en-US" dirty="0" err="1"/>
              <a:t>ms</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35</a:t>
            </a:fld>
            <a:endParaRPr lang="en-US"/>
          </a:p>
        </p:txBody>
      </p:sp>
    </p:spTree>
    <p:extLst>
      <p:ext uri="{BB962C8B-B14F-4D97-AF65-F5344CB8AC3E}">
        <p14:creationId xmlns:p14="http://schemas.microsoft.com/office/powerpoint/2010/main" val="14313407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quantum can be between 10 </a:t>
            </a:r>
            <a:r>
              <a:rPr lang="en-US" dirty="0" err="1"/>
              <a:t>ms</a:t>
            </a:r>
            <a:r>
              <a:rPr lang="en-US" dirty="0"/>
              <a:t> – 100 </a:t>
            </a:r>
            <a:r>
              <a:rPr lang="en-US" dirty="0" err="1"/>
              <a:t>ms</a:t>
            </a:r>
            <a:endParaRPr lang="en-US"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39</a:t>
            </a:fld>
            <a:endParaRPr lang="en-US"/>
          </a:p>
        </p:txBody>
      </p:sp>
    </p:spTree>
    <p:extLst>
      <p:ext uri="{BB962C8B-B14F-4D97-AF65-F5344CB8AC3E}">
        <p14:creationId xmlns:p14="http://schemas.microsoft.com/office/powerpoint/2010/main" val="2918030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43</a:t>
            </a:fld>
            <a:endParaRPr lang="en-US"/>
          </a:p>
        </p:txBody>
      </p:sp>
    </p:spTree>
    <p:extLst>
      <p:ext uri="{BB962C8B-B14F-4D97-AF65-F5344CB8AC3E}">
        <p14:creationId xmlns:p14="http://schemas.microsoft.com/office/powerpoint/2010/main" val="28474345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mn-lt"/>
                <a:ea typeface="+mn-ea"/>
                <a:cs typeface="+mn-cs"/>
              </a:rPr>
              <a:t>Each process is assigned a time interval, called its </a:t>
            </a:r>
            <a:r>
              <a:rPr lang="en-US" sz="1200" b="1" kern="1200" dirty="0">
                <a:solidFill>
                  <a:schemeClr val="tx1"/>
                </a:solidFill>
                <a:effectLst/>
                <a:latin typeface="+mn-lt"/>
                <a:ea typeface="+mn-ea"/>
                <a:cs typeface="+mn-cs"/>
              </a:rPr>
              <a:t>quantum</a:t>
            </a:r>
            <a:r>
              <a:rPr lang="en-US" sz="1200" kern="1200" dirty="0">
                <a:solidFill>
                  <a:schemeClr val="tx1"/>
                </a:solidFill>
                <a:effectLst/>
                <a:latin typeface="+mn-lt"/>
                <a:ea typeface="+mn-ea"/>
                <a:cs typeface="+mn-cs"/>
              </a:rPr>
              <a:t>, during which it is allowed to run. If the process is still running at the end of the quantum, the CPU is preempted and given to another process. If the process has blocked or finished before the quantum has elapsed, the CPU switching is done when the process blocks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setting the quantum too short causes too many process switches and lowers the CPU efficiency, but setting it too long may cause poor response to short interactive requests. A quantum around 20–50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is often a reasonable compromise. </a:t>
            </a:r>
            <a:endParaRPr lang="en-US" dirty="0"/>
          </a:p>
        </p:txBody>
      </p:sp>
      <p:sp>
        <p:nvSpPr>
          <p:cNvPr id="4" name="Slide Number Placeholder 3"/>
          <p:cNvSpPr>
            <a:spLocks noGrp="1"/>
          </p:cNvSpPr>
          <p:nvPr>
            <p:ph type="sldNum" sz="quarter" idx="10"/>
          </p:nvPr>
        </p:nvSpPr>
        <p:spPr/>
        <p:txBody>
          <a:bodyPr/>
          <a:lstStyle/>
          <a:p>
            <a:fld id="{70A64E9A-006E-4595-84A4-B133CBD63029}" type="slidenum">
              <a:rPr lang="en-US" smtClean="0"/>
              <a:pPr/>
              <a:t>44</a:t>
            </a:fld>
            <a:endParaRPr lang="en-US"/>
          </a:p>
        </p:txBody>
      </p:sp>
    </p:spTree>
    <p:extLst>
      <p:ext uri="{BB962C8B-B14F-4D97-AF65-F5344CB8AC3E}">
        <p14:creationId xmlns:p14="http://schemas.microsoft.com/office/powerpoint/2010/main" val="15766376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P3 voluntarily relinquishes the CPU after its burst time and the next process in line</a:t>
            </a:r>
          </a:p>
        </p:txBody>
      </p:sp>
      <p:sp>
        <p:nvSpPr>
          <p:cNvPr id="4" name="Slide Number Placeholder 3"/>
          <p:cNvSpPr>
            <a:spLocks noGrp="1"/>
          </p:cNvSpPr>
          <p:nvPr>
            <p:ph type="sldNum" sz="quarter" idx="5"/>
          </p:nvPr>
        </p:nvSpPr>
        <p:spPr/>
        <p:txBody>
          <a:bodyPr/>
          <a:lstStyle/>
          <a:p>
            <a:fld id="{70A64E9A-006E-4595-84A4-B133CBD63029}" type="slidenum">
              <a:rPr lang="en-US" smtClean="0"/>
              <a:pPr/>
              <a:t>45</a:t>
            </a:fld>
            <a:endParaRPr lang="en-US"/>
          </a:p>
        </p:txBody>
      </p:sp>
    </p:spTree>
    <p:extLst>
      <p:ext uri="{BB962C8B-B14F-4D97-AF65-F5344CB8AC3E}">
        <p14:creationId xmlns:p14="http://schemas.microsoft.com/office/powerpoint/2010/main" val="35958833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Turnaround time = Completion Time – Arrival Time</a:t>
            </a:r>
          </a:p>
          <a:p>
            <a:r>
              <a:rPr lang="en-US" sz="1200" dirty="0"/>
              <a:t>Waiting time = Turnaround time – Burst time</a:t>
            </a:r>
          </a:p>
          <a:p>
            <a:pPr marL="0" indent="0">
              <a:buNone/>
            </a:pPr>
            <a:r>
              <a:rPr lang="en-US" sz="1200" dirty="0"/>
              <a:t>Response Time = Time process begins – Arrival time</a:t>
            </a:r>
          </a:p>
          <a:p>
            <a:endParaRPr lang="en-US"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46</a:t>
            </a:fld>
            <a:endParaRPr lang="en-US"/>
          </a:p>
        </p:txBody>
      </p:sp>
    </p:spTree>
    <p:extLst>
      <p:ext uri="{BB962C8B-B14F-4D97-AF65-F5344CB8AC3E}">
        <p14:creationId xmlns:p14="http://schemas.microsoft.com/office/powerpoint/2010/main" val="27534152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Each process is assigned a priority, and the runnable process with the highest priority is allowed to run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Priorities can be assigned to processes statically or dynamically.</a:t>
            </a:r>
            <a:r>
              <a:rPr lang="en-US" sz="1200" kern="1200" baseline="0" dirty="0">
                <a:solidFill>
                  <a:schemeClr val="tx1"/>
                </a:solidFill>
                <a:effectLst/>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It is often convenient to group processes into priority classes and use priority scheduling among the classes but round-robin scheduling within each class. </a:t>
            </a:r>
            <a:endParaRPr lang="en-US" dirty="0"/>
          </a:p>
        </p:txBody>
      </p:sp>
      <p:sp>
        <p:nvSpPr>
          <p:cNvPr id="4" name="Slide Number Placeholder 3"/>
          <p:cNvSpPr>
            <a:spLocks noGrp="1"/>
          </p:cNvSpPr>
          <p:nvPr>
            <p:ph type="sldNum" sz="quarter" idx="10"/>
          </p:nvPr>
        </p:nvSpPr>
        <p:spPr/>
        <p:txBody>
          <a:bodyPr/>
          <a:lstStyle/>
          <a:p>
            <a:fld id="{70A64E9A-006E-4595-84A4-B133CBD63029}" type="slidenum">
              <a:rPr lang="en-US" smtClean="0"/>
              <a:pPr/>
              <a:t>51</a:t>
            </a:fld>
            <a:endParaRPr lang="en-US"/>
          </a:p>
        </p:txBody>
      </p:sp>
    </p:spTree>
    <p:extLst>
      <p:ext uri="{BB962C8B-B14F-4D97-AF65-F5344CB8AC3E}">
        <p14:creationId xmlns:p14="http://schemas.microsoft.com/office/powerpoint/2010/main" val="7483808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52</a:t>
            </a:fld>
            <a:endParaRPr lang="en-US"/>
          </a:p>
        </p:txBody>
      </p:sp>
    </p:spTree>
    <p:extLst>
      <p:ext uri="{BB962C8B-B14F-4D97-AF65-F5344CB8AC3E}">
        <p14:creationId xmlns:p14="http://schemas.microsoft.com/office/powerpoint/2010/main" val="35251830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a:t>
            </a:r>
          </a:p>
          <a:p>
            <a:endParaRPr lang="en-US" dirty="0"/>
          </a:p>
          <a:p>
            <a:r>
              <a:rPr lang="en-US" dirty="0"/>
              <a:t>Increase the priority over lower priority processes, perhaps increase the priority by one every 5 minutes. Eventually, a process with the initial value of 20 would eventually have the highest priority.</a:t>
            </a:r>
          </a:p>
        </p:txBody>
      </p:sp>
      <p:sp>
        <p:nvSpPr>
          <p:cNvPr id="4" name="Slide Number Placeholder 3"/>
          <p:cNvSpPr>
            <a:spLocks noGrp="1"/>
          </p:cNvSpPr>
          <p:nvPr>
            <p:ph type="sldNum" sz="quarter" idx="5"/>
          </p:nvPr>
        </p:nvSpPr>
        <p:spPr/>
        <p:txBody>
          <a:bodyPr/>
          <a:lstStyle/>
          <a:p>
            <a:fld id="{70A64E9A-006E-4595-84A4-B133CBD63029}" type="slidenum">
              <a:rPr lang="en-US" smtClean="0"/>
              <a:pPr/>
              <a:t>54</a:t>
            </a:fld>
            <a:endParaRPr lang="en-US"/>
          </a:p>
        </p:txBody>
      </p:sp>
    </p:spTree>
    <p:extLst>
      <p:ext uri="{BB962C8B-B14F-4D97-AF65-F5344CB8AC3E}">
        <p14:creationId xmlns:p14="http://schemas.microsoft.com/office/powerpoint/2010/main" val="3317771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A64E9A-006E-4595-84A4-B133CBD63029}" type="slidenum">
              <a:rPr lang="en-US" smtClean="0"/>
              <a:pPr/>
              <a:t>55</a:t>
            </a:fld>
            <a:endParaRPr lang="en-US"/>
          </a:p>
        </p:txBody>
      </p:sp>
    </p:spTree>
    <p:extLst>
      <p:ext uri="{BB962C8B-B14F-4D97-AF65-F5344CB8AC3E}">
        <p14:creationId xmlns:p14="http://schemas.microsoft.com/office/powerpoint/2010/main" val="2254943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foreground process queue might be using the Round Robin algorithm and the background process queue might be using FCFS</a:t>
            </a:r>
          </a:p>
          <a:p>
            <a:endParaRPr lang="en-US" dirty="0"/>
          </a:p>
          <a:p>
            <a:r>
              <a:rPr lang="en-US" dirty="0"/>
              <a:t>Foreground queue could have absolute priority over background queue</a:t>
            </a:r>
          </a:p>
          <a:p>
            <a:r>
              <a:rPr lang="en-US" dirty="0"/>
              <a:t>If a background process is using the CPU and a foreground process requests access, the foreground process would preempt the background process</a:t>
            </a:r>
          </a:p>
          <a:p>
            <a:endParaRPr lang="en-US"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58</a:t>
            </a:fld>
            <a:endParaRPr lang="en-US"/>
          </a:p>
        </p:txBody>
      </p:sp>
    </p:spTree>
    <p:extLst>
      <p:ext uri="{BB962C8B-B14F-4D97-AF65-F5344CB8AC3E}">
        <p14:creationId xmlns:p14="http://schemas.microsoft.com/office/powerpoint/2010/main" val="2062235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https://youtu.be/1KLuC0knvs8</a:t>
            </a:r>
          </a:p>
        </p:txBody>
      </p:sp>
      <p:sp>
        <p:nvSpPr>
          <p:cNvPr id="4" name="Slide Number Placeholder 3"/>
          <p:cNvSpPr>
            <a:spLocks noGrp="1"/>
          </p:cNvSpPr>
          <p:nvPr>
            <p:ph type="sldNum" sz="quarter" idx="5"/>
          </p:nvPr>
        </p:nvSpPr>
        <p:spPr/>
        <p:txBody>
          <a:bodyPr/>
          <a:lstStyle/>
          <a:p>
            <a:fld id="{70A64E9A-006E-4595-84A4-B133CBD63029}" type="slidenum">
              <a:rPr lang="en-US" smtClean="0"/>
              <a:pPr/>
              <a:t>59</a:t>
            </a:fld>
            <a:endParaRPr lang="en-US"/>
          </a:p>
        </p:txBody>
      </p:sp>
    </p:spTree>
    <p:extLst>
      <p:ext uri="{BB962C8B-B14F-4D97-AF65-F5344CB8AC3E}">
        <p14:creationId xmlns:p14="http://schemas.microsoft.com/office/powerpoint/2010/main" val="18958033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60</a:t>
            </a:fld>
            <a:endParaRPr lang="en-US"/>
          </a:p>
        </p:txBody>
      </p:sp>
    </p:spTree>
    <p:extLst>
      <p:ext uri="{BB962C8B-B14F-4D97-AF65-F5344CB8AC3E}">
        <p14:creationId xmlns:p14="http://schemas.microsoft.com/office/powerpoint/2010/main" val="25281549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Processes in the highest class were run for one quantum. Processes in the next-highest class were run for two quanta. Processes in the next one were run for four quanta, etc. Whenever a process used up all the quanta allocated to it, it was moved down one class.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https://www.youtube.com/watch?v=1w9FybdNi_Y and https://youtu.be/kslttO1eX4I?t=34m11s if a thread blocks or yields before the quantum has been reached, it gets promoted; otherwise demoted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Let’s say in the highest priority queue a process is using RR and the burst for the process is higher than the quantum (</a:t>
            </a:r>
            <a:r>
              <a:rPr lang="en-US" dirty="0" err="1"/>
              <a:t>ie</a:t>
            </a:r>
            <a:r>
              <a:rPr lang="en-US" dirty="0"/>
              <a:t>, burst = 10, quantum = 4. Once the process has used its 4 </a:t>
            </a:r>
            <a:r>
              <a:rPr lang="en-US" dirty="0" err="1"/>
              <a:t>ms</a:t>
            </a:r>
            <a:r>
              <a:rPr lang="en-US" dirty="0"/>
              <a:t> and still has 6 </a:t>
            </a:r>
            <a:r>
              <a:rPr lang="en-US" dirty="0" err="1"/>
              <a:t>ms</a:t>
            </a:r>
            <a:r>
              <a:rPr lang="en-US" dirty="0"/>
              <a:t> to complete, it goes to the tail end of the second highest priority queue In this example, the process will complete in the second queue, but if it did not, it would move to the tail end of the next lowest priority queue</a:t>
            </a:r>
          </a:p>
        </p:txBody>
      </p:sp>
      <p:sp>
        <p:nvSpPr>
          <p:cNvPr id="4" name="Slide Number Placeholder 3"/>
          <p:cNvSpPr>
            <a:spLocks noGrp="1"/>
          </p:cNvSpPr>
          <p:nvPr>
            <p:ph type="sldNum" sz="quarter" idx="10"/>
          </p:nvPr>
        </p:nvSpPr>
        <p:spPr/>
        <p:txBody>
          <a:bodyPr/>
          <a:lstStyle/>
          <a:p>
            <a:fld id="{70A64E9A-006E-4595-84A4-B133CBD63029}" type="slidenum">
              <a:rPr lang="en-US" smtClean="0"/>
              <a:pPr/>
              <a:t>62</a:t>
            </a:fld>
            <a:endParaRPr lang="en-US"/>
          </a:p>
        </p:txBody>
      </p:sp>
    </p:spTree>
    <p:extLst>
      <p:ext uri="{BB962C8B-B14F-4D97-AF65-F5344CB8AC3E}">
        <p14:creationId xmlns:p14="http://schemas.microsoft.com/office/powerpoint/2010/main" val="19754384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on next two slides</a:t>
            </a:r>
          </a:p>
        </p:txBody>
      </p:sp>
      <p:sp>
        <p:nvSpPr>
          <p:cNvPr id="4" name="Slide Number Placeholder 3"/>
          <p:cNvSpPr>
            <a:spLocks noGrp="1"/>
          </p:cNvSpPr>
          <p:nvPr>
            <p:ph type="sldNum" sz="quarter" idx="5"/>
          </p:nvPr>
        </p:nvSpPr>
        <p:spPr/>
        <p:txBody>
          <a:bodyPr/>
          <a:lstStyle/>
          <a:p>
            <a:fld id="{70A64E9A-006E-4595-84A4-B133CBD63029}" type="slidenum">
              <a:rPr lang="en-US" smtClean="0"/>
              <a:pPr/>
              <a:t>65</a:t>
            </a:fld>
            <a:endParaRPr lang="en-US"/>
          </a:p>
        </p:txBody>
      </p:sp>
    </p:spTree>
    <p:extLst>
      <p:ext uri="{BB962C8B-B14F-4D97-AF65-F5344CB8AC3E}">
        <p14:creationId xmlns:p14="http://schemas.microsoft.com/office/powerpoint/2010/main" val="645275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66</a:t>
            </a:fld>
            <a:endParaRPr lang="en-US"/>
          </a:p>
        </p:txBody>
      </p:sp>
    </p:spTree>
    <p:extLst>
      <p:ext uri="{BB962C8B-B14F-4D97-AF65-F5344CB8AC3E}">
        <p14:creationId xmlns:p14="http://schemas.microsoft.com/office/powerpoint/2010/main" val="8469445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indent="0">
              <a:buNone/>
            </a:pPr>
            <a:r>
              <a:rPr lang="en-US" sz="1200" dirty="0"/>
              <a:t>Formulas:</a:t>
            </a:r>
          </a:p>
          <a:p>
            <a:pPr marL="0" indent="0">
              <a:buNone/>
            </a:pPr>
            <a:r>
              <a:rPr lang="en-US" sz="1200" dirty="0"/>
              <a:t>Turnaround time = Completion Time – Arrival Time</a:t>
            </a:r>
          </a:p>
          <a:p>
            <a:pPr marL="0" indent="0">
              <a:buNone/>
            </a:pPr>
            <a:r>
              <a:rPr lang="en-US" sz="1200" dirty="0"/>
              <a:t>Waiting time = Turnaround time – Burst Time</a:t>
            </a:r>
          </a:p>
          <a:p>
            <a:pPr marL="0" indent="0">
              <a:buNone/>
            </a:pPr>
            <a:r>
              <a:rPr lang="en-US" sz="1200" dirty="0"/>
              <a:t>Response Time = Time process begins – Arrival time</a:t>
            </a:r>
          </a:p>
          <a:p>
            <a:endParaRPr lang="en-US" sz="1200" dirty="0"/>
          </a:p>
          <a:p>
            <a:r>
              <a:rPr lang="en-US" sz="1200" dirty="0"/>
              <a:t>Turnaround Time:</a:t>
            </a:r>
          </a:p>
          <a:p>
            <a:r>
              <a:rPr lang="en-US" sz="1200" dirty="0"/>
              <a:t>P1 = 24 – 0 = 24</a:t>
            </a:r>
          </a:p>
          <a:p>
            <a:r>
              <a:rPr lang="en-US" sz="1200" dirty="0"/>
              <a:t>P2: 7 – 0 = 7</a:t>
            </a:r>
          </a:p>
          <a:p>
            <a:r>
              <a:rPr lang="en-US" sz="1200" dirty="0"/>
              <a:t>P3: 10-0 = 10</a:t>
            </a:r>
          </a:p>
          <a:p>
            <a:r>
              <a:rPr lang="en-US" sz="1200" dirty="0"/>
              <a:t>P4: 12 – 0 = 12</a:t>
            </a:r>
          </a:p>
          <a:p>
            <a:r>
              <a:rPr lang="en-US" sz="1200" dirty="0"/>
              <a:t>P5: 23 – 0 = 23</a:t>
            </a:r>
          </a:p>
          <a:p>
            <a:endParaRPr lang="en-US" sz="1200" dirty="0"/>
          </a:p>
          <a:p>
            <a:r>
              <a:rPr lang="en-US" sz="1200" dirty="0"/>
              <a:t>Waiting Time:</a:t>
            </a:r>
          </a:p>
          <a:p>
            <a:r>
              <a:rPr lang="en-US" sz="1200" dirty="0"/>
              <a:t>P1: 24 – 11 = 13</a:t>
            </a:r>
          </a:p>
          <a:p>
            <a:r>
              <a:rPr lang="en-US" sz="1200" dirty="0"/>
              <a:t>P2: 7 – 2 = 5</a:t>
            </a:r>
          </a:p>
          <a:p>
            <a:r>
              <a:rPr lang="en-US" sz="1200" dirty="0"/>
              <a:t>P3: 10 – 3 = 7</a:t>
            </a:r>
          </a:p>
          <a:p>
            <a:r>
              <a:rPr lang="en-US" sz="1200" dirty="0"/>
              <a:t>P4: 12 – 2 = 10 </a:t>
            </a:r>
          </a:p>
          <a:p>
            <a:r>
              <a:rPr lang="en-US" sz="1200" dirty="0"/>
              <a:t>P5: 23 – 6 = 17</a:t>
            </a:r>
          </a:p>
          <a:p>
            <a:endParaRPr lang="en-US" sz="1200" dirty="0"/>
          </a:p>
          <a:p>
            <a:r>
              <a:rPr lang="en-US" sz="1200" dirty="0"/>
              <a:t>Average Waiting Time: 13 + 5 + 7 + 10 + 17/5 = 10.4 </a:t>
            </a:r>
          </a:p>
          <a:p>
            <a:endParaRPr lang="en-US" sz="1200" dirty="0"/>
          </a:p>
          <a:p>
            <a:r>
              <a:rPr lang="en-US" sz="1200" dirty="0"/>
              <a:t>Answer: 11.5 – 10.4</a:t>
            </a:r>
          </a:p>
          <a:p>
            <a:endParaRPr lang="en-US" sz="1200" dirty="0"/>
          </a:p>
          <a:p>
            <a:r>
              <a:rPr lang="en-US" sz="1200" dirty="0"/>
              <a:t>The difference between the two = 1.1</a:t>
            </a:r>
          </a:p>
        </p:txBody>
      </p:sp>
      <p:sp>
        <p:nvSpPr>
          <p:cNvPr id="4" name="Slide Number Placeholder 3"/>
          <p:cNvSpPr>
            <a:spLocks noGrp="1"/>
          </p:cNvSpPr>
          <p:nvPr>
            <p:ph type="sldNum" sz="quarter" idx="5"/>
          </p:nvPr>
        </p:nvSpPr>
        <p:spPr/>
        <p:txBody>
          <a:bodyPr/>
          <a:lstStyle/>
          <a:p>
            <a:fld id="{70A64E9A-006E-4595-84A4-B133CBD63029}" type="slidenum">
              <a:rPr lang="en-US" smtClean="0"/>
              <a:pPr/>
              <a:t>67</a:t>
            </a:fld>
            <a:endParaRPr lang="en-US"/>
          </a:p>
        </p:txBody>
      </p:sp>
    </p:spTree>
    <p:extLst>
      <p:ext uri="{BB962C8B-B14F-4D97-AF65-F5344CB8AC3E}">
        <p14:creationId xmlns:p14="http://schemas.microsoft.com/office/powerpoint/2010/main" val="5605654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A64E9A-006E-4595-84A4-B133CBD63029}" type="slidenum">
              <a:rPr lang="en-US" smtClean="0"/>
              <a:pPr/>
              <a:t>69</a:t>
            </a:fld>
            <a:endParaRPr lang="en-US"/>
          </a:p>
        </p:txBody>
      </p:sp>
    </p:spTree>
    <p:extLst>
      <p:ext uri="{BB962C8B-B14F-4D97-AF65-F5344CB8AC3E}">
        <p14:creationId xmlns:p14="http://schemas.microsoft.com/office/powerpoint/2010/main" val="587989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Information for Red Black Trees found in Weiner, R. (2022) </a:t>
            </a:r>
            <a:r>
              <a:rPr lang="en-US" i="1" dirty="0"/>
              <a:t>Generic Data Structures and Algorithms in Go. </a:t>
            </a:r>
            <a:r>
              <a:rPr lang="en-US" dirty="0"/>
              <a:t>https://link.springer.com/content/pdf/10.1007/978-1-4842-8191-8.pdf</a:t>
            </a:r>
          </a:p>
          <a:p>
            <a:endParaRPr lang="en-US"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70</a:t>
            </a:fld>
            <a:endParaRPr lang="en-US"/>
          </a:p>
        </p:txBody>
      </p:sp>
    </p:spTree>
    <p:extLst>
      <p:ext uri="{BB962C8B-B14F-4D97-AF65-F5344CB8AC3E}">
        <p14:creationId xmlns:p14="http://schemas.microsoft.com/office/powerpoint/2010/main" val="23939546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for Red Black Trees found in Weiner, R. (2022) </a:t>
            </a:r>
            <a:r>
              <a:rPr lang="en-US" i="1" dirty="0"/>
              <a:t>Generic Data Structures and Algorithms in Go. </a:t>
            </a:r>
            <a:r>
              <a:rPr lang="en-US" dirty="0"/>
              <a:t>https://link.springer.com/content/pdf/10.1007/978-1-4842-8191-8.pdf</a:t>
            </a:r>
          </a:p>
        </p:txBody>
      </p:sp>
      <p:sp>
        <p:nvSpPr>
          <p:cNvPr id="4" name="Slide Number Placeholder 3"/>
          <p:cNvSpPr>
            <a:spLocks noGrp="1"/>
          </p:cNvSpPr>
          <p:nvPr>
            <p:ph type="sldNum" sz="quarter" idx="5"/>
          </p:nvPr>
        </p:nvSpPr>
        <p:spPr/>
        <p:txBody>
          <a:bodyPr/>
          <a:lstStyle/>
          <a:p>
            <a:fld id="{70A64E9A-006E-4595-84A4-B133CBD63029}" type="slidenum">
              <a:rPr lang="en-US" smtClean="0"/>
              <a:pPr/>
              <a:t>71</a:t>
            </a:fld>
            <a:endParaRPr lang="en-US"/>
          </a:p>
        </p:txBody>
      </p:sp>
    </p:spTree>
    <p:extLst>
      <p:ext uri="{BB962C8B-B14F-4D97-AF65-F5344CB8AC3E}">
        <p14:creationId xmlns:p14="http://schemas.microsoft.com/office/powerpoint/2010/main" val="11960238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Information for Red Black Trees found in Weiner, R. (2022) </a:t>
            </a:r>
            <a:r>
              <a:rPr lang="en-US" i="1" dirty="0"/>
              <a:t>Generic Data Structures and Algorithms in Go. </a:t>
            </a:r>
            <a:r>
              <a:rPr lang="en-US" dirty="0"/>
              <a:t>https://link.springer.com/content/pdf/10.1007/978-1-4842-8191-8.pdf</a:t>
            </a:r>
          </a:p>
          <a:p>
            <a:endParaRPr lang="en-US"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72</a:t>
            </a:fld>
            <a:endParaRPr lang="en-US"/>
          </a:p>
        </p:txBody>
      </p:sp>
    </p:spTree>
    <p:extLst>
      <p:ext uri="{BB962C8B-B14F-4D97-AF65-F5344CB8AC3E}">
        <p14:creationId xmlns:p14="http://schemas.microsoft.com/office/powerpoint/2010/main" val="39550242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Information for Red Black Trees found in Weiner, R. (2022) </a:t>
            </a:r>
            <a:r>
              <a:rPr lang="en-US" i="1" dirty="0"/>
              <a:t>Generic Data Structures and Algorithms in Go. </a:t>
            </a:r>
            <a:r>
              <a:rPr lang="en-US" dirty="0"/>
              <a:t>https://link.springer.com/content/pdf/10.1007/978-1-4842-8191-8.pdf</a:t>
            </a:r>
          </a:p>
          <a:p>
            <a:endParaRPr lang="en-US" dirty="0"/>
          </a:p>
          <a:p>
            <a:endParaRPr lang="en-US"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73</a:t>
            </a:fld>
            <a:endParaRPr lang="en-US"/>
          </a:p>
        </p:txBody>
      </p:sp>
    </p:spTree>
    <p:extLst>
      <p:ext uri="{BB962C8B-B14F-4D97-AF65-F5344CB8AC3E}">
        <p14:creationId xmlns:p14="http://schemas.microsoft.com/office/powerpoint/2010/main" val="37157090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Information for Red Black Trees found in Weiner, R. (2022) </a:t>
            </a:r>
            <a:r>
              <a:rPr lang="en-US" i="1" dirty="0"/>
              <a:t>Generic Data Structures and Algorithms in Go. </a:t>
            </a:r>
            <a:r>
              <a:rPr lang="en-US" dirty="0"/>
              <a:t>https://link.springer.com/content/pdf/10.1007/978-1-4842-8191-8.pdf</a:t>
            </a:r>
          </a:p>
          <a:p>
            <a:endParaRPr lang="en-US" dirty="0"/>
          </a:p>
          <a:p>
            <a:endParaRPr lang="en-US"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74</a:t>
            </a:fld>
            <a:endParaRPr lang="en-US"/>
          </a:p>
        </p:txBody>
      </p:sp>
    </p:spTree>
    <p:extLst>
      <p:ext uri="{BB962C8B-B14F-4D97-AF65-F5344CB8AC3E}">
        <p14:creationId xmlns:p14="http://schemas.microsoft.com/office/powerpoint/2010/main" val="35571716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www.kernel.org</a:t>
            </a:r>
            <a:r>
              <a:rPr lang="en-US" dirty="0"/>
              <a:t>/doc/Documentation/scheduler/</a:t>
            </a:r>
            <a:r>
              <a:rPr lang="en-US" dirty="0" err="1"/>
              <a:t>sched</a:t>
            </a:r>
            <a:r>
              <a:rPr lang="en-US" dirty="0"/>
              <a:t>-design-</a:t>
            </a:r>
            <a:r>
              <a:rPr lang="en-US" dirty="0" err="1"/>
              <a:t>CFS.txt</a:t>
            </a:r>
            <a:r>
              <a:rPr lang="en-US" dirty="0"/>
              <a:t> and http://</a:t>
            </a:r>
            <a:r>
              <a:rPr lang="en-US" dirty="0" err="1"/>
              <a:t>www.ibm.com</a:t>
            </a:r>
            <a:r>
              <a:rPr lang="en-US" dirty="0"/>
              <a:t>/</a:t>
            </a:r>
            <a:r>
              <a:rPr lang="en-US" dirty="0" err="1"/>
              <a:t>developerworks</a:t>
            </a:r>
            <a:r>
              <a:rPr lang="en-US" dirty="0"/>
              <a:t>/</a:t>
            </a:r>
            <a:r>
              <a:rPr lang="en-US" dirty="0" err="1"/>
              <a:t>linux</a:t>
            </a:r>
            <a:r>
              <a:rPr lang="en-US" dirty="0"/>
              <a:t>/library/l-completely-fair-scheduler/</a:t>
            </a:r>
          </a:p>
          <a:p>
            <a:r>
              <a:rPr lang="en-US" dirty="0"/>
              <a:t>https://</a:t>
            </a:r>
            <a:r>
              <a:rPr lang="en-US" dirty="0" err="1"/>
              <a:t>www.youtube.com</a:t>
            </a:r>
            <a:r>
              <a:rPr lang="en-US" dirty="0"/>
              <a:t>/</a:t>
            </a:r>
            <a:r>
              <a:rPr lang="en-US" dirty="0" err="1"/>
              <a:t>watch?v</a:t>
            </a:r>
            <a:r>
              <a:rPr lang="en-US" dirty="0"/>
              <a:t>=MkJfuI5_hjc RB tree https://</a:t>
            </a:r>
            <a:r>
              <a:rPr lang="en-US" dirty="0" err="1"/>
              <a:t>www.youtube.com</a:t>
            </a:r>
            <a:r>
              <a:rPr lang="en-US" dirty="0"/>
              <a:t>/</a:t>
            </a:r>
            <a:r>
              <a:rPr lang="en-US" dirty="0" err="1"/>
              <a:t>watch?v</a:t>
            </a:r>
            <a:r>
              <a:rPr lang="en-US" dirty="0"/>
              <a:t>=PhY56LpCtP4</a:t>
            </a:r>
          </a:p>
          <a:p>
            <a:r>
              <a:rPr lang="en-US" dirty="0"/>
              <a:t>it always tries to run the task with the smallest </a:t>
            </a:r>
            <a:r>
              <a:rPr lang="en-US" dirty="0" err="1"/>
              <a:t>vruntime</a:t>
            </a:r>
            <a:r>
              <a:rPr lang="en-US" dirty="0"/>
              <a:t> value (i.e., the task which executed least so far)</a:t>
            </a:r>
          </a:p>
          <a:p>
            <a:r>
              <a:rPr lang="en-US" dirty="0"/>
              <a:t>CFS picks the "leftmost" task from tree and runs it. As the system progresses forwards, the executed tasks are put into the tree more and more to the right --- slowly but surely giving a chance for every task to become the "leftmost task" and thus get on the CPU within a deterministic amount of time.</a:t>
            </a:r>
          </a:p>
        </p:txBody>
      </p:sp>
      <p:sp>
        <p:nvSpPr>
          <p:cNvPr id="4" name="Slide Number Placeholder 3"/>
          <p:cNvSpPr>
            <a:spLocks noGrp="1"/>
          </p:cNvSpPr>
          <p:nvPr>
            <p:ph type="sldNum" sz="quarter" idx="10"/>
          </p:nvPr>
        </p:nvSpPr>
        <p:spPr/>
        <p:txBody>
          <a:bodyPr/>
          <a:lstStyle/>
          <a:p>
            <a:fld id="{70A64E9A-006E-4595-84A4-B133CBD63029}" type="slidenum">
              <a:rPr lang="en-US" smtClean="0"/>
              <a:pPr/>
              <a:t>75</a:t>
            </a:fld>
            <a:endParaRPr lang="en-US"/>
          </a:p>
        </p:txBody>
      </p:sp>
    </p:spTree>
    <p:extLst>
      <p:ext uri="{BB962C8B-B14F-4D97-AF65-F5344CB8AC3E}">
        <p14:creationId xmlns:p14="http://schemas.microsoft.com/office/powerpoint/2010/main" val="31872659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Baruah, S. Bertogna, M., Buttazzo, G. (2015). </a:t>
            </a:r>
            <a:r>
              <a:rPr lang="en-US" i="1" dirty="0"/>
              <a:t>Multiprocessor Scheduling for Real-Time Systems. </a:t>
            </a:r>
            <a:r>
              <a:rPr lang="en-US" i="0" dirty="0"/>
              <a:t>Springer. Located in the Springer database in the UCCS online library.</a:t>
            </a:r>
            <a:endParaRPr lang="en-US" i="1"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80</a:t>
            </a:fld>
            <a:endParaRPr lang="en-US"/>
          </a:p>
        </p:txBody>
      </p:sp>
    </p:spTree>
    <p:extLst>
      <p:ext uri="{BB962C8B-B14F-4D97-AF65-F5344CB8AC3E}">
        <p14:creationId xmlns:p14="http://schemas.microsoft.com/office/powerpoint/2010/main" val="11333953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having the right answer but having it too late is often just as bad as not having it at all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Depending on how much time each event requires for processing, handling all of them may not even be possible. A process that fails to meet this test cannot be scheduled because the total amount of CPU time the processes want collectively is more than the CPU can deliver.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X&lt;= 75</a:t>
            </a:r>
            <a:endParaRPr lang="en-US" b="1" dirty="0"/>
          </a:p>
        </p:txBody>
      </p:sp>
      <p:sp>
        <p:nvSpPr>
          <p:cNvPr id="4" name="Slide Number Placeholder 3"/>
          <p:cNvSpPr>
            <a:spLocks noGrp="1"/>
          </p:cNvSpPr>
          <p:nvPr>
            <p:ph type="sldNum" sz="quarter" idx="10"/>
          </p:nvPr>
        </p:nvSpPr>
        <p:spPr/>
        <p:txBody>
          <a:bodyPr/>
          <a:lstStyle/>
          <a:p>
            <a:fld id="{70A64E9A-006E-4595-84A4-B133CBD63029}" type="slidenum">
              <a:rPr lang="en-US" smtClean="0"/>
              <a:pPr/>
              <a:t>81</a:t>
            </a:fld>
            <a:endParaRPr lang="en-US"/>
          </a:p>
        </p:txBody>
      </p:sp>
    </p:spTree>
    <p:extLst>
      <p:ext uri="{BB962C8B-B14F-4D97-AF65-F5344CB8AC3E}">
        <p14:creationId xmlns:p14="http://schemas.microsoft.com/office/powerpoint/2010/main" val="10972498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http://superuser.com/questions/214331/what-is-the-difference-between-multicore-and-multiprocessor </a:t>
            </a:r>
          </a:p>
          <a:p>
            <a:endParaRPr lang="en-US"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82</a:t>
            </a:fld>
            <a:endParaRPr lang="en-US"/>
          </a:p>
        </p:txBody>
      </p:sp>
    </p:spTree>
    <p:extLst>
      <p:ext uri="{BB962C8B-B14F-4D97-AF65-F5344CB8AC3E}">
        <p14:creationId xmlns:p14="http://schemas.microsoft.com/office/powerpoint/2010/main" val="8138469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http://superuser.com/questions/214331/what-is-the-difference-between-multicore-and-multiprocessor </a:t>
            </a:r>
          </a:p>
          <a:p>
            <a:endParaRPr lang="en-US" dirty="0"/>
          </a:p>
        </p:txBody>
      </p:sp>
      <p:sp>
        <p:nvSpPr>
          <p:cNvPr id="4" name="Slide Number Placeholder 3"/>
          <p:cNvSpPr>
            <a:spLocks noGrp="1"/>
          </p:cNvSpPr>
          <p:nvPr>
            <p:ph type="sldNum" sz="quarter" idx="5"/>
          </p:nvPr>
        </p:nvSpPr>
        <p:spPr/>
        <p:txBody>
          <a:bodyPr/>
          <a:lstStyle/>
          <a:p>
            <a:fld id="{70A64E9A-006E-4595-84A4-B133CBD63029}" type="slidenum">
              <a:rPr lang="en-US" smtClean="0"/>
              <a:pPr/>
              <a:t>83</a:t>
            </a:fld>
            <a:endParaRPr lang="en-US"/>
          </a:p>
        </p:txBody>
      </p:sp>
    </p:spTree>
    <p:extLst>
      <p:ext uri="{BB962C8B-B14F-4D97-AF65-F5344CB8AC3E}">
        <p14:creationId xmlns:p14="http://schemas.microsoft.com/office/powerpoint/2010/main" val="17237691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superuser.com</a:t>
            </a:r>
            <a:r>
              <a:rPr lang="en-US" dirty="0"/>
              <a:t>/questions/214331/what-is-the-difference-between-multicore-and-multiprocessor </a:t>
            </a:r>
          </a:p>
          <a:p>
            <a:r>
              <a:rPr lang="en-US" dirty="0"/>
              <a:t>When</a:t>
            </a:r>
            <a:r>
              <a:rPr lang="en-US" baseline="0" dirty="0"/>
              <a:t> we have a fixed number of processes, the cache content is relatively consistent.</a:t>
            </a:r>
            <a:endParaRPr lang="en-US" dirty="0"/>
          </a:p>
        </p:txBody>
      </p:sp>
      <p:sp>
        <p:nvSpPr>
          <p:cNvPr id="4" name="Slide Number Placeholder 3"/>
          <p:cNvSpPr>
            <a:spLocks noGrp="1"/>
          </p:cNvSpPr>
          <p:nvPr>
            <p:ph type="sldNum" sz="quarter" idx="10"/>
          </p:nvPr>
        </p:nvSpPr>
        <p:spPr/>
        <p:txBody>
          <a:bodyPr/>
          <a:lstStyle/>
          <a:p>
            <a:fld id="{70A64E9A-006E-4595-84A4-B133CBD63029}" type="slidenum">
              <a:rPr lang="en-US" smtClean="0"/>
              <a:pPr/>
              <a:t>84</a:t>
            </a:fld>
            <a:endParaRPr lang="en-US"/>
          </a:p>
        </p:txBody>
      </p:sp>
    </p:spTree>
    <p:extLst>
      <p:ext uri="{BB962C8B-B14F-4D97-AF65-F5344CB8AC3E}">
        <p14:creationId xmlns:p14="http://schemas.microsoft.com/office/powerpoint/2010/main" val="16128442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BFS is the Brain Fuck Scheduler</a:t>
            </a:r>
          </a:p>
        </p:txBody>
      </p:sp>
      <p:sp>
        <p:nvSpPr>
          <p:cNvPr id="4" name="Slide Number Placeholder 3"/>
          <p:cNvSpPr>
            <a:spLocks noGrp="1"/>
          </p:cNvSpPr>
          <p:nvPr>
            <p:ph type="sldNum" sz="quarter" idx="10"/>
          </p:nvPr>
        </p:nvSpPr>
        <p:spPr/>
        <p:txBody>
          <a:bodyPr/>
          <a:lstStyle/>
          <a:p>
            <a:fld id="{70A64E9A-006E-4595-84A4-B133CBD63029}" type="slidenum">
              <a:rPr lang="en-US" smtClean="0"/>
              <a:pPr/>
              <a:t>86</a:t>
            </a:fld>
            <a:endParaRPr lang="en-US"/>
          </a:p>
        </p:txBody>
      </p:sp>
    </p:spTree>
    <p:extLst>
      <p:ext uri="{BB962C8B-B14F-4D97-AF65-F5344CB8AC3E}">
        <p14:creationId xmlns:p14="http://schemas.microsoft.com/office/powerpoint/2010/main" val="14443192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Nearly all processes alternate bursts of computing with (disk or network) I/O requests:</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 process enters the blocked state waiting for an external device to complete its work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Compute-bound processes typically have long CPU bursts and thus infrequent I/O waits, whereas I/O-bound processes have short CPU bursts and thus frequent I/O waits. Note that the key factor is the length of the CPU burst, not the length of the I/O burst. I/O-bound processes are I/O bound because they do not compute much between I/O requests, not because they have especially long I/O requests. </a:t>
            </a:r>
            <a:endParaRPr lang="en-US" dirty="0"/>
          </a:p>
        </p:txBody>
      </p:sp>
      <p:sp>
        <p:nvSpPr>
          <p:cNvPr id="4" name="Slide Number Placeholder 3"/>
          <p:cNvSpPr>
            <a:spLocks noGrp="1"/>
          </p:cNvSpPr>
          <p:nvPr>
            <p:ph type="sldNum" sz="quarter" idx="10"/>
          </p:nvPr>
        </p:nvSpPr>
        <p:spPr/>
        <p:txBody>
          <a:bodyPr/>
          <a:lstStyle/>
          <a:p>
            <a:fld id="{70A64E9A-006E-4595-84A4-B133CBD63029}" type="slidenum">
              <a:rPr lang="en-US" smtClean="0"/>
              <a:pPr/>
              <a:t>87</a:t>
            </a:fld>
            <a:endParaRPr lang="en-US"/>
          </a:p>
        </p:txBody>
      </p:sp>
    </p:spTree>
    <p:extLst>
      <p:ext uri="{BB962C8B-B14F-4D97-AF65-F5344CB8AC3E}">
        <p14:creationId xmlns:p14="http://schemas.microsoft.com/office/powerpoint/2010/main" val="296321651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0A64E9A-006E-4595-84A4-B133CBD63029}" type="slidenum">
              <a:rPr lang="en-US" smtClean="0"/>
              <a:pPr/>
              <a:t>88</a:t>
            </a:fld>
            <a:endParaRPr lang="en-US"/>
          </a:p>
        </p:txBody>
      </p:sp>
    </p:spTree>
    <p:extLst>
      <p:ext uri="{BB962C8B-B14F-4D97-AF65-F5344CB8AC3E}">
        <p14:creationId xmlns:p14="http://schemas.microsoft.com/office/powerpoint/2010/main" val="1168845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r>
              <a:rPr lang="en-US"/>
              <a:t>Ref. MOS3E, OS@Austin, Columbia, Rochester</a:t>
            </a:r>
            <a:endParaRPr lang="en-US" dirty="0"/>
          </a:p>
        </p:txBody>
      </p:sp>
      <p:sp>
        <p:nvSpPr>
          <p:cNvPr id="5" name="Footer Placeholder 4"/>
          <p:cNvSpPr>
            <a:spLocks noGrp="1"/>
          </p:cNvSpPr>
          <p:nvPr>
            <p:ph type="ftr" sz="quarter" idx="11"/>
          </p:nvPr>
        </p:nvSpPr>
        <p:spPr>
          <a:xfrm>
            <a:off x="3623733" y="6117336"/>
            <a:ext cx="3609438" cy="365125"/>
          </a:xfrm>
        </p:spPr>
        <p:txBody>
          <a:bodyPr/>
          <a:lstStyle/>
          <a:p>
            <a:endParaRPr lang="en-US" dirty="0"/>
          </a:p>
        </p:txBody>
      </p:sp>
      <p:sp>
        <p:nvSpPr>
          <p:cNvPr id="6" name="Slide Number Placeholder 5"/>
          <p:cNvSpPr>
            <a:spLocks noGrp="1"/>
          </p:cNvSpPr>
          <p:nvPr>
            <p:ph type="sldNum" sz="quarter" idx="12"/>
          </p:nvPr>
        </p:nvSpPr>
        <p:spPr>
          <a:xfrm>
            <a:off x="8275320" y="6117336"/>
            <a:ext cx="411480" cy="365125"/>
          </a:xfrm>
        </p:spPr>
        <p:txBody>
          <a:bodyPr/>
          <a:lstStyle/>
          <a:p>
            <a:r>
              <a:rPr lang="en-US"/>
              <a:t>CS4500/5500</a:t>
            </a:r>
            <a:endParaRPr lang="en-US" dirty="0"/>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2694989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r>
              <a:rPr lang="en-US"/>
              <a:t>Ref. MOS3E, OS@Austin, Columbia, Rochester</a:t>
            </a:r>
            <a:endParaRPr lang="en-US" dirty="0"/>
          </a:p>
        </p:txBody>
      </p:sp>
      <p:sp>
        <p:nvSpPr>
          <p:cNvPr id="5" name="Footer Placeholder 4"/>
          <p:cNvSpPr>
            <a:spLocks noGrp="1"/>
          </p:cNvSpPr>
          <p:nvPr>
            <p:ph type="ftr" sz="quarter" idx="11"/>
          </p:nvPr>
        </p:nvSpPr>
        <p:spPr>
          <a:xfrm>
            <a:off x="1972647" y="6108173"/>
            <a:ext cx="5314517" cy="365125"/>
          </a:xfrm>
        </p:spPr>
        <p:txBody>
          <a:bodyPr/>
          <a:lstStyle/>
          <a:p>
            <a:endParaRPr lang="en-US" dirty="0"/>
          </a:p>
        </p:txBody>
      </p:sp>
      <p:sp>
        <p:nvSpPr>
          <p:cNvPr id="6" name="Slide Number Placeholder 5"/>
          <p:cNvSpPr>
            <a:spLocks noGrp="1"/>
          </p:cNvSpPr>
          <p:nvPr>
            <p:ph type="sldNum" sz="quarter" idx="12"/>
          </p:nvPr>
        </p:nvSpPr>
        <p:spPr>
          <a:xfrm>
            <a:off x="8258967" y="6108173"/>
            <a:ext cx="427833" cy="365125"/>
          </a:xfrm>
        </p:spPr>
        <p:txBody>
          <a:bodyPr/>
          <a:lstStyle/>
          <a:p>
            <a:r>
              <a:rPr lang="en-US"/>
              <a:t>CS4500/5500</a:t>
            </a:r>
            <a:endParaRPr lang="en-US" dirty="0"/>
          </a:p>
        </p:txBody>
      </p:sp>
    </p:spTree>
    <p:extLst>
      <p:ext uri="{BB962C8B-B14F-4D97-AF65-F5344CB8AC3E}">
        <p14:creationId xmlns:p14="http://schemas.microsoft.com/office/powerpoint/2010/main" val="1779840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Ref. MOS3E, OS@Austin, Columbia, Rochester</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8273317" y="6116070"/>
            <a:ext cx="413483" cy="365125"/>
          </a:xfrm>
        </p:spPr>
        <p:txBody>
          <a:bodyPr/>
          <a:lstStyle/>
          <a:p>
            <a:pPr algn="ctr"/>
            <a:r>
              <a:rPr lang="en-US"/>
              <a:t>CS4500/5500</a:t>
            </a:r>
            <a:endParaRPr lang="en-US" dirty="0"/>
          </a:p>
        </p:txBody>
      </p:sp>
    </p:spTree>
    <p:extLst>
      <p:ext uri="{BB962C8B-B14F-4D97-AF65-F5344CB8AC3E}">
        <p14:creationId xmlns:p14="http://schemas.microsoft.com/office/powerpoint/2010/main" val="3733779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Ref. MOS3E, OS@Austin, Columbia, Rochester</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44275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Ref. MOS3E, OS@Austin, Columbia, Rochester</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15753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Ref. MOS3E, OS@Austin, Columbia, Rochester</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03659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Ref. MOS3E, OS@Austin, Columbia, Rochester</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pic>
        <p:nvPicPr>
          <p:cNvPr id="5" name="Picture 3" descr="C:\Documents and Settings\Jia Rao\Desktop\wsu.gif">
            <a:extLst>
              <a:ext uri="{FF2B5EF4-FFF2-40B4-BE49-F238E27FC236}">
                <a16:creationId xmlns:a16="http://schemas.microsoft.com/office/drawing/2014/main" id="{E877230E-3CB7-169A-A103-A0EA2D7C0E10}"/>
              </a:ext>
            </a:extLst>
          </p:cNvPr>
          <p:cNvPicPr>
            <a:picLocks noChangeAspect="1" noChangeArrowheads="1"/>
          </p:cNvPicPr>
          <p:nvPr userDrawn="1"/>
        </p:nvPicPr>
        <p:blipFill>
          <a:blip r:embed="rId2" cstate="print"/>
          <a:stretch>
            <a:fillRect/>
          </a:stretch>
        </p:blipFill>
        <p:spPr bwMode="auto">
          <a:xfrm>
            <a:off x="7924800" y="5181600"/>
            <a:ext cx="1143000" cy="1143000"/>
          </a:xfrm>
          <a:prstGeom prst="rect">
            <a:avLst/>
          </a:prstGeom>
          <a:noFill/>
          <a:ln>
            <a:noFill/>
          </a:ln>
        </p:spPr>
      </p:pic>
    </p:spTree>
    <p:extLst>
      <p:ext uri="{BB962C8B-B14F-4D97-AF65-F5344CB8AC3E}">
        <p14:creationId xmlns:p14="http://schemas.microsoft.com/office/powerpoint/2010/main" val="3956352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Ref. MOS3E, OS@Austin, Columbia, Rochester</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37406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Ref. MOS3E, OS@Austin, Columbia, Rochester</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1091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Ref. MOS3E, OS@Austin, Columbia, Rochester</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ctr"/>
            <a:r>
              <a:rPr lang="en-US"/>
              <a:t>CS4500/5500</a:t>
            </a:r>
            <a:endParaRPr lang="en-US" dirty="0"/>
          </a:p>
        </p:txBody>
      </p:sp>
    </p:spTree>
    <p:extLst>
      <p:ext uri="{BB962C8B-B14F-4D97-AF65-F5344CB8AC3E}">
        <p14:creationId xmlns:p14="http://schemas.microsoft.com/office/powerpoint/2010/main" val="385551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Ref. MOS3E, OS@Austin, Columbia, Rochester</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ctr"/>
            <a:r>
              <a:rPr lang="en-US"/>
              <a:t>CS4500/5500</a:t>
            </a:r>
            <a:endParaRPr lang="en-US" dirty="0"/>
          </a:p>
        </p:txBody>
      </p:sp>
    </p:spTree>
    <p:extLst>
      <p:ext uri="{BB962C8B-B14F-4D97-AF65-F5344CB8AC3E}">
        <p14:creationId xmlns:p14="http://schemas.microsoft.com/office/powerpoint/2010/main" val="1271133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Ref. MOS3E, OS@Austin, Columbia, Rochester</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ctr"/>
            <a:r>
              <a:rPr lang="en-US"/>
              <a:t>CS4500/5500</a:t>
            </a:r>
            <a:endParaRPr lang="en-US" dirty="0"/>
          </a:p>
        </p:txBody>
      </p:sp>
    </p:spTree>
    <p:extLst>
      <p:ext uri="{BB962C8B-B14F-4D97-AF65-F5344CB8AC3E}">
        <p14:creationId xmlns:p14="http://schemas.microsoft.com/office/powerpoint/2010/main" val="3884630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Ref. MOS3E, OS@Austin, Columbia, Rochester</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ctr"/>
            <a:r>
              <a:rPr lang="en-US"/>
              <a:t>CS4500/5500</a:t>
            </a:r>
            <a:endParaRPr lang="en-US" dirty="0"/>
          </a:p>
        </p:txBody>
      </p:sp>
    </p:spTree>
    <p:extLst>
      <p:ext uri="{BB962C8B-B14F-4D97-AF65-F5344CB8AC3E}">
        <p14:creationId xmlns:p14="http://schemas.microsoft.com/office/powerpoint/2010/main" val="1373798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Ref. MOS3E, OS@Austin, Columbia, Rochester</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ctr"/>
            <a:r>
              <a:rPr lang="en-US"/>
              <a:t>CS4500/5500</a:t>
            </a:r>
            <a:endParaRPr lang="en-US" dirty="0"/>
          </a:p>
        </p:txBody>
      </p:sp>
    </p:spTree>
    <p:extLst>
      <p:ext uri="{BB962C8B-B14F-4D97-AF65-F5344CB8AC3E}">
        <p14:creationId xmlns:p14="http://schemas.microsoft.com/office/powerpoint/2010/main" val="1105572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Ref. MOS3E, OS@Austin, Columbia, Rochester</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ctr"/>
            <a:r>
              <a:rPr lang="en-US"/>
              <a:t>CS4500/5500</a:t>
            </a:r>
            <a:endParaRPr lang="en-US" dirty="0"/>
          </a:p>
        </p:txBody>
      </p:sp>
    </p:spTree>
    <p:extLst>
      <p:ext uri="{BB962C8B-B14F-4D97-AF65-F5344CB8AC3E}">
        <p14:creationId xmlns:p14="http://schemas.microsoft.com/office/powerpoint/2010/main" val="2531806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Ref. MOS3E, OS@Austin, Columbia, Rochester</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949155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Ref. MOS3E, OS@Austin, Columbia, Rochester</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07821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15" name="Title 1"/>
          <p:cNvSpPr>
            <a:spLocks noGrp="1"/>
          </p:cNvSpPr>
          <p:nvPr>
            <p:ph type="ctrTitle"/>
          </p:nvPr>
        </p:nvSpPr>
        <p:spPr>
          <a:xfrm>
            <a:off x="2629775" y="3616586"/>
            <a:ext cx="4611655" cy="803564"/>
          </a:xfrm>
          <a:prstGeom prst="rect">
            <a:avLst/>
          </a:prstGeom>
        </p:spPr>
        <p:txBody>
          <a:bodyPr anchor="b">
            <a:noAutofit/>
          </a:bodyPr>
          <a:lstStyle>
            <a:lvl1pPr algn="l">
              <a:defRPr lang="en-US" sz="3000" b="1" kern="1200" baseline="0" dirty="0" smtClean="0">
                <a:solidFill>
                  <a:srgbClr val="2955A6"/>
                </a:solidFill>
                <a:latin typeface="+mj-lt"/>
                <a:ea typeface="+mj-ea"/>
                <a:cs typeface="+mj-cs"/>
              </a:defRPr>
            </a:lvl1pPr>
          </a:lstStyle>
          <a:p>
            <a:r>
              <a:rPr lang="en-US" dirty="0"/>
              <a:t>Click to edit Master title style</a:t>
            </a:r>
          </a:p>
        </p:txBody>
      </p:sp>
      <p:sp>
        <p:nvSpPr>
          <p:cNvPr id="20" name="Text Placeholder 19"/>
          <p:cNvSpPr>
            <a:spLocks noGrp="1"/>
          </p:cNvSpPr>
          <p:nvPr>
            <p:ph type="body" sz="quarter" idx="13"/>
          </p:nvPr>
        </p:nvSpPr>
        <p:spPr>
          <a:xfrm>
            <a:off x="2629775" y="4998325"/>
            <a:ext cx="4220429" cy="278892"/>
          </a:xfrm>
          <a:prstGeom prst="rect">
            <a:avLst/>
          </a:prstGeom>
        </p:spPr>
        <p:txBody>
          <a:bodyPr anchor="ctr"/>
          <a:lstStyle>
            <a:lvl1pPr marL="0" indent="0">
              <a:buNone/>
              <a:defRPr/>
            </a:lvl1pPr>
            <a:lvl3pPr marL="685800" indent="0">
              <a:buNone/>
              <a:defRPr/>
            </a:lvl3pPr>
            <a:lvl5pPr marL="1371600" indent="0" algn="l">
              <a:buNone/>
              <a:defRPr/>
            </a:lvl5pPr>
          </a:lstStyle>
          <a:p>
            <a:pPr lvl="0"/>
            <a:r>
              <a:rPr lang="en-US"/>
              <a:t>Edit Master text styles</a:t>
            </a:r>
          </a:p>
        </p:txBody>
      </p:sp>
    </p:spTree>
    <p:extLst>
      <p:ext uri="{BB962C8B-B14F-4D97-AF65-F5344CB8AC3E}">
        <p14:creationId xmlns:p14="http://schemas.microsoft.com/office/powerpoint/2010/main" val="2674718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r>
              <a:rPr lang="en-US"/>
              <a:t>Ref. MOS3E, OS@Austin, Columbia, Rochester</a:t>
            </a:r>
            <a:endParaRPr lang="en-US" dirty="0"/>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lgn="ctr"/>
            <a:r>
              <a:rPr lang="en-US"/>
              <a:t>CS4500/5500</a:t>
            </a:r>
            <a:endParaRPr lang="en-US" dirty="0"/>
          </a:p>
        </p:txBody>
      </p:sp>
    </p:spTree>
    <p:extLst>
      <p:ext uri="{BB962C8B-B14F-4D97-AF65-F5344CB8AC3E}">
        <p14:creationId xmlns:p14="http://schemas.microsoft.com/office/powerpoint/2010/main" val="3138058213"/>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hyperlink" Target="https://publicdomainpictures.net/view-image.php?image=137430&amp;picture=cpu" TargetMode="Externa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pursuit.unimelb.edu.au/articles/now-we-know-why-we-stand-in-queues" TargetMode="Externa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jpeg"/></Relationships>
</file>

<file path=ppt/slides/_rels/slide3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7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7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7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image" Target="../media/image19.emf"/></Relationships>
</file>

<file path=ppt/slides/_rels/slide7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2.wmf"/></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hyperlink" Target="http://lxr.linux.no/linux+v2.6.24/kernel/"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hyperlink" Target="http://ck.kolivas.org/patches/bfs/bfs-faq.txt" TargetMode="External"/><Relationship Id="rId4" Type="http://schemas.openxmlformats.org/officeDocument/2006/relationships/hyperlink" Target="http://www.kernel.org/doc/Documentation/scheduler/sched-design-CFS.txt" TargetMode="External"/></Relationships>
</file>

<file path=ppt/slides/_rels/slide8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2.xml"/><Relationship Id="rId1" Type="http://schemas.openxmlformats.org/officeDocument/2006/relationships/slideLayout" Target="../slideLayouts/slideLayout4.xml"/><Relationship Id="rId5" Type="http://schemas.openxmlformats.org/officeDocument/2006/relationships/hyperlink" Target="https://creativecommons.org/licenses/by-nc/3.0/" TargetMode="External"/><Relationship Id="rId4" Type="http://schemas.openxmlformats.org/officeDocument/2006/relationships/hyperlink" Target="http://flickr.com/photos/hellie55/8631541232"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82" name="Group 81">
            <a:extLst>
              <a:ext uri="{FF2B5EF4-FFF2-40B4-BE49-F238E27FC236}">
                <a16:creationId xmlns:a16="http://schemas.microsoft.com/office/drawing/2014/main" id="{260ACC13-B825-49F3-93DE-C8B8F2FA37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83" name="Freeform 6">
              <a:extLst>
                <a:ext uri="{FF2B5EF4-FFF2-40B4-BE49-F238E27FC236}">
                  <a16:creationId xmlns:a16="http://schemas.microsoft.com/office/drawing/2014/main" id="{F947B31F-CA03-4793-845D-FD86BABC1A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84" name="Freeform 7">
              <a:extLst>
                <a:ext uri="{FF2B5EF4-FFF2-40B4-BE49-F238E27FC236}">
                  <a16:creationId xmlns:a16="http://schemas.microsoft.com/office/drawing/2014/main" id="{DCDDE94D-F78C-4A48-AEA6-E922FC99A1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85" name="Freeform 8">
              <a:extLst>
                <a:ext uri="{FF2B5EF4-FFF2-40B4-BE49-F238E27FC236}">
                  <a16:creationId xmlns:a16="http://schemas.microsoft.com/office/drawing/2014/main" id="{3445A886-F3CA-4DE4-90D7-535F9707B7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86" name="Freeform 9">
              <a:extLst>
                <a:ext uri="{FF2B5EF4-FFF2-40B4-BE49-F238E27FC236}">
                  <a16:creationId xmlns:a16="http://schemas.microsoft.com/office/drawing/2014/main" id="{A8999CB6-C053-418B-AE37-E470804D2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87" name="Freeform 10">
              <a:extLst>
                <a:ext uri="{FF2B5EF4-FFF2-40B4-BE49-F238E27FC236}">
                  <a16:creationId xmlns:a16="http://schemas.microsoft.com/office/drawing/2014/main" id="{81EA3E26-BFCD-4396-AE8A-2A9828BFFB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88" name="Freeform 11">
              <a:extLst>
                <a:ext uri="{FF2B5EF4-FFF2-40B4-BE49-F238E27FC236}">
                  <a16:creationId xmlns:a16="http://schemas.microsoft.com/office/drawing/2014/main" id="{5F9BC582-73A6-4D8A-8738-E364764893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useBgFill="1">
        <p:nvSpPr>
          <p:cNvPr id="90" name="Rectangle 89">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text, electronics&#10;&#10;Description automatically generated">
            <a:extLst>
              <a:ext uri="{FF2B5EF4-FFF2-40B4-BE49-F238E27FC236}">
                <a16:creationId xmlns:a16="http://schemas.microsoft.com/office/drawing/2014/main" id="{61129048-0AA0-632A-6249-0B85892F5266}"/>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25457" r="31080"/>
          <a:stretch/>
        </p:blipFill>
        <p:spPr>
          <a:xfrm>
            <a:off x="5169693" y="10"/>
            <a:ext cx="397430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p:spPr>
      </p:pic>
      <p:grpSp>
        <p:nvGrpSpPr>
          <p:cNvPr id="92" name="Group 91">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74570" y="0"/>
            <a:ext cx="1827609" cy="6858001"/>
            <a:chOff x="1320800" y="0"/>
            <a:chExt cx="2436813" cy="6858001"/>
          </a:xfrm>
        </p:grpSpPr>
        <p:sp>
          <p:nvSpPr>
            <p:cNvPr id="93"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94"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95"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96"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97"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98"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729060" y="685800"/>
            <a:ext cx="3945510" cy="1752599"/>
          </a:xfrm>
        </p:spPr>
        <p:txBody>
          <a:bodyPr vert="horz" lIns="91440" tIns="45720" rIns="91440" bIns="45720" rtlCol="0" anchor="ctr">
            <a:normAutofit fontScale="90000"/>
          </a:bodyPr>
          <a:lstStyle/>
          <a:p>
            <a:pPr fontAlgn="auto">
              <a:lnSpc>
                <a:spcPct val="90000"/>
              </a:lnSpc>
              <a:spcAft>
                <a:spcPts val="0"/>
              </a:spcAft>
              <a:defRPr/>
            </a:pPr>
            <a:br>
              <a:rPr lang="en-US" sz="2500" dirty="0">
                <a:solidFill>
                  <a:schemeClr val="tx1"/>
                </a:solidFill>
              </a:rPr>
            </a:br>
            <a:br>
              <a:rPr lang="en-US" sz="2500" dirty="0">
                <a:solidFill>
                  <a:schemeClr val="tx1"/>
                </a:solidFill>
              </a:rPr>
            </a:br>
            <a:r>
              <a:rPr lang="en-US" sz="2500" dirty="0">
                <a:solidFill>
                  <a:schemeClr val="tx1"/>
                </a:solidFill>
              </a:rPr>
              <a:t>CS 4500: Operating Systems I</a:t>
            </a:r>
            <a:br>
              <a:rPr lang="en-US" sz="2500" dirty="0">
                <a:solidFill>
                  <a:schemeClr val="tx1"/>
                </a:solidFill>
              </a:rPr>
            </a:br>
            <a:br>
              <a:rPr lang="en-US" sz="2500" dirty="0">
                <a:solidFill>
                  <a:schemeClr val="tx1"/>
                </a:solidFill>
              </a:rPr>
            </a:br>
            <a:br>
              <a:rPr lang="en-US" sz="2500" dirty="0">
                <a:solidFill>
                  <a:schemeClr val="tx1"/>
                </a:solidFill>
              </a:rPr>
            </a:br>
            <a:br>
              <a:rPr lang="en-US" sz="2500" dirty="0">
                <a:solidFill>
                  <a:schemeClr val="tx1"/>
                </a:solidFill>
              </a:rPr>
            </a:br>
            <a:br>
              <a:rPr lang="en-US" sz="2500" dirty="0">
                <a:solidFill>
                  <a:schemeClr val="tx1"/>
                </a:solidFill>
              </a:rPr>
            </a:br>
            <a:r>
              <a:rPr lang="en-US" sz="2500" dirty="0">
                <a:solidFill>
                  <a:schemeClr val="tx1"/>
                </a:solidFill>
              </a:rPr>
              <a:t>CPU Scheduling</a:t>
            </a:r>
          </a:p>
        </p:txBody>
      </p:sp>
      <p:sp>
        <p:nvSpPr>
          <p:cNvPr id="56" name="TextBox 2">
            <a:extLst>
              <a:ext uri="{FF2B5EF4-FFF2-40B4-BE49-F238E27FC236}">
                <a16:creationId xmlns:a16="http://schemas.microsoft.com/office/drawing/2014/main" id="{DDCD72BE-74CC-F426-01D0-FF6140B50C0C}"/>
              </a:ext>
            </a:extLst>
          </p:cNvPr>
          <p:cNvSpPr txBox="1"/>
          <p:nvPr/>
        </p:nvSpPr>
        <p:spPr>
          <a:xfrm>
            <a:off x="482601" y="2666999"/>
            <a:ext cx="3945510" cy="3124201"/>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lumMod val="75000"/>
                </a:schemeClr>
              </a:buClr>
              <a:buSzPct val="145000"/>
            </a:pPr>
            <a:r>
              <a:rPr lang="en-US" sz="1700" dirty="0"/>
              <a:t>Dr. Serena “Sully” Sullivan</a:t>
            </a:r>
          </a:p>
          <a:p>
            <a:pPr defTabSz="457200">
              <a:spcBef>
                <a:spcPct val="20000"/>
              </a:spcBef>
              <a:spcAft>
                <a:spcPts val="600"/>
              </a:spcAft>
              <a:buClr>
                <a:schemeClr val="accent1">
                  <a:lumMod val="75000"/>
                </a:schemeClr>
              </a:buClr>
              <a:buSzPct val="145000"/>
            </a:pPr>
            <a:r>
              <a:rPr lang="en-US" sz="1700" dirty="0"/>
              <a:t>UCCS – Computer Science Department</a:t>
            </a:r>
          </a:p>
          <a:p>
            <a:pPr defTabSz="457200">
              <a:spcBef>
                <a:spcPct val="20000"/>
              </a:spcBef>
              <a:spcAft>
                <a:spcPts val="600"/>
              </a:spcAft>
              <a:buClr>
                <a:schemeClr val="accent1">
                  <a:lumMod val="75000"/>
                </a:schemeClr>
              </a:buClr>
              <a:buSzPct val="145000"/>
            </a:pPr>
            <a:r>
              <a:rPr lang="en-US" sz="1700" dirty="0"/>
              <a:t>ssulliv7@uccs.edu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F4B515-3D0F-4527-B62B-599C1D19DD73}"/>
              </a:ext>
            </a:extLst>
          </p:cNvPr>
          <p:cNvSpPr>
            <a:spLocks noGrp="1"/>
          </p:cNvSpPr>
          <p:nvPr>
            <p:ph type="title"/>
          </p:nvPr>
        </p:nvSpPr>
        <p:spPr>
          <a:xfrm>
            <a:off x="873782" y="152400"/>
            <a:ext cx="7620000" cy="533399"/>
          </a:xfrm>
        </p:spPr>
        <p:txBody>
          <a:bodyPr>
            <a:normAutofit/>
          </a:bodyPr>
          <a:lstStyle/>
          <a:p>
            <a:r>
              <a:rPr lang="en-US" sz="2100" b="1" dirty="0"/>
              <a:t>Lecture Resources</a:t>
            </a:r>
          </a:p>
        </p:txBody>
      </p:sp>
      <p:sp>
        <p:nvSpPr>
          <p:cNvPr id="5" name="Content Placeholder 4">
            <a:extLst>
              <a:ext uri="{FF2B5EF4-FFF2-40B4-BE49-F238E27FC236}">
                <a16:creationId xmlns:a16="http://schemas.microsoft.com/office/drawing/2014/main" id="{97A0C48C-6E99-4F97-BAF4-3FC8BC827E75}"/>
              </a:ext>
            </a:extLst>
          </p:cNvPr>
          <p:cNvSpPr>
            <a:spLocks noGrp="1"/>
          </p:cNvSpPr>
          <p:nvPr>
            <p:ph idx="1"/>
          </p:nvPr>
        </p:nvSpPr>
        <p:spPr>
          <a:xfrm>
            <a:off x="1254783" y="1121956"/>
            <a:ext cx="3317217" cy="4614088"/>
          </a:xfrm>
        </p:spPr>
        <p:txBody>
          <a:bodyPr anchor="t">
            <a:noAutofit/>
          </a:bodyPr>
          <a:lstStyle/>
          <a:p>
            <a:pPr marL="0" marR="0" indent="0">
              <a:spcBef>
                <a:spcPts val="0"/>
              </a:spcBef>
              <a:spcAft>
                <a:spcPts val="0"/>
              </a:spcAft>
              <a:buNone/>
            </a:pPr>
            <a:r>
              <a:rPr lang="en-US" sz="2000" dirty="0"/>
              <a:t>Andrew S. Tanenbaum, Modern Operating Systems, 4thd edition, 2014, Prentice Hall</a:t>
            </a:r>
          </a:p>
          <a:p>
            <a:pPr marL="0" marR="0" indent="0">
              <a:spcBef>
                <a:spcPts val="0"/>
              </a:spcBef>
              <a:spcAft>
                <a:spcPts val="0"/>
              </a:spcAft>
              <a:buNone/>
            </a:pPr>
            <a:endParaRPr lang="en-US" sz="2000" dirty="0"/>
          </a:p>
          <a:p>
            <a:pPr marL="0" marR="0" indent="0">
              <a:spcBef>
                <a:spcPts val="0"/>
              </a:spcBef>
              <a:spcAft>
                <a:spcPts val="0"/>
              </a:spcAft>
              <a:buNone/>
            </a:pPr>
            <a:r>
              <a:rPr lang="en-US" sz="2000" dirty="0"/>
              <a:t>Peter Jay Salzman, Michael </a:t>
            </a:r>
            <a:r>
              <a:rPr lang="en-US" sz="2000" dirty="0" err="1"/>
              <a:t>Burian</a:t>
            </a:r>
            <a:r>
              <a:rPr lang="en-US" sz="2000" dirty="0"/>
              <a:t>, Ori Pomerantz, Bob Mottram, Jim Huang. The Linux Kernel Module Programming Guide, 2022. </a:t>
            </a:r>
            <a:r>
              <a:rPr lang="en-US" sz="1600" u="sng" dirty="0">
                <a:latin typeface="Lato Extended"/>
              </a:rPr>
              <a:t>https://sysprog21.github.io/lkmpg/</a:t>
            </a:r>
            <a:endParaRPr lang="en-US" sz="2000" dirty="0"/>
          </a:p>
        </p:txBody>
      </p:sp>
      <p:pic>
        <p:nvPicPr>
          <p:cNvPr id="3" name="Picture 2">
            <a:extLst>
              <a:ext uri="{FF2B5EF4-FFF2-40B4-BE49-F238E27FC236}">
                <a16:creationId xmlns:a16="http://schemas.microsoft.com/office/drawing/2014/main" id="{E55F60AC-CEE0-8290-EED3-7A0E86502C19}"/>
              </a:ext>
            </a:extLst>
          </p:cNvPr>
          <p:cNvPicPr>
            <a:picLocks noChangeAspect="1"/>
          </p:cNvPicPr>
          <p:nvPr/>
        </p:nvPicPr>
        <p:blipFill>
          <a:blip r:embed="rId2"/>
          <a:stretch>
            <a:fillRect/>
          </a:stretch>
        </p:blipFill>
        <p:spPr>
          <a:xfrm>
            <a:off x="4876800" y="1154938"/>
            <a:ext cx="3966644" cy="5053050"/>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
        <p:nvSpPr>
          <p:cNvPr id="8" name="Slide Number Placeholder 7">
            <a:extLst>
              <a:ext uri="{FF2B5EF4-FFF2-40B4-BE49-F238E27FC236}">
                <a16:creationId xmlns:a16="http://schemas.microsoft.com/office/drawing/2014/main" id="{939F2DD9-41BC-0D18-BA2A-5D7833036EAD}"/>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2605919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41F2F79-DFE1-E687-599B-77B6815ED964}"/>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Basic Concepts</a:t>
            </a:r>
          </a:p>
        </p:txBody>
      </p:sp>
      <p:sp>
        <p:nvSpPr>
          <p:cNvPr id="7171" name="Rectangle 3">
            <a:extLst>
              <a:ext uri="{FF2B5EF4-FFF2-40B4-BE49-F238E27FC236}">
                <a16:creationId xmlns:a16="http://schemas.microsoft.com/office/drawing/2014/main" id="{DF8DE3DD-FAA0-F549-46AF-F02A494422CE}"/>
              </a:ext>
            </a:extLst>
          </p:cNvPr>
          <p:cNvSpPr>
            <a:spLocks noGrp="1" noChangeArrowheads="1"/>
          </p:cNvSpPr>
          <p:nvPr>
            <p:ph type="body" idx="1"/>
          </p:nvPr>
        </p:nvSpPr>
        <p:spPr>
          <a:xfrm>
            <a:off x="982133" y="2438401"/>
            <a:ext cx="7351713" cy="3429000"/>
          </a:xfrm>
        </p:spPr>
        <p:txBody>
          <a:bodyPr>
            <a:normAutofit/>
          </a:bodyPr>
          <a:lstStyle/>
          <a:p>
            <a:r>
              <a:rPr lang="en-US" altLang="en-US" dirty="0">
                <a:ea typeface="ＭＳ Ｐゴシック" panose="020B0600070205080204" pitchFamily="34" charset="-128"/>
              </a:rPr>
              <a:t>Maximum CPU utilization obtained with multiprogramming</a:t>
            </a:r>
          </a:p>
          <a:p>
            <a:r>
              <a:rPr lang="en-US" altLang="en-US" dirty="0">
                <a:ea typeface="ＭＳ Ｐゴシック" panose="020B0600070205080204" pitchFamily="34" charset="-128"/>
              </a:rPr>
              <a:t>CPU–I/O Burst Cycle – Process execution consists of a </a:t>
            </a:r>
            <a:r>
              <a:rPr lang="en-US" altLang="en-US" i="1" dirty="0">
                <a:ea typeface="ＭＳ Ｐゴシック" panose="020B0600070205080204" pitchFamily="34" charset="-128"/>
              </a:rPr>
              <a:t>cycle</a:t>
            </a:r>
            <a:r>
              <a:rPr lang="en-US" altLang="en-US" dirty="0">
                <a:ea typeface="ＭＳ Ｐゴシック" panose="020B0600070205080204" pitchFamily="34" charset="-128"/>
              </a:rPr>
              <a:t> of CPU execution and I/O wait</a:t>
            </a:r>
          </a:p>
          <a:p>
            <a:r>
              <a:rPr lang="en-US" altLang="en-US" b="1" dirty="0">
                <a:ea typeface="ＭＳ Ｐゴシック" panose="020B0600070205080204" pitchFamily="34" charset="-128"/>
              </a:rPr>
              <a:t>CPU burst </a:t>
            </a:r>
            <a:r>
              <a:rPr lang="en-US" altLang="en-US" dirty="0">
                <a:ea typeface="ＭＳ Ｐゴシック" panose="020B0600070205080204" pitchFamily="34" charset="-128"/>
              </a:rPr>
              <a:t>distribution</a:t>
            </a:r>
          </a:p>
        </p:txBody>
      </p:sp>
      <p:sp>
        <p:nvSpPr>
          <p:cNvPr id="4" name="Slide Number Placeholder 3">
            <a:extLst>
              <a:ext uri="{FF2B5EF4-FFF2-40B4-BE49-F238E27FC236}">
                <a16:creationId xmlns:a16="http://schemas.microsoft.com/office/drawing/2014/main" id="{1463F74C-6A15-BE8C-E312-98AA7B85500B}"/>
              </a:ext>
            </a:extLst>
          </p:cNvPr>
          <p:cNvSpPr>
            <a:spLocks noGrp="1"/>
          </p:cNvSpPr>
          <p:nvPr>
            <p:ph type="sldNum" sz="quarter" idx="12"/>
          </p:nvPr>
        </p:nvSpPr>
        <p:spPr/>
        <p:txBody>
          <a:bodyPr/>
          <a:lstStyle/>
          <a:p>
            <a:r>
              <a:rPr lang="en-US"/>
              <a:t>CS4500/5500</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C44D09D-6ACA-A07C-2840-01873B75BE15}"/>
              </a:ext>
            </a:extLst>
          </p:cNvPr>
          <p:cNvSpPr>
            <a:spLocks noGrp="1" noChangeArrowheads="1"/>
          </p:cNvSpPr>
          <p:nvPr>
            <p:ph type="title"/>
          </p:nvPr>
        </p:nvSpPr>
        <p:spPr>
          <a:xfrm>
            <a:off x="838200" y="277813"/>
            <a:ext cx="7848600" cy="576262"/>
          </a:xfrm>
        </p:spPr>
        <p:txBody>
          <a:bodyPr>
            <a:normAutofit fontScale="90000"/>
          </a:bodyPr>
          <a:lstStyle/>
          <a:p>
            <a:pPr eaLnBrk="1" hangingPunct="1"/>
            <a:r>
              <a:rPr lang="en-US" altLang="en-US">
                <a:ea typeface="ＭＳ Ｐゴシック" panose="020B0600070205080204" pitchFamily="34" charset="-128"/>
              </a:rPr>
              <a:t>CPU Scheduler</a:t>
            </a:r>
          </a:p>
        </p:txBody>
      </p:sp>
      <p:sp>
        <p:nvSpPr>
          <p:cNvPr id="10243" name="Rectangle 3">
            <a:extLst>
              <a:ext uri="{FF2B5EF4-FFF2-40B4-BE49-F238E27FC236}">
                <a16:creationId xmlns:a16="http://schemas.microsoft.com/office/drawing/2014/main" id="{503EAC9A-AD28-5554-AD27-8BBAE87B637F}"/>
              </a:ext>
            </a:extLst>
          </p:cNvPr>
          <p:cNvSpPr>
            <a:spLocks noGrp="1" noChangeArrowheads="1"/>
          </p:cNvSpPr>
          <p:nvPr>
            <p:ph type="body" idx="1"/>
          </p:nvPr>
        </p:nvSpPr>
        <p:spPr>
          <a:xfrm>
            <a:off x="806450" y="1233488"/>
            <a:ext cx="7675563" cy="4530725"/>
          </a:xfrm>
        </p:spPr>
        <p:txBody>
          <a:bodyPr>
            <a:normAutofit fontScale="92500"/>
          </a:bodyPr>
          <a:lstStyle/>
          <a:p>
            <a:r>
              <a:rPr lang="en-US" altLang="en-US" sz="2400" dirty="0">
                <a:ea typeface="ＭＳ Ｐゴシック" panose="020B0600070205080204" pitchFamily="34" charset="-128"/>
              </a:rPr>
              <a:t>Selects from among the processes in memory that are ready to execute, and allocates the CPU to one of them</a:t>
            </a:r>
          </a:p>
          <a:p>
            <a:r>
              <a:rPr lang="en-US" altLang="en-US" sz="2400" dirty="0">
                <a:ea typeface="ＭＳ Ｐゴシック" panose="020B0600070205080204" pitchFamily="34" charset="-128"/>
              </a:rPr>
              <a:t>CPU scheduling decisions may take place when a process:</a:t>
            </a:r>
          </a:p>
          <a:p>
            <a:pPr marL="914400" lvl="1" indent="-457200">
              <a:buFont typeface="+mj-lt"/>
              <a:buAutoNum type="arabicPeriod"/>
            </a:pPr>
            <a:r>
              <a:rPr lang="en-US" altLang="en-US" sz="2400" dirty="0">
                <a:ea typeface="ＭＳ Ｐゴシック" panose="020B0600070205080204" pitchFamily="34" charset="-128"/>
              </a:rPr>
              <a:t>Switches from running to waiting state</a:t>
            </a:r>
          </a:p>
          <a:p>
            <a:pPr marL="914400" lvl="1" indent="-457200">
              <a:buFont typeface="+mj-lt"/>
              <a:buAutoNum type="arabicPeriod"/>
            </a:pPr>
            <a:r>
              <a:rPr lang="en-US" altLang="en-US" sz="2400" dirty="0">
                <a:ea typeface="ＭＳ Ｐゴシック" panose="020B0600070205080204" pitchFamily="34" charset="-128"/>
              </a:rPr>
              <a:t>Switches from running to ready state</a:t>
            </a:r>
          </a:p>
          <a:p>
            <a:pPr marL="914400" lvl="1" indent="-457200">
              <a:buFont typeface="+mj-lt"/>
              <a:buAutoNum type="arabicPeriod"/>
            </a:pPr>
            <a:r>
              <a:rPr lang="en-US" altLang="en-US" sz="2400" dirty="0">
                <a:ea typeface="ＭＳ Ｐゴシック" panose="020B0600070205080204" pitchFamily="34" charset="-128"/>
              </a:rPr>
              <a:t>Switches from waiting to ready</a:t>
            </a:r>
          </a:p>
          <a:p>
            <a:pPr marL="914400" lvl="1" indent="-457200">
              <a:buFont typeface="+mj-lt"/>
              <a:buAutoNum type="arabicPeriod"/>
            </a:pPr>
            <a:r>
              <a:rPr lang="en-US" altLang="en-US" sz="2400" dirty="0">
                <a:ea typeface="ＭＳ Ｐゴシック" panose="020B0600070205080204" pitchFamily="34" charset="-128"/>
              </a:rPr>
              <a:t>Terminates</a:t>
            </a:r>
          </a:p>
          <a:p>
            <a:r>
              <a:rPr lang="en-US" altLang="en-US" sz="2400" dirty="0">
                <a:ea typeface="ＭＳ Ｐゴシック" panose="020B0600070205080204" pitchFamily="34" charset="-128"/>
              </a:rPr>
              <a:t>Scheduling under 1 and 4 is </a:t>
            </a:r>
            <a:r>
              <a:rPr lang="en-US" altLang="en-US" sz="2400" b="1" dirty="0">
                <a:ea typeface="ＭＳ Ｐゴシック" panose="020B0600070205080204" pitchFamily="34" charset="-128"/>
              </a:rPr>
              <a:t>non-preemptive</a:t>
            </a:r>
          </a:p>
          <a:p>
            <a:r>
              <a:rPr lang="en-US" altLang="en-US" sz="2400" dirty="0">
                <a:ea typeface="ＭＳ Ｐゴシック" panose="020B0600070205080204" pitchFamily="34" charset="-128"/>
              </a:rPr>
              <a:t>All other scheduling is </a:t>
            </a:r>
            <a:r>
              <a:rPr lang="en-US" altLang="en-US" sz="2400" b="1" dirty="0">
                <a:ea typeface="ＭＳ Ｐゴシック" panose="020B0600070205080204" pitchFamily="34" charset="-128"/>
              </a:rPr>
              <a:t>preemptive – implications for data sharing between threads/processes</a:t>
            </a:r>
          </a:p>
        </p:txBody>
      </p:sp>
      <p:sp>
        <p:nvSpPr>
          <p:cNvPr id="4" name="Slide Number Placeholder 3">
            <a:extLst>
              <a:ext uri="{FF2B5EF4-FFF2-40B4-BE49-F238E27FC236}">
                <a16:creationId xmlns:a16="http://schemas.microsoft.com/office/drawing/2014/main" id="{711A2795-9506-C631-D8D2-B0F3D52067FE}"/>
              </a:ext>
            </a:extLst>
          </p:cNvPr>
          <p:cNvSpPr>
            <a:spLocks noGrp="1"/>
          </p:cNvSpPr>
          <p:nvPr>
            <p:ph type="sldNum" sz="quarter" idx="12"/>
          </p:nvPr>
        </p:nvSpPr>
        <p:spPr/>
        <p:txBody>
          <a:bodyPr/>
          <a:lstStyle/>
          <a:p>
            <a:r>
              <a:rPr lang="en-US"/>
              <a:t>CS4500/5500</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7200" y="182911"/>
            <a:ext cx="4965053" cy="845011"/>
          </a:xfrm>
        </p:spPr>
        <p:txBody>
          <a:bodyPr>
            <a:normAutofit fontScale="90000"/>
          </a:bodyPr>
          <a:lstStyle/>
          <a:p>
            <a:r>
              <a:rPr lang="en-US" sz="4000" dirty="0">
                <a:ln>
                  <a:noFill/>
                </a:ln>
                <a:effectLst/>
              </a:rPr>
              <a:t>What is CPU Scheduling?</a:t>
            </a:r>
          </a:p>
        </p:txBody>
      </p:sp>
      <p:sp>
        <p:nvSpPr>
          <p:cNvPr id="31" name="Content Placeholder 5"/>
          <p:cNvSpPr>
            <a:spLocks noGrp="1"/>
          </p:cNvSpPr>
          <p:nvPr>
            <p:ph sz="quarter" idx="1"/>
          </p:nvPr>
        </p:nvSpPr>
        <p:spPr>
          <a:xfrm>
            <a:off x="685800" y="2584617"/>
            <a:ext cx="8229600" cy="5029200"/>
          </a:xfrm>
        </p:spPr>
        <p:txBody>
          <a:bodyPr>
            <a:normAutofit/>
          </a:bodyPr>
          <a:lstStyle/>
          <a:p>
            <a:pPr marL="0" indent="0" algn="ctr">
              <a:buNone/>
            </a:pPr>
            <a:r>
              <a:rPr lang="en-US" dirty="0">
                <a:solidFill>
                  <a:srgbClr val="000000"/>
                </a:solidFill>
              </a:rPr>
              <a:t>The five-state process model</a:t>
            </a:r>
          </a:p>
        </p:txBody>
      </p:sp>
      <p:grpSp>
        <p:nvGrpSpPr>
          <p:cNvPr id="42" name="Group 41"/>
          <p:cNvGrpSpPr/>
          <p:nvPr/>
        </p:nvGrpSpPr>
        <p:grpSpPr>
          <a:xfrm>
            <a:off x="838200" y="1828800"/>
            <a:ext cx="6858000" cy="2590800"/>
            <a:chOff x="914953" y="2438400"/>
            <a:chExt cx="6781247" cy="3124200"/>
          </a:xfrm>
        </p:grpSpPr>
        <p:sp>
          <p:nvSpPr>
            <p:cNvPr id="7" name="Oval 6"/>
            <p:cNvSpPr/>
            <p:nvPr/>
          </p:nvSpPr>
          <p:spPr>
            <a:xfrm>
              <a:off x="2743200" y="3352800"/>
              <a:ext cx="1295400" cy="762000"/>
            </a:xfrm>
            <a:prstGeom prst="ellipse">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ready</a:t>
              </a:r>
            </a:p>
          </p:txBody>
        </p:sp>
        <p:sp>
          <p:nvSpPr>
            <p:cNvPr id="8" name="Oval 7"/>
            <p:cNvSpPr/>
            <p:nvPr/>
          </p:nvSpPr>
          <p:spPr>
            <a:xfrm>
              <a:off x="4953000" y="3352800"/>
              <a:ext cx="1295400" cy="762000"/>
            </a:xfrm>
            <a:prstGeom prst="ellipse">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running</a:t>
              </a:r>
            </a:p>
          </p:txBody>
        </p:sp>
        <p:sp>
          <p:nvSpPr>
            <p:cNvPr id="9" name="Oval 8"/>
            <p:cNvSpPr/>
            <p:nvPr/>
          </p:nvSpPr>
          <p:spPr>
            <a:xfrm>
              <a:off x="3810000" y="4800600"/>
              <a:ext cx="1295400" cy="762000"/>
            </a:xfrm>
            <a:prstGeom prst="ellipse">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blocked</a:t>
              </a:r>
            </a:p>
          </p:txBody>
        </p:sp>
        <p:sp>
          <p:nvSpPr>
            <p:cNvPr id="10" name="Oval 9"/>
            <p:cNvSpPr/>
            <p:nvPr/>
          </p:nvSpPr>
          <p:spPr>
            <a:xfrm>
              <a:off x="1219200" y="2438400"/>
              <a:ext cx="1295400" cy="762000"/>
            </a:xfrm>
            <a:prstGeom prst="ellipse">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new</a:t>
              </a:r>
            </a:p>
          </p:txBody>
        </p:sp>
        <p:sp>
          <p:nvSpPr>
            <p:cNvPr id="12" name="Oval 11"/>
            <p:cNvSpPr/>
            <p:nvPr/>
          </p:nvSpPr>
          <p:spPr>
            <a:xfrm>
              <a:off x="6400800" y="2438400"/>
              <a:ext cx="1295400" cy="762000"/>
            </a:xfrm>
            <a:prstGeom prst="ellipse">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extBox 12"/>
            <p:cNvSpPr txBox="1"/>
            <p:nvPr/>
          </p:nvSpPr>
          <p:spPr>
            <a:xfrm>
              <a:off x="6462272" y="2590800"/>
              <a:ext cx="1233928" cy="369332"/>
            </a:xfrm>
            <a:prstGeom prst="rect">
              <a:avLst/>
            </a:prstGeom>
            <a:noFill/>
          </p:spPr>
          <p:txBody>
            <a:bodyPr wrap="none" rtlCol="0">
              <a:spAutoFit/>
            </a:bodyPr>
            <a:lstStyle/>
            <a:p>
              <a:r>
                <a:rPr lang="en-US" dirty="0"/>
                <a:t>terminated</a:t>
              </a:r>
            </a:p>
          </p:txBody>
        </p:sp>
        <p:cxnSp>
          <p:nvCxnSpPr>
            <p:cNvPr id="17" name="Curved Connector 16"/>
            <p:cNvCxnSpPr>
              <a:stCxn id="7" idx="0"/>
              <a:endCxn id="8" idx="0"/>
            </p:cNvCxnSpPr>
            <p:nvPr/>
          </p:nvCxnSpPr>
          <p:spPr>
            <a:xfrm rot="5400000" flipH="1" flipV="1">
              <a:off x="4495800" y="2247900"/>
              <a:ext cx="12700" cy="2209800"/>
            </a:xfrm>
            <a:prstGeom prst="curvedConnector3">
              <a:avLst>
                <a:gd name="adj1" fmla="val 2376001"/>
              </a:avLst>
            </a:prstGeom>
            <a:ln w="19050">
              <a:solidFill>
                <a:schemeClr val="tx1"/>
              </a:solidFill>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20" name="Curved Connector 19"/>
            <p:cNvCxnSpPr/>
            <p:nvPr/>
          </p:nvCxnSpPr>
          <p:spPr>
            <a:xfrm rot="5400000" flipH="1" flipV="1">
              <a:off x="4527550" y="3003549"/>
              <a:ext cx="12700" cy="2209800"/>
            </a:xfrm>
            <a:prstGeom prst="curvedConnector3">
              <a:avLst>
                <a:gd name="adj1" fmla="val -2136001"/>
              </a:avLst>
            </a:prstGeom>
            <a:ln w="19050">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581400" y="4366274"/>
              <a:ext cx="1943032" cy="369332"/>
            </a:xfrm>
            <a:prstGeom prst="rect">
              <a:avLst/>
            </a:prstGeom>
            <a:noFill/>
          </p:spPr>
          <p:txBody>
            <a:bodyPr wrap="none" rtlCol="0">
              <a:spAutoFit/>
            </a:bodyPr>
            <a:lstStyle/>
            <a:p>
              <a:r>
                <a:rPr lang="en-US" dirty="0"/>
                <a:t>scheduler dispatch</a:t>
              </a:r>
            </a:p>
          </p:txBody>
        </p:sp>
        <p:sp>
          <p:nvSpPr>
            <p:cNvPr id="24" name="TextBox 23"/>
            <p:cNvSpPr txBox="1"/>
            <p:nvPr/>
          </p:nvSpPr>
          <p:spPr>
            <a:xfrm>
              <a:off x="3925988" y="2678668"/>
              <a:ext cx="1027012" cy="369332"/>
            </a:xfrm>
            <a:prstGeom prst="rect">
              <a:avLst/>
            </a:prstGeom>
            <a:noFill/>
          </p:spPr>
          <p:txBody>
            <a:bodyPr wrap="none" rtlCol="0">
              <a:spAutoFit/>
            </a:bodyPr>
            <a:lstStyle/>
            <a:p>
              <a:r>
                <a:rPr lang="en-US" dirty="0"/>
                <a:t>interrupt</a:t>
              </a:r>
            </a:p>
          </p:txBody>
        </p:sp>
        <p:cxnSp>
          <p:nvCxnSpPr>
            <p:cNvPr id="26" name="Curved Connector 25"/>
            <p:cNvCxnSpPr>
              <a:endCxn id="9" idx="6"/>
            </p:cNvCxnSpPr>
            <p:nvPr/>
          </p:nvCxnSpPr>
          <p:spPr>
            <a:xfrm rot="5400000">
              <a:off x="4914900" y="4305300"/>
              <a:ext cx="1066800" cy="685800"/>
            </a:xfrm>
            <a:prstGeom prst="curvedConnector2">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9" name="Curved Connector 25"/>
            <p:cNvCxnSpPr>
              <a:endCxn id="9" idx="2"/>
            </p:cNvCxnSpPr>
            <p:nvPr/>
          </p:nvCxnSpPr>
          <p:spPr>
            <a:xfrm rot="16200000" flipH="1">
              <a:off x="2971800" y="4343400"/>
              <a:ext cx="1066800" cy="609600"/>
            </a:xfrm>
            <a:prstGeom prst="curvedConnector2">
              <a:avLst/>
            </a:prstGeom>
            <a:ln w="190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676968" y="4495800"/>
              <a:ext cx="1776384" cy="369332"/>
            </a:xfrm>
            <a:prstGeom prst="rect">
              <a:avLst/>
            </a:prstGeom>
            <a:noFill/>
          </p:spPr>
          <p:txBody>
            <a:bodyPr wrap="none" rtlCol="0">
              <a:spAutoFit/>
            </a:bodyPr>
            <a:lstStyle/>
            <a:p>
              <a:r>
                <a:rPr lang="en-US" dirty="0"/>
                <a:t>I/O or event wait</a:t>
              </a:r>
            </a:p>
          </p:txBody>
        </p:sp>
        <p:sp>
          <p:nvSpPr>
            <p:cNvPr id="33" name="TextBox 32"/>
            <p:cNvSpPr txBox="1"/>
            <p:nvPr/>
          </p:nvSpPr>
          <p:spPr>
            <a:xfrm>
              <a:off x="914953" y="4495800"/>
              <a:ext cx="2437847" cy="369332"/>
            </a:xfrm>
            <a:prstGeom prst="rect">
              <a:avLst/>
            </a:prstGeom>
            <a:noFill/>
          </p:spPr>
          <p:txBody>
            <a:bodyPr wrap="none" rtlCol="0">
              <a:spAutoFit/>
            </a:bodyPr>
            <a:lstStyle/>
            <a:p>
              <a:r>
                <a:rPr lang="en-US" dirty="0"/>
                <a:t>I/O or event completion</a:t>
              </a:r>
            </a:p>
          </p:txBody>
        </p:sp>
        <p:cxnSp>
          <p:nvCxnSpPr>
            <p:cNvPr id="35" name="Shape 34"/>
            <p:cNvCxnSpPr>
              <a:stCxn id="10" idx="6"/>
              <a:endCxn id="7" idx="0"/>
            </p:cNvCxnSpPr>
            <p:nvPr/>
          </p:nvCxnSpPr>
          <p:spPr>
            <a:xfrm>
              <a:off x="2514600" y="2819400"/>
              <a:ext cx="876300" cy="533400"/>
            </a:xfrm>
            <a:prstGeom prst="curvedConnector2">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Shape 35"/>
            <p:cNvCxnSpPr>
              <a:stCxn id="12" idx="2"/>
              <a:endCxn id="8" idx="0"/>
            </p:cNvCxnSpPr>
            <p:nvPr/>
          </p:nvCxnSpPr>
          <p:spPr>
            <a:xfrm rot="10800000" flipV="1">
              <a:off x="5600700" y="2819400"/>
              <a:ext cx="800100" cy="533400"/>
            </a:xfrm>
            <a:prstGeom prst="curvedConnector2">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667000" y="2514600"/>
              <a:ext cx="731290" cy="369332"/>
            </a:xfrm>
            <a:prstGeom prst="rect">
              <a:avLst/>
            </a:prstGeom>
            <a:noFill/>
          </p:spPr>
          <p:txBody>
            <a:bodyPr wrap="none" rtlCol="0">
              <a:spAutoFit/>
            </a:bodyPr>
            <a:lstStyle/>
            <a:p>
              <a:r>
                <a:rPr lang="en-US" dirty="0"/>
                <a:t>admit</a:t>
              </a:r>
            </a:p>
          </p:txBody>
        </p:sp>
        <p:sp>
          <p:nvSpPr>
            <p:cNvPr id="41" name="TextBox 40"/>
            <p:cNvSpPr txBox="1"/>
            <p:nvPr/>
          </p:nvSpPr>
          <p:spPr>
            <a:xfrm>
              <a:off x="5440910" y="2514600"/>
              <a:ext cx="525850" cy="369332"/>
            </a:xfrm>
            <a:prstGeom prst="rect">
              <a:avLst/>
            </a:prstGeom>
            <a:noFill/>
          </p:spPr>
          <p:txBody>
            <a:bodyPr wrap="none" rtlCol="0">
              <a:spAutoFit/>
            </a:bodyPr>
            <a:lstStyle/>
            <a:p>
              <a:r>
                <a:rPr lang="en-US" dirty="0"/>
                <a:t>exit</a:t>
              </a:r>
            </a:p>
          </p:txBody>
        </p:sp>
      </p:grpSp>
      <p:sp>
        <p:nvSpPr>
          <p:cNvPr id="43" name="Rectangle 42"/>
          <p:cNvSpPr/>
          <p:nvPr/>
        </p:nvSpPr>
        <p:spPr>
          <a:xfrm>
            <a:off x="3581400" y="3429000"/>
            <a:ext cx="1828800" cy="381000"/>
          </a:xfrm>
          <a:prstGeom prst="rect">
            <a:avLst/>
          </a:prstGeom>
          <a:noFill/>
          <a:ln w="412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72739" y="5808245"/>
            <a:ext cx="5943600" cy="1107996"/>
          </a:xfrm>
          <a:prstGeom prst="rect">
            <a:avLst/>
          </a:prstGeom>
          <a:solidFill>
            <a:schemeClr val="accent6">
              <a:lumMod val="20000"/>
              <a:lumOff val="80000"/>
            </a:schemeClr>
          </a:solidFill>
        </p:spPr>
        <p:txBody>
          <a:bodyPr wrap="square" rtlCol="0">
            <a:spAutoFit/>
          </a:bodyPr>
          <a:lstStyle/>
          <a:p>
            <a:pPr algn="ctr"/>
            <a:r>
              <a:rPr lang="en-US" sz="2200" b="1" dirty="0"/>
              <a:t>CPU scheduling</a:t>
            </a:r>
          </a:p>
          <a:p>
            <a:pPr algn="ctr"/>
            <a:r>
              <a:rPr lang="en-US" sz="2200" dirty="0"/>
              <a:t>Selects from among the processes/threads that are ready to execute, and allocates the CPU to it</a:t>
            </a:r>
          </a:p>
        </p:txBody>
      </p:sp>
      <p:sp>
        <p:nvSpPr>
          <p:cNvPr id="6" name="TextBox 5"/>
          <p:cNvSpPr txBox="1"/>
          <p:nvPr/>
        </p:nvSpPr>
        <p:spPr>
          <a:xfrm>
            <a:off x="6781800" y="3048000"/>
            <a:ext cx="1608710" cy="369332"/>
          </a:xfrm>
          <a:prstGeom prst="rect">
            <a:avLst/>
          </a:prstGeom>
          <a:noFill/>
        </p:spPr>
        <p:txBody>
          <a:bodyPr wrap="none" rtlCol="0">
            <a:spAutoFit/>
          </a:bodyPr>
          <a:lstStyle/>
          <a:p>
            <a:r>
              <a:rPr lang="en-US" b="1" dirty="0"/>
              <a:t>Assume 1 CPU</a:t>
            </a:r>
          </a:p>
        </p:txBody>
      </p:sp>
      <p:sp>
        <p:nvSpPr>
          <p:cNvPr id="11" name="Slide Number Placeholder 10">
            <a:extLst>
              <a:ext uri="{FF2B5EF4-FFF2-40B4-BE49-F238E27FC236}">
                <a16:creationId xmlns:a16="http://schemas.microsoft.com/office/drawing/2014/main" id="{20713B44-C2E4-5635-3CA4-33335772FD9F}"/>
              </a:ext>
            </a:extLst>
          </p:cNvPr>
          <p:cNvSpPr>
            <a:spLocks noGrp="1"/>
          </p:cNvSpPr>
          <p:nvPr>
            <p:ph type="sldNum" sz="quarter" idx="12"/>
          </p:nvPr>
        </p:nvSpPr>
        <p:spPr/>
        <p:txBody>
          <a:bodyPr/>
          <a:lstStyle/>
          <a:p>
            <a:r>
              <a:rPr lang="en-US"/>
              <a:t>CS4500/5500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linds(horizontal)">
                                      <p:cBhvr>
                                        <p:cTn id="7" dur="500"/>
                                        <p:tgtEl>
                                          <p:spTgt spid="4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blinds(horizontal)">
                                      <p:cBhvr>
                                        <p:cTn id="1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5952067" cy="609599"/>
          </a:xfrm>
        </p:spPr>
        <p:txBody>
          <a:bodyPr>
            <a:normAutofit fontScale="90000"/>
          </a:bodyPr>
          <a:lstStyle/>
          <a:p>
            <a:r>
              <a:rPr lang="en-US" sz="4000" dirty="0">
                <a:ln>
                  <a:noFill/>
                </a:ln>
                <a:effectLst/>
              </a:rPr>
              <a:t>Why CPU Scheduling?</a:t>
            </a:r>
          </a:p>
        </p:txBody>
      </p:sp>
      <p:sp>
        <p:nvSpPr>
          <p:cNvPr id="31" name="Content Placeholder 5"/>
          <p:cNvSpPr>
            <a:spLocks noGrp="1"/>
          </p:cNvSpPr>
          <p:nvPr>
            <p:ph sz="quarter" idx="1"/>
          </p:nvPr>
        </p:nvSpPr>
        <p:spPr>
          <a:xfrm>
            <a:off x="1219200" y="1444098"/>
            <a:ext cx="8229600" cy="5029200"/>
          </a:xfrm>
        </p:spPr>
        <p:txBody>
          <a:bodyPr>
            <a:normAutofit/>
          </a:bodyPr>
          <a:lstStyle/>
          <a:p>
            <a:r>
              <a:rPr lang="en-US" dirty="0">
                <a:solidFill>
                  <a:srgbClr val="000000"/>
                </a:solidFill>
              </a:rPr>
              <a:t>In support of multiprogramming</a:t>
            </a:r>
          </a:p>
          <a:p>
            <a:pPr lvl="1"/>
            <a:r>
              <a:rPr lang="en-US" dirty="0">
                <a:solidFill>
                  <a:srgbClr val="000000"/>
                </a:solidFill>
              </a:rPr>
              <a:t>Uniprocessor systems (this lecture)</a:t>
            </a:r>
          </a:p>
          <a:p>
            <a:pPr lvl="2"/>
            <a:r>
              <a:rPr lang="en-US" dirty="0">
                <a:solidFill>
                  <a:srgbClr val="000000"/>
                </a:solidFill>
              </a:rPr>
              <a:t>Time-sharing processor</a:t>
            </a:r>
          </a:p>
          <a:p>
            <a:pPr lvl="1"/>
            <a:r>
              <a:rPr lang="en-US" dirty="0">
                <a:solidFill>
                  <a:srgbClr val="000000"/>
                </a:solidFill>
              </a:rPr>
              <a:t>Real-time systems (this lecture)</a:t>
            </a:r>
          </a:p>
          <a:p>
            <a:pPr lvl="2"/>
            <a:r>
              <a:rPr lang="en-US" dirty="0">
                <a:solidFill>
                  <a:srgbClr val="000000"/>
                </a:solidFill>
              </a:rPr>
              <a:t>Reliably guaranteeing deadlines</a:t>
            </a:r>
          </a:p>
          <a:p>
            <a:pPr lvl="1"/>
            <a:r>
              <a:rPr lang="en-US" dirty="0">
                <a:solidFill>
                  <a:srgbClr val="000000"/>
                </a:solidFill>
              </a:rPr>
              <a:t>Multiprocessor systems (next lecture)</a:t>
            </a:r>
          </a:p>
          <a:p>
            <a:pPr lvl="2"/>
            <a:r>
              <a:rPr lang="en-US" dirty="0">
                <a:solidFill>
                  <a:srgbClr val="000000"/>
                </a:solidFill>
              </a:rPr>
              <a:t>Efficiently distributing tasks</a:t>
            </a:r>
          </a:p>
          <a:p>
            <a:r>
              <a:rPr lang="en-US" dirty="0">
                <a:solidFill>
                  <a:srgbClr val="000000"/>
                </a:solidFill>
              </a:rPr>
              <a:t>What does CPU schedule?</a:t>
            </a:r>
          </a:p>
          <a:p>
            <a:pPr lvl="1"/>
            <a:r>
              <a:rPr lang="en-US" dirty="0">
                <a:solidFill>
                  <a:srgbClr val="000000"/>
                </a:solidFill>
              </a:rPr>
              <a:t>Processes, threads</a:t>
            </a:r>
          </a:p>
          <a:p>
            <a:endParaRPr lang="en-US" dirty="0">
              <a:solidFill>
                <a:srgbClr val="000000"/>
              </a:solidFill>
            </a:endParaRPr>
          </a:p>
        </p:txBody>
      </p:sp>
      <p:sp>
        <p:nvSpPr>
          <p:cNvPr id="6" name="Slide Number Placeholder 5">
            <a:extLst>
              <a:ext uri="{FF2B5EF4-FFF2-40B4-BE49-F238E27FC236}">
                <a16:creationId xmlns:a16="http://schemas.microsoft.com/office/drawing/2014/main" id="{CD5DBD89-4044-D6D3-5C30-CD697923A1C7}"/>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817834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F31C1696-039F-6FA5-1AAA-B01621239820}"/>
              </a:ext>
            </a:extLst>
          </p:cNvPr>
          <p:cNvSpPr>
            <a:spLocks noGrp="1" noChangeArrowheads="1"/>
          </p:cNvSpPr>
          <p:nvPr>
            <p:ph type="title"/>
          </p:nvPr>
        </p:nvSpPr>
        <p:spPr>
          <a:xfrm>
            <a:off x="982133" y="457201"/>
            <a:ext cx="7704667" cy="925512"/>
          </a:xfrm>
        </p:spPr>
        <p:txBody>
          <a:bodyPr/>
          <a:lstStyle/>
          <a:p>
            <a:pPr eaLnBrk="1" hangingPunct="1"/>
            <a:r>
              <a:rPr lang="en-US" altLang="en-US" dirty="0">
                <a:ea typeface="ＭＳ Ｐゴシック" panose="020B0600070205080204" pitchFamily="34" charset="-128"/>
              </a:rPr>
              <a:t>Dispatcher</a:t>
            </a:r>
          </a:p>
        </p:txBody>
      </p:sp>
      <p:sp>
        <p:nvSpPr>
          <p:cNvPr id="11267" name="Rectangle 3">
            <a:extLst>
              <a:ext uri="{FF2B5EF4-FFF2-40B4-BE49-F238E27FC236}">
                <a16:creationId xmlns:a16="http://schemas.microsoft.com/office/drawing/2014/main" id="{984CAF91-BC82-CD12-93F8-3C7D54FD93F6}"/>
              </a:ext>
            </a:extLst>
          </p:cNvPr>
          <p:cNvSpPr>
            <a:spLocks noGrp="1" noChangeArrowheads="1"/>
          </p:cNvSpPr>
          <p:nvPr>
            <p:ph type="body" idx="1"/>
          </p:nvPr>
        </p:nvSpPr>
        <p:spPr>
          <a:xfrm>
            <a:off x="827088" y="1382713"/>
            <a:ext cx="7731125" cy="4483100"/>
          </a:xfrm>
        </p:spPr>
        <p:txBody>
          <a:bodyPr>
            <a:normAutofit fontScale="92500" lnSpcReduction="10000"/>
          </a:bodyPr>
          <a:lstStyle/>
          <a:p>
            <a:r>
              <a:rPr lang="en-US" altLang="en-US" sz="2800" dirty="0">
                <a:ea typeface="ＭＳ Ｐゴシック" panose="020B0600070205080204" pitchFamily="34" charset="-128"/>
              </a:rPr>
              <a:t>A special program which comes into play after the scheduler</a:t>
            </a:r>
          </a:p>
          <a:p>
            <a:r>
              <a:rPr lang="en-US" altLang="en-US" sz="2800" dirty="0">
                <a:ea typeface="ＭＳ Ｐゴシック" panose="020B0600070205080204" pitchFamily="34" charset="-128"/>
              </a:rPr>
              <a:t>Dispatcher module gives control of the CPU to the process selected by the scheduler; this involves:</a:t>
            </a:r>
          </a:p>
          <a:p>
            <a:pPr lvl="1"/>
            <a:r>
              <a:rPr lang="en-US" altLang="en-US" sz="2800" dirty="0">
                <a:ea typeface="ＭＳ Ｐゴシック" panose="020B0600070205080204" pitchFamily="34" charset="-128"/>
              </a:rPr>
              <a:t>Switching context</a:t>
            </a:r>
          </a:p>
          <a:p>
            <a:pPr lvl="1"/>
            <a:r>
              <a:rPr lang="en-US" altLang="en-US" sz="2800" dirty="0">
                <a:ea typeface="ＭＳ Ｐゴシック" panose="020B0600070205080204" pitchFamily="34" charset="-128"/>
              </a:rPr>
              <a:t>Switching to user mode</a:t>
            </a:r>
          </a:p>
          <a:p>
            <a:pPr lvl="1"/>
            <a:r>
              <a:rPr lang="en-US" altLang="en-US" sz="2800" dirty="0">
                <a:ea typeface="ＭＳ Ｐゴシック" panose="020B0600070205080204" pitchFamily="34" charset="-128"/>
              </a:rPr>
              <a:t>Jumping to the proper location in the user program to restart that program</a:t>
            </a:r>
          </a:p>
          <a:p>
            <a:r>
              <a:rPr lang="en-US" altLang="en-US" sz="2800" b="1" dirty="0">
                <a:ea typeface="ＭＳ Ｐゴシック" panose="020B0600070205080204" pitchFamily="34" charset="-128"/>
              </a:rPr>
              <a:t>Dispatch latency </a:t>
            </a:r>
            <a:r>
              <a:rPr lang="en-US" altLang="en-US" sz="2800" dirty="0">
                <a:ea typeface="ＭＳ Ｐゴシック" panose="020B0600070205080204" pitchFamily="34" charset="-128"/>
              </a:rPr>
              <a:t>– time it takes for the dispatcher to stop one process and start another running</a:t>
            </a:r>
          </a:p>
        </p:txBody>
      </p:sp>
      <p:sp>
        <p:nvSpPr>
          <p:cNvPr id="4" name="Slide Number Placeholder 3">
            <a:extLst>
              <a:ext uri="{FF2B5EF4-FFF2-40B4-BE49-F238E27FC236}">
                <a16:creationId xmlns:a16="http://schemas.microsoft.com/office/drawing/2014/main" id="{539E5D5D-004C-C75C-F0CC-99DD1567DFEE}"/>
              </a:ext>
            </a:extLst>
          </p:cNvPr>
          <p:cNvSpPr>
            <a:spLocks noGrp="1"/>
          </p:cNvSpPr>
          <p:nvPr>
            <p:ph type="sldNum" sz="quarter" idx="12"/>
          </p:nvPr>
        </p:nvSpPr>
        <p:spPr/>
        <p:txBody>
          <a:bodyPr/>
          <a:lstStyle/>
          <a:p>
            <a:r>
              <a:rPr lang="en-US"/>
              <a:t>CS4500/5500</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74C48E4-1D7C-F0F1-8018-9F15FE613ED9}"/>
              </a:ext>
            </a:extLst>
          </p:cNvPr>
          <p:cNvSpPr>
            <a:spLocks noGrp="1" noChangeArrowheads="1"/>
          </p:cNvSpPr>
          <p:nvPr>
            <p:ph type="title"/>
          </p:nvPr>
        </p:nvSpPr>
        <p:spPr>
          <a:xfrm>
            <a:off x="990600" y="277813"/>
            <a:ext cx="7696200" cy="576262"/>
          </a:xfrm>
        </p:spPr>
        <p:txBody>
          <a:bodyPr>
            <a:normAutofit fontScale="90000"/>
          </a:bodyPr>
          <a:lstStyle/>
          <a:p>
            <a:pPr eaLnBrk="1" hangingPunct="1"/>
            <a:r>
              <a:rPr lang="en-US" altLang="en-US">
                <a:ea typeface="ＭＳ Ｐゴシック" panose="020B0600070205080204" pitchFamily="34" charset="-128"/>
              </a:rPr>
              <a:t>Scheduling Criteria</a:t>
            </a:r>
          </a:p>
        </p:txBody>
      </p:sp>
      <p:sp>
        <p:nvSpPr>
          <p:cNvPr id="12291" name="Rectangle 3">
            <a:extLst>
              <a:ext uri="{FF2B5EF4-FFF2-40B4-BE49-F238E27FC236}">
                <a16:creationId xmlns:a16="http://schemas.microsoft.com/office/drawing/2014/main" id="{7027C675-E164-F817-530E-E38607777784}"/>
              </a:ext>
            </a:extLst>
          </p:cNvPr>
          <p:cNvSpPr>
            <a:spLocks noGrp="1" noChangeArrowheads="1"/>
          </p:cNvSpPr>
          <p:nvPr>
            <p:ph type="body" idx="1"/>
          </p:nvPr>
        </p:nvSpPr>
        <p:spPr>
          <a:xfrm>
            <a:off x="819150" y="1246188"/>
            <a:ext cx="7637463" cy="4959350"/>
          </a:xfrm>
        </p:spPr>
        <p:txBody>
          <a:bodyPr>
            <a:normAutofit fontScale="92500" lnSpcReduction="10000"/>
          </a:bodyPr>
          <a:lstStyle/>
          <a:p>
            <a:r>
              <a:rPr lang="en-US" altLang="en-US" sz="2800" b="1">
                <a:ea typeface="ＭＳ Ｐゴシック" panose="020B0600070205080204" pitchFamily="34" charset="-128"/>
              </a:rPr>
              <a:t>CPU utilization </a:t>
            </a:r>
            <a:r>
              <a:rPr lang="en-US" altLang="en-US" sz="2800">
                <a:ea typeface="ＭＳ Ｐゴシック" panose="020B0600070205080204" pitchFamily="34" charset="-128"/>
              </a:rPr>
              <a:t>– keep the CPU as busy as possible</a:t>
            </a:r>
          </a:p>
          <a:p>
            <a:r>
              <a:rPr lang="en-US" altLang="en-US" sz="2800" b="1">
                <a:ea typeface="ＭＳ Ｐゴシック" panose="020B0600070205080204" pitchFamily="34" charset="-128"/>
              </a:rPr>
              <a:t>Throughput</a:t>
            </a:r>
            <a:r>
              <a:rPr lang="en-US" altLang="en-US" sz="2800">
                <a:ea typeface="ＭＳ Ｐゴシック" panose="020B0600070205080204" pitchFamily="34" charset="-128"/>
              </a:rPr>
              <a:t> – # of processes that complete their execution per time unit</a:t>
            </a:r>
          </a:p>
          <a:p>
            <a:r>
              <a:rPr lang="en-US" altLang="en-US" sz="2800" b="1">
                <a:ea typeface="ＭＳ Ｐゴシック" panose="020B0600070205080204" pitchFamily="34" charset="-128"/>
              </a:rPr>
              <a:t>Turnaround time </a:t>
            </a:r>
            <a:r>
              <a:rPr lang="en-US" altLang="en-US" sz="2800">
                <a:ea typeface="ＭＳ Ｐゴシック" panose="020B0600070205080204" pitchFamily="34" charset="-128"/>
              </a:rPr>
              <a:t>– amount of time to execute a particular process</a:t>
            </a:r>
          </a:p>
          <a:p>
            <a:r>
              <a:rPr lang="en-US" altLang="en-US" sz="2800" b="1">
                <a:ea typeface="ＭＳ Ｐゴシック" panose="020B0600070205080204" pitchFamily="34" charset="-128"/>
              </a:rPr>
              <a:t>Waiting time </a:t>
            </a:r>
            <a:r>
              <a:rPr lang="en-US" altLang="en-US" sz="2800">
                <a:ea typeface="ＭＳ Ｐゴシック" panose="020B0600070205080204" pitchFamily="34" charset="-128"/>
              </a:rPr>
              <a:t>– amount of time a process has been waiting in the ready queue</a:t>
            </a:r>
          </a:p>
          <a:p>
            <a:r>
              <a:rPr lang="en-US" altLang="en-US" sz="2800" b="1">
                <a:ea typeface="ＭＳ Ｐゴシック" panose="020B0600070205080204" pitchFamily="34" charset="-128"/>
              </a:rPr>
              <a:t>Response time </a:t>
            </a:r>
            <a:r>
              <a:rPr lang="en-US" altLang="en-US" sz="2800">
                <a:ea typeface="ＭＳ Ｐゴシック" panose="020B0600070205080204" pitchFamily="34" charset="-128"/>
              </a:rPr>
              <a:t>– amount of time it takes from when a request was submitted until the first response is produced, not output  (for time-sharing environment)</a:t>
            </a:r>
          </a:p>
        </p:txBody>
      </p:sp>
      <p:sp>
        <p:nvSpPr>
          <p:cNvPr id="4" name="Slide Number Placeholder 3">
            <a:extLst>
              <a:ext uri="{FF2B5EF4-FFF2-40B4-BE49-F238E27FC236}">
                <a16:creationId xmlns:a16="http://schemas.microsoft.com/office/drawing/2014/main" id="{163F586F-1A0A-AFA0-D3CE-96F7CFB433DE}"/>
              </a:ext>
            </a:extLst>
          </p:cNvPr>
          <p:cNvSpPr>
            <a:spLocks noGrp="1"/>
          </p:cNvSpPr>
          <p:nvPr>
            <p:ph type="sldNum" sz="quarter" idx="12"/>
          </p:nvPr>
        </p:nvSpPr>
        <p:spPr/>
        <p:txBody>
          <a:bodyPr/>
          <a:lstStyle/>
          <a:p>
            <a:r>
              <a:rPr lang="en-US"/>
              <a:t>CS4500/5500</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031A1C3D-1060-A38E-5D91-80B0CBCE8095}"/>
              </a:ext>
            </a:extLst>
          </p:cNvPr>
          <p:cNvSpPr>
            <a:spLocks noGrp="1" noChangeArrowheads="1"/>
          </p:cNvSpPr>
          <p:nvPr>
            <p:ph type="title"/>
          </p:nvPr>
        </p:nvSpPr>
        <p:spPr>
          <a:xfrm>
            <a:off x="990600" y="277813"/>
            <a:ext cx="7696200" cy="576262"/>
          </a:xfrm>
        </p:spPr>
        <p:txBody>
          <a:bodyPr/>
          <a:lstStyle/>
          <a:p>
            <a:pPr eaLnBrk="1" hangingPunct="1"/>
            <a:r>
              <a:rPr lang="en-US" altLang="en-US" sz="2800">
                <a:ea typeface="ＭＳ Ｐゴシック" panose="020B0600070205080204" pitchFamily="34" charset="-128"/>
              </a:rPr>
              <a:t>Scheduling Algorithm Optimization Criteria</a:t>
            </a:r>
          </a:p>
        </p:txBody>
      </p:sp>
      <p:sp>
        <p:nvSpPr>
          <p:cNvPr id="13315" name="Rectangle 3">
            <a:extLst>
              <a:ext uri="{FF2B5EF4-FFF2-40B4-BE49-F238E27FC236}">
                <a16:creationId xmlns:a16="http://schemas.microsoft.com/office/drawing/2014/main" id="{2C92BE3A-ED8C-D86F-AF56-D27300722AB9}"/>
              </a:ext>
            </a:extLst>
          </p:cNvPr>
          <p:cNvSpPr>
            <a:spLocks noGrp="1" noChangeArrowheads="1"/>
          </p:cNvSpPr>
          <p:nvPr>
            <p:ph type="body" idx="1"/>
          </p:nvPr>
        </p:nvSpPr>
        <p:spPr>
          <a:xfrm>
            <a:off x="827088" y="1439863"/>
            <a:ext cx="7351712" cy="4483100"/>
          </a:xfrm>
        </p:spPr>
        <p:txBody>
          <a:bodyPr/>
          <a:lstStyle/>
          <a:p>
            <a:r>
              <a:rPr lang="en-US" altLang="en-US">
                <a:ea typeface="ＭＳ Ｐゴシック" panose="020B0600070205080204" pitchFamily="34" charset="-128"/>
              </a:rPr>
              <a:t>Max CPU utilization</a:t>
            </a:r>
          </a:p>
          <a:p>
            <a:r>
              <a:rPr lang="en-US" altLang="en-US">
                <a:ea typeface="ＭＳ Ｐゴシック" panose="020B0600070205080204" pitchFamily="34" charset="-128"/>
              </a:rPr>
              <a:t>Max throughput</a:t>
            </a:r>
          </a:p>
          <a:p>
            <a:r>
              <a:rPr lang="en-US" altLang="en-US">
                <a:ea typeface="ＭＳ Ｐゴシック" panose="020B0600070205080204" pitchFamily="34" charset="-128"/>
              </a:rPr>
              <a:t>Min turnaround time </a:t>
            </a:r>
          </a:p>
          <a:p>
            <a:r>
              <a:rPr lang="en-US" altLang="en-US">
                <a:ea typeface="ＭＳ Ｐゴシック" panose="020B0600070205080204" pitchFamily="34" charset="-128"/>
              </a:rPr>
              <a:t>Min waiting time </a:t>
            </a:r>
          </a:p>
          <a:p>
            <a:r>
              <a:rPr lang="en-US" altLang="en-US">
                <a:ea typeface="ＭＳ Ｐゴシック" panose="020B0600070205080204" pitchFamily="34" charset="-128"/>
              </a:rPr>
              <a:t>Min response time</a:t>
            </a:r>
          </a:p>
        </p:txBody>
      </p:sp>
      <p:sp>
        <p:nvSpPr>
          <p:cNvPr id="4" name="Slide Number Placeholder 3">
            <a:extLst>
              <a:ext uri="{FF2B5EF4-FFF2-40B4-BE49-F238E27FC236}">
                <a16:creationId xmlns:a16="http://schemas.microsoft.com/office/drawing/2014/main" id="{FAABC7BF-73E9-DA7E-0A01-1D096258BDB5}"/>
              </a:ext>
            </a:extLst>
          </p:cNvPr>
          <p:cNvSpPr>
            <a:spLocks noGrp="1"/>
          </p:cNvSpPr>
          <p:nvPr>
            <p:ph type="sldNum" sz="quarter" idx="12"/>
          </p:nvPr>
        </p:nvSpPr>
        <p:spPr/>
        <p:txBody>
          <a:bodyPr/>
          <a:lstStyle/>
          <a:p>
            <a:r>
              <a:rPr lang="en-US"/>
              <a:t>CS4500/5500</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n>
                  <a:noFill/>
                </a:ln>
                <a:effectLst/>
              </a:rPr>
              <a:t>CPU Scheduling</a:t>
            </a:r>
          </a:p>
        </p:txBody>
      </p:sp>
      <p:sp>
        <p:nvSpPr>
          <p:cNvPr id="31" name="Content Placeholder 5"/>
          <p:cNvSpPr>
            <a:spLocks noGrp="1"/>
          </p:cNvSpPr>
          <p:nvPr>
            <p:ph idx="1"/>
          </p:nvPr>
        </p:nvSpPr>
        <p:spPr>
          <a:xfrm>
            <a:off x="982133" y="2170673"/>
            <a:ext cx="7704667" cy="3332816"/>
          </a:xfrm>
        </p:spPr>
        <p:txBody>
          <a:bodyPr>
            <a:normAutofit lnSpcReduction="10000"/>
          </a:bodyPr>
          <a:lstStyle/>
          <a:p>
            <a:r>
              <a:rPr lang="en-US" dirty="0"/>
              <a:t>Process context</a:t>
            </a:r>
          </a:p>
          <a:p>
            <a:pPr lvl="1"/>
            <a:r>
              <a:rPr lang="en-US" dirty="0"/>
              <a:t>Minimal set of state info that must be stored to allow a process to be stopped and restarted later</a:t>
            </a:r>
          </a:p>
          <a:p>
            <a:pPr lvl="1"/>
            <a:r>
              <a:rPr lang="en-US" dirty="0"/>
              <a:t>Information stored in CPU</a:t>
            </a:r>
          </a:p>
          <a:p>
            <a:pPr lvl="2"/>
            <a:r>
              <a:rPr lang="en-US" dirty="0"/>
              <a:t>Contents of registers</a:t>
            </a:r>
          </a:p>
          <a:p>
            <a:pPr lvl="3"/>
            <a:r>
              <a:rPr lang="en-US" dirty="0"/>
              <a:t>Program counter </a:t>
            </a:r>
          </a:p>
          <a:p>
            <a:pPr lvl="1"/>
            <a:r>
              <a:rPr lang="en-US" dirty="0"/>
              <a:t>Information stored in RAM</a:t>
            </a:r>
          </a:p>
          <a:p>
            <a:pPr lvl="2"/>
            <a:r>
              <a:rPr lang="en-US" altLang="zh-TW" dirty="0"/>
              <a:t>PCB</a:t>
            </a:r>
            <a:endParaRPr lang="en-US" dirty="0"/>
          </a:p>
          <a:p>
            <a:endParaRPr lang="en-US" dirty="0"/>
          </a:p>
        </p:txBody>
      </p:sp>
      <p:pic>
        <p:nvPicPr>
          <p:cNvPr id="6" name="Picture 5">
            <a:extLst>
              <a:ext uri="{FF2B5EF4-FFF2-40B4-BE49-F238E27FC236}">
                <a16:creationId xmlns:a16="http://schemas.microsoft.com/office/drawing/2014/main" id="{556FB9BF-D22B-3111-377A-DA95BF3662D6}"/>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0" y="5181600"/>
            <a:ext cx="9144000" cy="1676399"/>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951445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626" y="436245"/>
            <a:ext cx="5409144" cy="673626"/>
          </a:xfrm>
        </p:spPr>
        <p:txBody>
          <a:bodyPr>
            <a:normAutofit fontScale="90000"/>
          </a:bodyPr>
          <a:lstStyle/>
          <a:p>
            <a:r>
              <a:rPr lang="en-US" sz="4000" dirty="0">
                <a:ln>
                  <a:noFill/>
                </a:ln>
                <a:effectLst/>
              </a:rPr>
              <a:t>CPU Scheduling</a:t>
            </a:r>
          </a:p>
        </p:txBody>
      </p:sp>
      <p:sp>
        <p:nvSpPr>
          <p:cNvPr id="31" name="Content Placeholder 5"/>
          <p:cNvSpPr>
            <a:spLocks noGrp="1"/>
          </p:cNvSpPr>
          <p:nvPr>
            <p:ph sz="quarter" idx="1"/>
          </p:nvPr>
        </p:nvSpPr>
        <p:spPr>
          <a:xfrm>
            <a:off x="685800" y="414403"/>
            <a:ext cx="7657574" cy="6334704"/>
          </a:xfrm>
        </p:spPr>
        <p:txBody>
          <a:bodyPr>
            <a:normAutofit/>
          </a:bodyPr>
          <a:lstStyle/>
          <a:p>
            <a:r>
              <a:rPr lang="en-US" sz="2400" dirty="0">
                <a:solidFill>
                  <a:srgbClr val="000000"/>
                </a:solidFill>
              </a:rPr>
              <a:t>CPU scheduling may take place at</a:t>
            </a:r>
          </a:p>
          <a:p>
            <a:pPr lvl="1"/>
            <a:r>
              <a:rPr lang="en-US" sz="2000" dirty="0">
                <a:solidFill>
                  <a:srgbClr val="000000"/>
                </a:solidFill>
              </a:rPr>
              <a:t>Clock interrupts</a:t>
            </a:r>
          </a:p>
          <a:p>
            <a:pPr lvl="1"/>
            <a:r>
              <a:rPr lang="en-US" sz="2000" dirty="0">
                <a:solidFill>
                  <a:srgbClr val="000000"/>
                </a:solidFill>
              </a:rPr>
              <a:t>I/O interrupts </a:t>
            </a:r>
          </a:p>
          <a:p>
            <a:pPr lvl="1"/>
            <a:r>
              <a:rPr lang="en-US" sz="2000" dirty="0">
                <a:solidFill>
                  <a:srgbClr val="000000"/>
                </a:solidFill>
              </a:rPr>
              <a:t>I/O completion</a:t>
            </a:r>
          </a:p>
          <a:p>
            <a:pPr lvl="1"/>
            <a:r>
              <a:rPr lang="en-US" sz="2000" dirty="0">
                <a:solidFill>
                  <a:srgbClr val="000000"/>
                </a:solidFill>
              </a:rPr>
              <a:t>Termination</a:t>
            </a:r>
          </a:p>
          <a:p>
            <a:r>
              <a:rPr lang="en-US" sz="2400" dirty="0">
                <a:solidFill>
                  <a:srgbClr val="000000"/>
                </a:solidFill>
              </a:rPr>
              <a:t>Non-preemptive: </a:t>
            </a:r>
            <a:r>
              <a:rPr lang="en-US" sz="2000" dirty="0">
                <a:solidFill>
                  <a:srgbClr val="000000"/>
                </a:solidFill>
              </a:rPr>
              <a:t>Scheduling only when current process terminates or gives up control</a:t>
            </a:r>
          </a:p>
          <a:p>
            <a:r>
              <a:rPr lang="en-US" sz="2400" dirty="0">
                <a:solidFill>
                  <a:srgbClr val="000000"/>
                </a:solidFill>
              </a:rPr>
              <a:t> Preemptive: </a:t>
            </a:r>
            <a:r>
              <a:rPr lang="en-US" sz="2000" dirty="0">
                <a:solidFill>
                  <a:srgbClr val="000000"/>
                </a:solidFill>
              </a:rPr>
              <a:t>Processes can be forced to give up control</a:t>
            </a:r>
          </a:p>
          <a:p>
            <a:pPr lvl="2"/>
            <a:endParaRPr lang="en-US" dirty="0">
              <a:solidFill>
                <a:srgbClr val="000000"/>
              </a:solidFill>
            </a:endParaRPr>
          </a:p>
          <a:p>
            <a:endParaRPr lang="en-US" dirty="0">
              <a:solidFill>
                <a:srgbClr val="000000"/>
              </a:solidFill>
            </a:endParaRPr>
          </a:p>
        </p:txBody>
      </p:sp>
      <p:grpSp>
        <p:nvGrpSpPr>
          <p:cNvPr id="56" name="Group 55"/>
          <p:cNvGrpSpPr/>
          <p:nvPr/>
        </p:nvGrpSpPr>
        <p:grpSpPr>
          <a:xfrm>
            <a:off x="1885809" y="5222411"/>
            <a:ext cx="6144558" cy="1588532"/>
            <a:chOff x="1600200" y="3886200"/>
            <a:chExt cx="6144558" cy="1588532"/>
          </a:xfrm>
        </p:grpSpPr>
        <p:sp>
          <p:nvSpPr>
            <p:cNvPr id="28" name="Rectangle 27"/>
            <p:cNvSpPr/>
            <p:nvPr/>
          </p:nvSpPr>
          <p:spPr>
            <a:xfrm>
              <a:off x="1600200" y="4267200"/>
              <a:ext cx="304800" cy="45720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1905000" y="4267200"/>
              <a:ext cx="304800" cy="45720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2209800" y="4267200"/>
              <a:ext cx="304800" cy="45720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2514600" y="4267200"/>
              <a:ext cx="304800" cy="45720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2819400" y="4267200"/>
              <a:ext cx="304800" cy="45720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4953000" y="4191000"/>
              <a:ext cx="1219200" cy="6096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processor</a:t>
              </a:r>
            </a:p>
          </p:txBody>
        </p:sp>
        <p:cxnSp>
          <p:nvCxnSpPr>
            <p:cNvPr id="45" name="Straight Arrow Connector 44"/>
            <p:cNvCxnSpPr>
              <a:stCxn id="38" idx="3"/>
              <a:endCxn id="39" idx="1"/>
            </p:cNvCxnSpPr>
            <p:nvPr/>
          </p:nvCxnSpPr>
          <p:spPr>
            <a:xfrm>
              <a:off x="3124200" y="4495800"/>
              <a:ext cx="1828800" cy="0"/>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3124200" y="3974068"/>
              <a:ext cx="1810688" cy="369332"/>
            </a:xfrm>
            <a:prstGeom prst="rect">
              <a:avLst/>
            </a:prstGeom>
            <a:noFill/>
          </p:spPr>
          <p:txBody>
            <a:bodyPr wrap="none" rtlCol="0">
              <a:spAutoFit/>
            </a:bodyPr>
            <a:lstStyle/>
            <a:p>
              <a:r>
                <a:rPr lang="en-US" b="1" dirty="0" err="1"/>
                <a:t>pick_next_task</a:t>
              </a:r>
              <a:r>
                <a:rPr lang="en-US" dirty="0"/>
                <a:t>() </a:t>
              </a:r>
            </a:p>
          </p:txBody>
        </p:sp>
        <p:sp>
          <p:nvSpPr>
            <p:cNvPr id="47" name="TextBox 46"/>
            <p:cNvSpPr txBox="1"/>
            <p:nvPr/>
          </p:nvSpPr>
          <p:spPr>
            <a:xfrm>
              <a:off x="1676400" y="3886200"/>
              <a:ext cx="1363065" cy="369332"/>
            </a:xfrm>
            <a:prstGeom prst="rect">
              <a:avLst/>
            </a:prstGeom>
            <a:noFill/>
          </p:spPr>
          <p:txBody>
            <a:bodyPr wrap="none" rtlCol="0">
              <a:spAutoFit/>
            </a:bodyPr>
            <a:lstStyle/>
            <a:p>
              <a:r>
                <a:rPr lang="en-US" dirty="0"/>
                <a:t>ready queue</a:t>
              </a:r>
            </a:p>
          </p:txBody>
        </p:sp>
        <p:cxnSp>
          <p:nvCxnSpPr>
            <p:cNvPr id="51" name="Elbow Connector 50"/>
            <p:cNvCxnSpPr>
              <a:stCxn id="39" idx="2"/>
              <a:endCxn id="34" idx="2"/>
            </p:cNvCxnSpPr>
            <p:nvPr/>
          </p:nvCxnSpPr>
          <p:spPr>
            <a:xfrm rot="5400000" flipH="1">
              <a:off x="3924300" y="3162300"/>
              <a:ext cx="76200" cy="3200400"/>
            </a:xfrm>
            <a:prstGeom prst="bentConnector3">
              <a:avLst>
                <a:gd name="adj1" fmla="val -300000"/>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3355089" y="5105400"/>
              <a:ext cx="1293111" cy="369332"/>
            </a:xfrm>
            <a:prstGeom prst="rect">
              <a:avLst/>
            </a:prstGeom>
            <a:noFill/>
          </p:spPr>
          <p:txBody>
            <a:bodyPr wrap="none" rtlCol="0">
              <a:spAutoFit/>
            </a:bodyPr>
            <a:lstStyle/>
            <a:p>
              <a:r>
                <a:rPr lang="en-US" dirty="0"/>
                <a:t>preemption</a:t>
              </a:r>
            </a:p>
          </p:txBody>
        </p:sp>
        <p:cxnSp>
          <p:nvCxnSpPr>
            <p:cNvPr id="53" name="Straight Arrow Connector 52"/>
            <p:cNvCxnSpPr/>
            <p:nvPr/>
          </p:nvCxnSpPr>
          <p:spPr>
            <a:xfrm flipV="1">
              <a:off x="6172200" y="4484132"/>
              <a:ext cx="1524000" cy="11668"/>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6400800" y="4114800"/>
              <a:ext cx="1343958" cy="369332"/>
            </a:xfrm>
            <a:prstGeom prst="rect">
              <a:avLst/>
            </a:prstGeom>
            <a:noFill/>
          </p:spPr>
          <p:txBody>
            <a:bodyPr wrap="none" rtlCol="0">
              <a:spAutoFit/>
            </a:bodyPr>
            <a:lstStyle/>
            <a:p>
              <a:r>
                <a:rPr lang="en-US" dirty="0"/>
                <a:t>exit/blocked</a:t>
              </a:r>
            </a:p>
          </p:txBody>
        </p:sp>
      </p:grpSp>
      <p:sp>
        <p:nvSpPr>
          <p:cNvPr id="58" name="Right Brace 57"/>
          <p:cNvSpPr/>
          <p:nvPr/>
        </p:nvSpPr>
        <p:spPr>
          <a:xfrm>
            <a:off x="3376611" y="1966120"/>
            <a:ext cx="257175" cy="457200"/>
          </a:xfrm>
          <a:prstGeom prst="rightBrace">
            <a:avLst/>
          </a:prstGeom>
          <a:noFill/>
          <a:ln w="254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TextBox 58"/>
          <p:cNvSpPr txBox="1"/>
          <p:nvPr/>
        </p:nvSpPr>
        <p:spPr>
          <a:xfrm>
            <a:off x="3791317" y="1981081"/>
            <a:ext cx="1561365" cy="400110"/>
          </a:xfrm>
          <a:prstGeom prst="rect">
            <a:avLst/>
          </a:prstGeom>
          <a:noFill/>
        </p:spPr>
        <p:txBody>
          <a:bodyPr wrap="square" rtlCol="0">
            <a:spAutoFit/>
          </a:bodyPr>
          <a:lstStyle/>
          <a:p>
            <a:r>
              <a:rPr lang="en-US" sz="2000" dirty="0">
                <a:solidFill>
                  <a:schemeClr val="accent1"/>
                </a:solidFill>
              </a:rPr>
              <a:t>preemptive</a:t>
            </a:r>
          </a:p>
        </p:txBody>
      </p:sp>
      <p:sp>
        <p:nvSpPr>
          <p:cNvPr id="60" name="Right Brace 59"/>
          <p:cNvSpPr/>
          <p:nvPr/>
        </p:nvSpPr>
        <p:spPr>
          <a:xfrm>
            <a:off x="3427863" y="2804320"/>
            <a:ext cx="257175" cy="457200"/>
          </a:xfrm>
          <a:prstGeom prst="rightBrace">
            <a:avLst/>
          </a:prstGeom>
          <a:noFill/>
          <a:ln w="254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TextBox 60"/>
          <p:cNvSpPr txBox="1"/>
          <p:nvPr/>
        </p:nvSpPr>
        <p:spPr>
          <a:xfrm>
            <a:off x="3791317" y="2692064"/>
            <a:ext cx="2015817" cy="400110"/>
          </a:xfrm>
          <a:prstGeom prst="rect">
            <a:avLst/>
          </a:prstGeom>
          <a:noFill/>
        </p:spPr>
        <p:txBody>
          <a:bodyPr wrap="square" rtlCol="0">
            <a:spAutoFit/>
          </a:bodyPr>
          <a:lstStyle/>
          <a:p>
            <a:r>
              <a:rPr lang="en-US" sz="2000" dirty="0">
                <a:solidFill>
                  <a:srgbClr val="00B050"/>
                </a:solidFill>
              </a:rPr>
              <a:t>non-preemptive</a:t>
            </a:r>
          </a:p>
        </p:txBody>
      </p:sp>
      <p:sp>
        <p:nvSpPr>
          <p:cNvPr id="62" name="Rectangle 61"/>
          <p:cNvSpPr/>
          <p:nvPr/>
        </p:nvSpPr>
        <p:spPr>
          <a:xfrm>
            <a:off x="6647740" y="5451011"/>
            <a:ext cx="1371600" cy="3048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3552684" y="6472156"/>
            <a:ext cx="1543050" cy="381000"/>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9BB4C8B1-AC8E-56EA-4FAE-3A9E95B7B03B}"/>
              </a:ext>
            </a:extLst>
          </p:cNvPr>
          <p:cNvSpPr>
            <a:spLocks noGrp="1"/>
          </p:cNvSpPr>
          <p:nvPr>
            <p:ph type="sldNum" sz="quarter" idx="12"/>
          </p:nvPr>
        </p:nvSpPr>
        <p:spPr/>
        <p:txBody>
          <a:bodyPr/>
          <a:lstStyle/>
          <a:p>
            <a:r>
              <a:rPr lang="en-US"/>
              <a:t>CS4500/5500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blinds(horizontal)">
                                      <p:cBhvr>
                                        <p:cTn id="7" dur="500"/>
                                        <p:tgtEl>
                                          <p:spTgt spid="6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blinds(horizontal)">
                                      <p:cBhvr>
                                        <p:cTn id="10" dur="500"/>
                                        <p:tgtEl>
                                          <p:spTgt spid="6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animEffect transition="in" filter="blinds(horizontal)">
                                      <p:cBhvr>
                                        <p:cTn id="13" dur="500"/>
                                        <p:tgtEl>
                                          <p:spTgt spid="6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blinds(horizontal)">
                                      <p:cBhvr>
                                        <p:cTn id="16" dur="500"/>
                                        <p:tgtEl>
                                          <p:spTgt spid="58"/>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59"/>
                                        </p:tgtEl>
                                        <p:attrNameLst>
                                          <p:attrName>style.visibility</p:attrName>
                                        </p:attrNameLst>
                                      </p:cBhvr>
                                      <p:to>
                                        <p:strVal val="visible"/>
                                      </p:to>
                                    </p:set>
                                    <p:animEffect transition="in" filter="blinds(horizontal)">
                                      <p:cBhvr>
                                        <p:cTn id="19" dur="500"/>
                                        <p:tgtEl>
                                          <p:spTgt spid="59"/>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blinds(horizontal)">
                                      <p:cBhvr>
                                        <p:cTn id="22"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p:bldP spid="60" grpId="0" animBg="1"/>
      <p:bldP spid="61" grpId="0"/>
      <p:bldP spid="62" grpId="0" animBg="1"/>
      <p:bldP spid="6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n>
                  <a:noFill/>
                </a:ln>
                <a:effectLst/>
              </a:rPr>
              <a:t>Scheduling Goals</a:t>
            </a:r>
          </a:p>
        </p:txBody>
      </p:sp>
      <p:sp>
        <p:nvSpPr>
          <p:cNvPr id="31" name="Content Placeholder 5"/>
          <p:cNvSpPr>
            <a:spLocks noGrp="1"/>
          </p:cNvSpPr>
          <p:nvPr>
            <p:ph sz="quarter" idx="1"/>
          </p:nvPr>
        </p:nvSpPr>
        <p:spPr>
          <a:xfrm>
            <a:off x="914400" y="2286000"/>
            <a:ext cx="8229600" cy="5029200"/>
          </a:xfrm>
        </p:spPr>
        <p:txBody>
          <a:bodyPr>
            <a:normAutofit/>
          </a:bodyPr>
          <a:lstStyle/>
          <a:p>
            <a:r>
              <a:rPr lang="en-US" dirty="0"/>
              <a:t>User oriented </a:t>
            </a:r>
            <a:r>
              <a:rPr lang="en-US" dirty="0">
                <a:sym typeface="Wingdings" pitchFamily="2" charset="2"/>
              </a:rPr>
              <a:t></a:t>
            </a:r>
            <a:r>
              <a:rPr lang="en-US" dirty="0"/>
              <a:t> minimize</a:t>
            </a:r>
          </a:p>
          <a:p>
            <a:pPr lvl="1"/>
            <a:r>
              <a:rPr lang="en-US" dirty="0"/>
              <a:t>Response time (wait time): the time that the </a:t>
            </a:r>
            <a:r>
              <a:rPr lang="en-US" b="1" i="1" dirty="0"/>
              <a:t>first</a:t>
            </a:r>
            <a:r>
              <a:rPr lang="en-US" dirty="0"/>
              <a:t> response is received (interactivity)</a:t>
            </a:r>
          </a:p>
          <a:p>
            <a:pPr lvl="1"/>
            <a:r>
              <a:rPr lang="en-US" dirty="0"/>
              <a:t>Turnaround time: the time that the task </a:t>
            </a:r>
            <a:r>
              <a:rPr lang="en-US" b="1" dirty="0"/>
              <a:t>finishes</a:t>
            </a:r>
          </a:p>
          <a:p>
            <a:pPr lvl="1"/>
            <a:r>
              <a:rPr lang="en-US" dirty="0"/>
              <a:t>Unpredictability:  variations in different runs </a:t>
            </a:r>
          </a:p>
          <a:p>
            <a:r>
              <a:rPr lang="en-US" dirty="0"/>
              <a:t>System oriented </a:t>
            </a:r>
            <a:r>
              <a:rPr lang="en-US" dirty="0">
                <a:sym typeface="Wingdings" pitchFamily="2" charset="2"/>
              </a:rPr>
              <a:t> maximize</a:t>
            </a:r>
            <a:endParaRPr lang="en-US" dirty="0"/>
          </a:p>
          <a:p>
            <a:pPr lvl="1"/>
            <a:r>
              <a:rPr lang="en-US" dirty="0"/>
              <a:t>Throughput: # of tasks that finish per time unit</a:t>
            </a:r>
          </a:p>
          <a:p>
            <a:pPr lvl="1"/>
            <a:r>
              <a:rPr lang="en-US" dirty="0"/>
              <a:t>Utilization: the percentage of time the CPU is busy</a:t>
            </a:r>
          </a:p>
          <a:p>
            <a:pPr lvl="1"/>
            <a:r>
              <a:rPr lang="en-US" dirty="0"/>
              <a:t>Fairness: avoid starvation</a:t>
            </a:r>
          </a:p>
          <a:p>
            <a:endParaRPr lang="en-US" dirty="0">
              <a:solidFill>
                <a:srgbClr val="000000"/>
              </a:solidFill>
            </a:endParaRPr>
          </a:p>
          <a:p>
            <a:pPr lvl="1"/>
            <a:endParaRPr lang="en-US" dirty="0">
              <a:solidFill>
                <a:srgbClr val="000000"/>
              </a:solidFill>
            </a:endParaRPr>
          </a:p>
          <a:p>
            <a:endParaRPr lang="en-US" dirty="0">
              <a:solidFill>
                <a:srgbClr val="000000"/>
              </a:solidFill>
            </a:endParaRPr>
          </a:p>
        </p:txBody>
      </p:sp>
      <p:sp>
        <p:nvSpPr>
          <p:cNvPr id="6" name="Slide Number Placeholder 5">
            <a:extLst>
              <a:ext uri="{FF2B5EF4-FFF2-40B4-BE49-F238E27FC236}">
                <a16:creationId xmlns:a16="http://schemas.microsoft.com/office/drawing/2014/main" id="{14824EFF-E601-D370-4206-B467A8DE1D3F}"/>
              </a:ext>
            </a:extLst>
          </p:cNvPr>
          <p:cNvSpPr>
            <a:spLocks noGrp="1"/>
          </p:cNvSpPr>
          <p:nvPr>
            <p:ph type="sldNum" sz="quarter" idx="12"/>
          </p:nvPr>
        </p:nvSpPr>
        <p:spPr/>
        <p:txBody>
          <a:bodyPr/>
          <a:lstStyle/>
          <a:p>
            <a:r>
              <a:rPr lang="en-US"/>
              <a:t>CS4500/5500</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D059B6-ADD8-488A-B346-63289E90D1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4" name="Freeform 6">
              <a:extLst>
                <a:ext uri="{FF2B5EF4-FFF2-40B4-BE49-F238E27FC236}">
                  <a16:creationId xmlns:a16="http://schemas.microsoft.com/office/drawing/2014/main" id="{F69B42B4-BC82-4495-A6F9-A28167B56A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5" name="Freeform 7">
              <a:extLst>
                <a:ext uri="{FF2B5EF4-FFF2-40B4-BE49-F238E27FC236}">
                  <a16:creationId xmlns:a16="http://schemas.microsoft.com/office/drawing/2014/main" id="{83CC168C-2AD4-4FFB-9F25-420ED6514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16" name="Freeform 9">
              <a:extLst>
                <a:ext uri="{FF2B5EF4-FFF2-40B4-BE49-F238E27FC236}">
                  <a16:creationId xmlns:a16="http://schemas.microsoft.com/office/drawing/2014/main" id="{6C9F369A-6158-4AE8-BA04-138A9DFFA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17" name="Freeform 10">
              <a:extLst>
                <a:ext uri="{FF2B5EF4-FFF2-40B4-BE49-F238E27FC236}">
                  <a16:creationId xmlns:a16="http://schemas.microsoft.com/office/drawing/2014/main" id="{FC7B1DF4-AD98-42A8-820F-667A3DCC4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18" name="Freeform 11">
              <a:extLst>
                <a:ext uri="{FF2B5EF4-FFF2-40B4-BE49-F238E27FC236}">
                  <a16:creationId xmlns:a16="http://schemas.microsoft.com/office/drawing/2014/main" id="{61C58B74-3656-4FD5-AC47-EE3A59EBB8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19" name="Freeform 12">
              <a:extLst>
                <a:ext uri="{FF2B5EF4-FFF2-40B4-BE49-F238E27FC236}">
                  <a16:creationId xmlns:a16="http://schemas.microsoft.com/office/drawing/2014/main" id="{8B349A01-D803-4A18-B608-47BFCED43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useBgFill="1">
        <p:nvSpPr>
          <p:cNvPr id="21" name="Rectangle 20">
            <a:extLst>
              <a:ext uri="{FF2B5EF4-FFF2-40B4-BE49-F238E27FC236}">
                <a16:creationId xmlns:a16="http://schemas.microsoft.com/office/drawing/2014/main" id="{15655827-B42D-4180-88D3-D83F25E4B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a:effectLst/>
        </p:spPr>
        <p:txBody>
          <a:bodyPr rtlCol="0" anchor="ctr"/>
          <a:lstStyle/>
          <a:p>
            <a:pPr algn="ctr"/>
            <a:endParaRPr lang="en-US"/>
          </a:p>
        </p:txBody>
      </p:sp>
      <p:sp>
        <p:nvSpPr>
          <p:cNvPr id="23" name="Freeform: Shape 22">
            <a:extLst>
              <a:ext uri="{FF2B5EF4-FFF2-40B4-BE49-F238E27FC236}">
                <a16:creationId xmlns:a16="http://schemas.microsoft.com/office/drawing/2014/main" id="{24ACCB06-563C-4ADE-B4D6-1FE9F723C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955594"/>
            <a:ext cx="1371718" cy="2902407"/>
          </a:xfrm>
          <a:custGeom>
            <a:avLst/>
            <a:gdLst>
              <a:gd name="connsiteX0" fmla="*/ 0 w 1828958"/>
              <a:gd name="connsiteY0" fmla="*/ 0 h 2902407"/>
              <a:gd name="connsiteX1" fmla="*/ 1828958 w 1828958"/>
              <a:gd name="connsiteY1" fmla="*/ 2902407 h 2902407"/>
              <a:gd name="connsiteX2" fmla="*/ 1709896 w 1828958"/>
              <a:gd name="connsiteY2" fmla="*/ 2902407 h 2902407"/>
              <a:gd name="connsiteX3" fmla="*/ 0 w 1828958"/>
              <a:gd name="connsiteY3" fmla="*/ 63474 h 2902407"/>
            </a:gdLst>
            <a:ahLst/>
            <a:cxnLst>
              <a:cxn ang="0">
                <a:pos x="connsiteX0" y="connsiteY0"/>
              </a:cxn>
              <a:cxn ang="0">
                <a:pos x="connsiteX1" y="connsiteY1"/>
              </a:cxn>
              <a:cxn ang="0">
                <a:pos x="connsiteX2" y="connsiteY2"/>
              </a:cxn>
              <a:cxn ang="0">
                <a:pos x="connsiteX3" y="connsiteY3"/>
              </a:cxn>
            </a:cxnLst>
            <a:rect l="l" t="t" r="r" b="b"/>
            <a:pathLst>
              <a:path w="1828958" h="2902407">
                <a:moveTo>
                  <a:pt x="0" y="0"/>
                </a:moveTo>
                <a:lnTo>
                  <a:pt x="1828958" y="2902407"/>
                </a:lnTo>
                <a:lnTo>
                  <a:pt x="1709896" y="2902407"/>
                </a:lnTo>
                <a:lnTo>
                  <a:pt x="0" y="63474"/>
                </a:lnTo>
                <a:close/>
              </a:path>
            </a:pathLst>
          </a:custGeom>
          <a:solidFill>
            <a:srgbClr val="262626"/>
          </a:solidFill>
          <a:ln>
            <a:noFill/>
          </a:ln>
        </p:spPr>
        <p:txBody>
          <a:bodyPr/>
          <a:lstStyle/>
          <a:p>
            <a:endParaRPr lang="en-US"/>
          </a:p>
        </p:txBody>
      </p:sp>
      <p:sp>
        <p:nvSpPr>
          <p:cNvPr id="25" name="Freeform: Shape 24">
            <a:extLst>
              <a:ext uri="{FF2B5EF4-FFF2-40B4-BE49-F238E27FC236}">
                <a16:creationId xmlns:a16="http://schemas.microsoft.com/office/drawing/2014/main" id="{40761ECD-D92B-46AE-82CA-640023D282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220098"/>
            <a:ext cx="2182534" cy="3637903"/>
          </a:xfrm>
          <a:custGeom>
            <a:avLst/>
            <a:gdLst>
              <a:gd name="connsiteX0" fmla="*/ 0 w 2910045"/>
              <a:gd name="connsiteY0" fmla="*/ 0 h 3637903"/>
              <a:gd name="connsiteX1" fmla="*/ 2910045 w 2910045"/>
              <a:gd name="connsiteY1" fmla="*/ 3637903 h 3637903"/>
              <a:gd name="connsiteX2" fmla="*/ 2786220 w 2910045"/>
              <a:gd name="connsiteY2" fmla="*/ 3637903 h 3637903"/>
              <a:gd name="connsiteX3" fmla="*/ 0 w 2910045"/>
              <a:gd name="connsiteY3" fmla="*/ 20366 h 3637903"/>
            </a:gdLst>
            <a:ahLst/>
            <a:cxnLst>
              <a:cxn ang="0">
                <a:pos x="connsiteX0" y="connsiteY0"/>
              </a:cxn>
              <a:cxn ang="0">
                <a:pos x="connsiteX1" y="connsiteY1"/>
              </a:cxn>
              <a:cxn ang="0">
                <a:pos x="connsiteX2" y="connsiteY2"/>
              </a:cxn>
              <a:cxn ang="0">
                <a:pos x="connsiteX3" y="connsiteY3"/>
              </a:cxn>
            </a:cxnLst>
            <a:rect l="l" t="t" r="r" b="b"/>
            <a:pathLst>
              <a:path w="2910045" h="3637903">
                <a:moveTo>
                  <a:pt x="0" y="0"/>
                </a:moveTo>
                <a:lnTo>
                  <a:pt x="2910045" y="3637903"/>
                </a:lnTo>
                <a:lnTo>
                  <a:pt x="2786220" y="3637903"/>
                </a:lnTo>
                <a:lnTo>
                  <a:pt x="0" y="20366"/>
                </a:lnTo>
                <a:close/>
              </a:path>
            </a:pathLst>
          </a:custGeom>
          <a:solidFill>
            <a:schemeClr val="accent1">
              <a:lumMod val="50000"/>
            </a:schemeClr>
          </a:solidFill>
          <a:ln>
            <a:noFill/>
          </a:ln>
        </p:spPr>
        <p:txBody>
          <a:bodyPr/>
          <a:lstStyle/>
          <a:p>
            <a:endParaRPr lang="en-US"/>
          </a:p>
        </p:txBody>
      </p:sp>
      <p:sp>
        <p:nvSpPr>
          <p:cNvPr id="27" name="Freeform: Shape 26">
            <a:extLst>
              <a:ext uri="{FF2B5EF4-FFF2-40B4-BE49-F238E27FC236}">
                <a16:creationId xmlns:a16="http://schemas.microsoft.com/office/drawing/2014/main" id="{9A928607-C55C-40FD-B2DF-6CD6A7226A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2845509"/>
            <a:ext cx="3112413" cy="4012491"/>
          </a:xfrm>
          <a:custGeom>
            <a:avLst/>
            <a:gdLst>
              <a:gd name="connsiteX0" fmla="*/ 0 w 4149883"/>
              <a:gd name="connsiteY0" fmla="*/ 0 h 4012491"/>
              <a:gd name="connsiteX1" fmla="*/ 4149883 w 4149883"/>
              <a:gd name="connsiteY1" fmla="*/ 4012491 h 4012491"/>
              <a:gd name="connsiteX2" fmla="*/ 2910046 w 4149883"/>
              <a:gd name="connsiteY2" fmla="*/ 4012491 h 4012491"/>
              <a:gd name="connsiteX3" fmla="*/ 0 w 4149883"/>
              <a:gd name="connsiteY3" fmla="*/ 374587 h 4012491"/>
            </a:gdLst>
            <a:ahLst/>
            <a:cxnLst>
              <a:cxn ang="0">
                <a:pos x="connsiteX0" y="connsiteY0"/>
              </a:cxn>
              <a:cxn ang="0">
                <a:pos x="connsiteX1" y="connsiteY1"/>
              </a:cxn>
              <a:cxn ang="0">
                <a:pos x="connsiteX2" y="connsiteY2"/>
              </a:cxn>
              <a:cxn ang="0">
                <a:pos x="connsiteX3" y="connsiteY3"/>
              </a:cxn>
            </a:cxnLst>
            <a:rect l="l" t="t" r="r" b="b"/>
            <a:pathLst>
              <a:path w="4149883" h="4012491">
                <a:moveTo>
                  <a:pt x="0" y="0"/>
                </a:moveTo>
                <a:lnTo>
                  <a:pt x="4149883" y="4012491"/>
                </a:lnTo>
                <a:lnTo>
                  <a:pt x="2910046" y="4012491"/>
                </a:lnTo>
                <a:lnTo>
                  <a:pt x="0" y="374587"/>
                </a:lnTo>
                <a:close/>
              </a:path>
            </a:pathLst>
          </a:custGeom>
          <a:solidFill>
            <a:schemeClr val="accent1">
              <a:lumMod val="75000"/>
            </a:schemeClr>
          </a:solidFill>
          <a:ln>
            <a:noFill/>
          </a:ln>
        </p:spPr>
        <p:txBody>
          <a:bodyPr/>
          <a:lstStyle/>
          <a:p>
            <a:endParaRPr lang="en-US"/>
          </a:p>
        </p:txBody>
      </p:sp>
      <p:sp>
        <p:nvSpPr>
          <p:cNvPr id="29" name="Freeform: Shape 28">
            <a:extLst>
              <a:ext uri="{FF2B5EF4-FFF2-40B4-BE49-F238E27FC236}">
                <a16:creationId xmlns:a16="http://schemas.microsoft.com/office/drawing/2014/main" id="{400A20C1-29A4-43E0-AB15-7931F76F8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332410"/>
            <a:ext cx="2039659" cy="3525590"/>
          </a:xfrm>
          <a:custGeom>
            <a:avLst/>
            <a:gdLst>
              <a:gd name="connsiteX0" fmla="*/ 0 w 2719546"/>
              <a:gd name="connsiteY0" fmla="*/ 0 h 3525590"/>
              <a:gd name="connsiteX1" fmla="*/ 2719546 w 2719546"/>
              <a:gd name="connsiteY1" fmla="*/ 3525590 h 3525590"/>
              <a:gd name="connsiteX2" fmla="*/ 1828959 w 2719546"/>
              <a:gd name="connsiteY2" fmla="*/ 3525590 h 3525590"/>
              <a:gd name="connsiteX3" fmla="*/ 0 w 2719546"/>
              <a:gd name="connsiteY3" fmla="*/ 623183 h 3525590"/>
            </a:gdLst>
            <a:ahLst/>
            <a:cxnLst>
              <a:cxn ang="0">
                <a:pos x="connsiteX0" y="connsiteY0"/>
              </a:cxn>
              <a:cxn ang="0">
                <a:pos x="connsiteX1" y="connsiteY1"/>
              </a:cxn>
              <a:cxn ang="0">
                <a:pos x="connsiteX2" y="connsiteY2"/>
              </a:cxn>
              <a:cxn ang="0">
                <a:pos x="connsiteX3" y="connsiteY3"/>
              </a:cxn>
            </a:cxnLst>
            <a:rect l="l" t="t" r="r" b="b"/>
            <a:pathLst>
              <a:path w="2719546" h="3525590">
                <a:moveTo>
                  <a:pt x="0" y="0"/>
                </a:moveTo>
                <a:lnTo>
                  <a:pt x="2719546" y="3525590"/>
                </a:lnTo>
                <a:lnTo>
                  <a:pt x="1828959" y="3525590"/>
                </a:lnTo>
                <a:lnTo>
                  <a:pt x="0" y="623183"/>
                </a:lnTo>
                <a:close/>
              </a:path>
            </a:pathLst>
          </a:custGeom>
          <a:solidFill>
            <a:srgbClr val="404040"/>
          </a:solidFill>
          <a:ln>
            <a:noFill/>
          </a:ln>
        </p:spPr>
        <p:txBody>
          <a:bodyPr/>
          <a:lstStyle/>
          <a:p>
            <a:endParaRPr lang="en-US"/>
          </a:p>
        </p:txBody>
      </p:sp>
      <p:sp>
        <p:nvSpPr>
          <p:cNvPr id="7" name="Title 6">
            <a:extLst>
              <a:ext uri="{FF2B5EF4-FFF2-40B4-BE49-F238E27FC236}">
                <a16:creationId xmlns:a16="http://schemas.microsoft.com/office/drawing/2014/main" id="{ABE1C87D-95E4-C9E0-6D7E-73A643C44047}"/>
              </a:ext>
            </a:extLst>
          </p:cNvPr>
          <p:cNvSpPr>
            <a:spLocks noGrp="1"/>
          </p:cNvSpPr>
          <p:nvPr>
            <p:ph type="title"/>
          </p:nvPr>
        </p:nvSpPr>
        <p:spPr>
          <a:xfrm>
            <a:off x="1143000" y="643468"/>
            <a:ext cx="6858000" cy="3618898"/>
          </a:xfrm>
        </p:spPr>
        <p:txBody>
          <a:bodyPr vert="horz" lIns="91440" tIns="45720" rIns="91440" bIns="45720" rtlCol="0" anchor="b">
            <a:normAutofit/>
          </a:bodyPr>
          <a:lstStyle/>
          <a:p>
            <a:pPr algn="ctr"/>
            <a:r>
              <a:rPr lang="en-US" sz="6300"/>
              <a:t>Scheduling Policies</a:t>
            </a:r>
            <a:br>
              <a:rPr lang="en-US" sz="6300"/>
            </a:br>
            <a:endParaRPr lang="en-US" sz="6300"/>
          </a:p>
        </p:txBody>
      </p:sp>
      <p:sp>
        <p:nvSpPr>
          <p:cNvPr id="8" name="Text Placeholder 7">
            <a:extLst>
              <a:ext uri="{FF2B5EF4-FFF2-40B4-BE49-F238E27FC236}">
                <a16:creationId xmlns:a16="http://schemas.microsoft.com/office/drawing/2014/main" id="{42AE7CFD-1C40-1588-F900-0EFA47526FAE}"/>
              </a:ext>
            </a:extLst>
          </p:cNvPr>
          <p:cNvSpPr>
            <a:spLocks noGrp="1"/>
          </p:cNvSpPr>
          <p:nvPr>
            <p:ph type="body" idx="1"/>
          </p:nvPr>
        </p:nvSpPr>
        <p:spPr>
          <a:xfrm>
            <a:off x="2039659" y="4552335"/>
            <a:ext cx="5064681" cy="1091381"/>
          </a:xfrm>
        </p:spPr>
        <p:txBody>
          <a:bodyPr vert="horz" lIns="91440" tIns="45720" rIns="91440" bIns="45720" rtlCol="0" anchor="t">
            <a:noAutofit/>
          </a:bodyPr>
          <a:lstStyle/>
          <a:p>
            <a:pPr marL="0" lvl="1" algn="ctr">
              <a:lnSpc>
                <a:spcPct val="90000"/>
              </a:lnSpc>
            </a:pPr>
            <a:r>
              <a:rPr lang="en-US" sz="2400" dirty="0">
                <a:solidFill>
                  <a:schemeClr val="tx1"/>
                </a:solidFill>
              </a:rPr>
              <a:t>First-Come First -Served (FCFS)</a:t>
            </a:r>
          </a:p>
          <a:p>
            <a:pPr marL="0" lvl="1" algn="ctr">
              <a:lnSpc>
                <a:spcPct val="90000"/>
              </a:lnSpc>
            </a:pPr>
            <a:r>
              <a:rPr lang="en-US" sz="2400" dirty="0">
                <a:solidFill>
                  <a:schemeClr val="tx1"/>
                </a:solidFill>
              </a:rPr>
              <a:t>Shortest-Job-First (SJF)</a:t>
            </a:r>
          </a:p>
          <a:p>
            <a:pPr marL="0" lvl="1" algn="ctr">
              <a:lnSpc>
                <a:spcPct val="90000"/>
              </a:lnSpc>
            </a:pPr>
            <a:r>
              <a:rPr lang="en-US" sz="2400" dirty="0">
                <a:solidFill>
                  <a:schemeClr val="tx1"/>
                </a:solidFill>
              </a:rPr>
              <a:t>Round Robin (RR)</a:t>
            </a:r>
          </a:p>
          <a:p>
            <a:pPr marL="0" lvl="1" algn="ctr">
              <a:lnSpc>
                <a:spcPct val="90000"/>
              </a:lnSpc>
            </a:pPr>
            <a:endParaRPr lang="en-US" sz="2400" dirty="0">
              <a:solidFill>
                <a:schemeClr val="tx1"/>
              </a:solidFill>
            </a:endParaRPr>
          </a:p>
        </p:txBody>
      </p:sp>
      <p:sp>
        <p:nvSpPr>
          <p:cNvPr id="3" name="Slide Number Placeholder 2">
            <a:extLst>
              <a:ext uri="{FF2B5EF4-FFF2-40B4-BE49-F238E27FC236}">
                <a16:creationId xmlns:a16="http://schemas.microsoft.com/office/drawing/2014/main" id="{D4E89F9D-CA2E-EB01-7C0D-AF0037E244DB}"/>
              </a:ext>
            </a:extLst>
          </p:cNvPr>
          <p:cNvSpPr>
            <a:spLocks noGrp="1"/>
          </p:cNvSpPr>
          <p:nvPr>
            <p:ph type="sldNum" sz="quarter" idx="12"/>
          </p:nvPr>
        </p:nvSpPr>
        <p:spPr/>
        <p:txBody>
          <a:bodyPr/>
          <a:lstStyle/>
          <a:p>
            <a:pPr algn="ctr"/>
            <a:r>
              <a:rPr lang="en-US"/>
              <a:t>CS4500/5500</a:t>
            </a:r>
            <a:endParaRPr lang="en-US" dirty="0"/>
          </a:p>
        </p:txBody>
      </p:sp>
    </p:spTree>
    <p:extLst>
      <p:ext uri="{BB962C8B-B14F-4D97-AF65-F5344CB8AC3E}">
        <p14:creationId xmlns:p14="http://schemas.microsoft.com/office/powerpoint/2010/main" val="797866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973539"/>
          </a:xfrm>
        </p:spPr>
        <p:txBody>
          <a:bodyPr>
            <a:normAutofit/>
          </a:bodyPr>
          <a:lstStyle/>
          <a:p>
            <a:r>
              <a:rPr lang="en-US" sz="4000" dirty="0">
                <a:ln>
                  <a:noFill/>
                </a:ln>
                <a:effectLst/>
              </a:rPr>
              <a:t>Scheduling Policies</a:t>
            </a:r>
          </a:p>
        </p:txBody>
      </p:sp>
      <p:sp>
        <p:nvSpPr>
          <p:cNvPr id="31" name="Content Placeholder 5"/>
          <p:cNvSpPr>
            <a:spLocks noGrp="1"/>
          </p:cNvSpPr>
          <p:nvPr>
            <p:ph sz="quarter" idx="1"/>
          </p:nvPr>
        </p:nvSpPr>
        <p:spPr>
          <a:xfrm>
            <a:off x="685800" y="1583140"/>
            <a:ext cx="8229600" cy="5029200"/>
          </a:xfrm>
        </p:spPr>
        <p:txBody>
          <a:bodyPr>
            <a:normAutofit/>
          </a:bodyPr>
          <a:lstStyle/>
          <a:p>
            <a:r>
              <a:rPr lang="en-US" dirty="0">
                <a:solidFill>
                  <a:srgbClr val="000000"/>
                </a:solidFill>
              </a:rPr>
              <a:t>Basic policies</a:t>
            </a:r>
          </a:p>
          <a:p>
            <a:pPr lvl="1"/>
            <a:r>
              <a:rPr lang="en-US" dirty="0">
                <a:solidFill>
                  <a:srgbClr val="000000"/>
                </a:solidFill>
              </a:rPr>
              <a:t>First-Come First -Served (FCFS)</a:t>
            </a:r>
          </a:p>
          <a:p>
            <a:pPr lvl="1"/>
            <a:r>
              <a:rPr lang="en-US" dirty="0">
                <a:solidFill>
                  <a:srgbClr val="000000"/>
                </a:solidFill>
              </a:rPr>
              <a:t>Shortest-Job-First (SJF)</a:t>
            </a:r>
          </a:p>
          <a:p>
            <a:pPr lvl="1"/>
            <a:r>
              <a:rPr lang="en-US" dirty="0">
                <a:solidFill>
                  <a:srgbClr val="000000"/>
                </a:solidFill>
              </a:rPr>
              <a:t>Round Robin (RR)</a:t>
            </a:r>
          </a:p>
          <a:p>
            <a:r>
              <a:rPr lang="en-US" dirty="0">
                <a:solidFill>
                  <a:srgbClr val="000000"/>
                </a:solidFill>
              </a:rPr>
              <a:t>Implementation: pick the next ready task to run</a:t>
            </a:r>
          </a:p>
          <a:p>
            <a:pPr lvl="1"/>
            <a:r>
              <a:rPr lang="en-US" dirty="0">
                <a:solidFill>
                  <a:srgbClr val="000000"/>
                </a:solidFill>
              </a:rPr>
              <a:t>How we design </a:t>
            </a:r>
            <a:r>
              <a:rPr lang="en-US" dirty="0" err="1">
                <a:solidFill>
                  <a:srgbClr val="000000"/>
                </a:solidFill>
              </a:rPr>
              <a:t>pick_next_task</a:t>
            </a:r>
            <a:r>
              <a:rPr lang="en-US" dirty="0">
                <a:solidFill>
                  <a:srgbClr val="000000"/>
                </a:solidFill>
              </a:rPr>
              <a:t>()</a:t>
            </a:r>
          </a:p>
          <a:p>
            <a:r>
              <a:rPr lang="en-US" dirty="0">
                <a:solidFill>
                  <a:srgbClr val="000000"/>
                </a:solidFill>
              </a:rPr>
              <a:t>Performance: response time and turnaround time</a:t>
            </a:r>
          </a:p>
          <a:p>
            <a:endParaRPr lang="en-US" dirty="0">
              <a:solidFill>
                <a:srgbClr val="000000"/>
              </a:solidFill>
            </a:endParaRPr>
          </a:p>
          <a:p>
            <a:pPr lvl="1"/>
            <a:endParaRPr lang="en-US" dirty="0">
              <a:solidFill>
                <a:srgbClr val="000000"/>
              </a:solidFill>
            </a:endParaRPr>
          </a:p>
          <a:p>
            <a:endParaRPr lang="en-US" dirty="0">
              <a:solidFill>
                <a:srgbClr val="000000"/>
              </a:solidFill>
            </a:endParaRPr>
          </a:p>
        </p:txBody>
      </p:sp>
      <p:grpSp>
        <p:nvGrpSpPr>
          <p:cNvPr id="6" name="Group 55"/>
          <p:cNvGrpSpPr/>
          <p:nvPr/>
        </p:nvGrpSpPr>
        <p:grpSpPr>
          <a:xfrm>
            <a:off x="1752600" y="4800600"/>
            <a:ext cx="6144558" cy="1588532"/>
            <a:chOff x="1600200" y="3886200"/>
            <a:chExt cx="6144558" cy="1588532"/>
          </a:xfrm>
        </p:grpSpPr>
        <p:sp>
          <p:nvSpPr>
            <p:cNvPr id="28" name="Rectangle 27"/>
            <p:cNvSpPr/>
            <p:nvPr/>
          </p:nvSpPr>
          <p:spPr>
            <a:xfrm>
              <a:off x="1600200" y="4267200"/>
              <a:ext cx="304800" cy="45720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1905000" y="4267200"/>
              <a:ext cx="304800" cy="45720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2209800" y="4267200"/>
              <a:ext cx="304800" cy="45720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2514600" y="4267200"/>
              <a:ext cx="304800" cy="45720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2819400" y="4267200"/>
              <a:ext cx="304800" cy="45720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4953000" y="4191000"/>
              <a:ext cx="1219200" cy="6096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processor</a:t>
              </a:r>
            </a:p>
          </p:txBody>
        </p:sp>
        <p:cxnSp>
          <p:nvCxnSpPr>
            <p:cNvPr id="45" name="Straight Arrow Connector 44"/>
            <p:cNvCxnSpPr>
              <a:stCxn id="38" idx="3"/>
              <a:endCxn id="39" idx="1"/>
            </p:cNvCxnSpPr>
            <p:nvPr/>
          </p:nvCxnSpPr>
          <p:spPr>
            <a:xfrm>
              <a:off x="3124200" y="4495800"/>
              <a:ext cx="1828800" cy="0"/>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3124200" y="3974068"/>
              <a:ext cx="1999265" cy="369332"/>
            </a:xfrm>
            <a:prstGeom prst="rect">
              <a:avLst/>
            </a:prstGeom>
            <a:noFill/>
          </p:spPr>
          <p:txBody>
            <a:bodyPr wrap="none" rtlCol="0">
              <a:spAutoFit/>
            </a:bodyPr>
            <a:lstStyle/>
            <a:p>
              <a:r>
                <a:rPr lang="en-US" b="1" dirty="0" err="1"/>
                <a:t>pick_next_task</a:t>
              </a:r>
              <a:r>
                <a:rPr lang="en-US" dirty="0"/>
                <a:t>() *</a:t>
              </a:r>
            </a:p>
          </p:txBody>
        </p:sp>
        <p:sp>
          <p:nvSpPr>
            <p:cNvPr id="47" name="TextBox 46"/>
            <p:cNvSpPr txBox="1"/>
            <p:nvPr/>
          </p:nvSpPr>
          <p:spPr>
            <a:xfrm>
              <a:off x="1676400" y="3886200"/>
              <a:ext cx="1363065" cy="369332"/>
            </a:xfrm>
            <a:prstGeom prst="rect">
              <a:avLst/>
            </a:prstGeom>
            <a:noFill/>
          </p:spPr>
          <p:txBody>
            <a:bodyPr wrap="none" rtlCol="0">
              <a:spAutoFit/>
            </a:bodyPr>
            <a:lstStyle/>
            <a:p>
              <a:r>
                <a:rPr lang="en-US" dirty="0"/>
                <a:t>ready queue</a:t>
              </a:r>
            </a:p>
          </p:txBody>
        </p:sp>
        <p:cxnSp>
          <p:nvCxnSpPr>
            <p:cNvPr id="51" name="Elbow Connector 50"/>
            <p:cNvCxnSpPr>
              <a:stCxn id="39" idx="2"/>
              <a:endCxn id="34" idx="2"/>
            </p:cNvCxnSpPr>
            <p:nvPr/>
          </p:nvCxnSpPr>
          <p:spPr>
            <a:xfrm rot="5400000" flipH="1">
              <a:off x="3924300" y="3162300"/>
              <a:ext cx="76200" cy="3200400"/>
            </a:xfrm>
            <a:prstGeom prst="bentConnector3">
              <a:avLst>
                <a:gd name="adj1" fmla="val -300000"/>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3355089" y="5105400"/>
              <a:ext cx="1293111" cy="369332"/>
            </a:xfrm>
            <a:prstGeom prst="rect">
              <a:avLst/>
            </a:prstGeom>
            <a:noFill/>
          </p:spPr>
          <p:txBody>
            <a:bodyPr wrap="none" rtlCol="0">
              <a:spAutoFit/>
            </a:bodyPr>
            <a:lstStyle/>
            <a:p>
              <a:r>
                <a:rPr lang="en-US" dirty="0"/>
                <a:t>preemption</a:t>
              </a:r>
            </a:p>
          </p:txBody>
        </p:sp>
        <p:cxnSp>
          <p:nvCxnSpPr>
            <p:cNvPr id="53" name="Straight Arrow Connector 52"/>
            <p:cNvCxnSpPr/>
            <p:nvPr/>
          </p:nvCxnSpPr>
          <p:spPr>
            <a:xfrm flipV="1">
              <a:off x="6172200" y="4484132"/>
              <a:ext cx="1524000" cy="11668"/>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6400800" y="4114800"/>
              <a:ext cx="1343958" cy="369332"/>
            </a:xfrm>
            <a:prstGeom prst="rect">
              <a:avLst/>
            </a:prstGeom>
            <a:noFill/>
          </p:spPr>
          <p:txBody>
            <a:bodyPr wrap="none" rtlCol="0">
              <a:spAutoFit/>
            </a:bodyPr>
            <a:lstStyle/>
            <a:p>
              <a:r>
                <a:rPr lang="en-US" dirty="0"/>
                <a:t>exit/blocked</a:t>
              </a:r>
            </a:p>
          </p:txBody>
        </p:sp>
      </p:grpSp>
      <p:sp>
        <p:nvSpPr>
          <p:cNvPr id="7" name="Slide Number Placeholder 6">
            <a:extLst>
              <a:ext uri="{FF2B5EF4-FFF2-40B4-BE49-F238E27FC236}">
                <a16:creationId xmlns:a16="http://schemas.microsoft.com/office/drawing/2014/main" id="{3B9649C9-7560-6DF9-9CDC-8C07D158864D}"/>
              </a:ext>
            </a:extLst>
          </p:cNvPr>
          <p:cNvSpPr>
            <a:spLocks noGrp="1"/>
          </p:cNvSpPr>
          <p:nvPr>
            <p:ph type="sldNum" sz="quarter" idx="12"/>
          </p:nvPr>
        </p:nvSpPr>
        <p:spPr/>
        <p:txBody>
          <a:bodyPr/>
          <a:lstStyle/>
          <a:p>
            <a:r>
              <a:rPr lang="en-US"/>
              <a:t>CS4500/5500</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3"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4"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15"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16"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17"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18"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pic>
        <p:nvPicPr>
          <p:cNvPr id="8" name="Picture 7" descr="White arrows painted on the asphalt">
            <a:extLst>
              <a:ext uri="{FF2B5EF4-FFF2-40B4-BE49-F238E27FC236}">
                <a16:creationId xmlns:a16="http://schemas.microsoft.com/office/drawing/2014/main" id="{EC9AF52E-7027-2526-E60C-EACC76BB04EE}"/>
              </a:ext>
            </a:extLst>
          </p:cNvPr>
          <p:cNvPicPr>
            <a:picLocks noChangeAspect="1"/>
          </p:cNvPicPr>
          <p:nvPr/>
        </p:nvPicPr>
        <p:blipFill rotWithShape="1">
          <a:blip r:embed="rId2">
            <a:alphaModFix amt="35000"/>
          </a:blip>
          <a:srcRect l="5315" r="6351" b="-1"/>
          <a:stretch/>
        </p:blipFill>
        <p:spPr>
          <a:xfrm>
            <a:off x="20" y="10"/>
            <a:ext cx="9143980" cy="6857990"/>
          </a:xfrm>
          <a:prstGeom prst="rect">
            <a:avLst/>
          </a:prstGeom>
        </p:spPr>
      </p:pic>
      <p:sp>
        <p:nvSpPr>
          <p:cNvPr id="2" name="Title 1">
            <a:extLst>
              <a:ext uri="{FF2B5EF4-FFF2-40B4-BE49-F238E27FC236}">
                <a16:creationId xmlns:a16="http://schemas.microsoft.com/office/drawing/2014/main" id="{11DAA4B7-7DF9-8384-E659-03F2140E34ED}"/>
              </a:ext>
            </a:extLst>
          </p:cNvPr>
          <p:cNvSpPr>
            <a:spLocks noGrp="1"/>
          </p:cNvSpPr>
          <p:nvPr>
            <p:ph type="title"/>
          </p:nvPr>
        </p:nvSpPr>
        <p:spPr>
          <a:xfrm>
            <a:off x="2196300" y="1380068"/>
            <a:ext cx="6430967" cy="2616199"/>
          </a:xfrm>
        </p:spPr>
        <p:txBody>
          <a:bodyPr vert="horz" lIns="91440" tIns="45720" rIns="91440" bIns="45720" rtlCol="0" anchor="b">
            <a:normAutofit/>
          </a:bodyPr>
          <a:lstStyle/>
          <a:p>
            <a:r>
              <a:rPr lang="en-US" sz="6000" dirty="0"/>
              <a:t>FIFO (aka FCFS) with Example</a:t>
            </a:r>
          </a:p>
        </p:txBody>
      </p:sp>
      <p:sp>
        <p:nvSpPr>
          <p:cNvPr id="3" name="Text Placeholder 2">
            <a:extLst>
              <a:ext uri="{FF2B5EF4-FFF2-40B4-BE49-F238E27FC236}">
                <a16:creationId xmlns:a16="http://schemas.microsoft.com/office/drawing/2014/main" id="{487F60BE-77F3-BCB6-3ED4-6BE1663AA944}"/>
              </a:ext>
            </a:extLst>
          </p:cNvPr>
          <p:cNvSpPr>
            <a:spLocks noGrp="1"/>
          </p:cNvSpPr>
          <p:nvPr>
            <p:ph type="body" idx="1"/>
          </p:nvPr>
        </p:nvSpPr>
        <p:spPr>
          <a:xfrm>
            <a:off x="3386532" y="3996267"/>
            <a:ext cx="5240734" cy="1388534"/>
          </a:xfrm>
        </p:spPr>
        <p:txBody>
          <a:bodyPr vert="horz" lIns="91440" tIns="45720" rIns="91440" bIns="45720" rtlCol="0" anchor="t">
            <a:normAutofit/>
          </a:bodyPr>
          <a:lstStyle/>
          <a:p>
            <a:endParaRPr lang="en-US" sz="2100"/>
          </a:p>
        </p:txBody>
      </p:sp>
      <p:grpSp>
        <p:nvGrpSpPr>
          <p:cNvPr id="20" name="Group 19">
            <a:extLst>
              <a:ext uri="{FF2B5EF4-FFF2-40B4-BE49-F238E27FC236}">
                <a16:creationId xmlns:a16="http://schemas.microsoft.com/office/drawing/2014/main" id="{0A3EF779-83DD-4EB0-9F4C-7304381A28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21" name="Freeform 6">
              <a:extLst>
                <a:ext uri="{FF2B5EF4-FFF2-40B4-BE49-F238E27FC236}">
                  <a16:creationId xmlns:a16="http://schemas.microsoft.com/office/drawing/2014/main" id="{772C8C0C-10E0-4305-95B6-F0A11F0AD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rgbClr val="30ACEC"/>
            </a:solidFill>
            <a:ln>
              <a:noFill/>
            </a:ln>
          </p:spPr>
          <p:txBody>
            <a:bodyPr/>
            <a:lstStyle/>
            <a:p>
              <a:endParaRPr lang="en-US"/>
            </a:p>
          </p:txBody>
        </p:sp>
        <p:sp>
          <p:nvSpPr>
            <p:cNvPr id="22" name="Freeform 7">
              <a:extLst>
                <a:ext uri="{FF2B5EF4-FFF2-40B4-BE49-F238E27FC236}">
                  <a16:creationId xmlns:a16="http://schemas.microsoft.com/office/drawing/2014/main" id="{ED6F480D-2F2A-4E97-B196-39B35C4BF8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ysClr val="windowText" lastClr="000000">
                <a:lumMod val="65000"/>
                <a:lumOff val="35000"/>
              </a:sysClr>
            </a:solidFill>
            <a:ln>
              <a:noFill/>
            </a:ln>
          </p:spPr>
          <p:txBody>
            <a:bodyPr/>
            <a:lstStyle/>
            <a:p>
              <a:endParaRPr lang="en-US"/>
            </a:p>
          </p:txBody>
        </p:sp>
        <p:sp>
          <p:nvSpPr>
            <p:cNvPr id="23" name="Freeform 9">
              <a:extLst>
                <a:ext uri="{FF2B5EF4-FFF2-40B4-BE49-F238E27FC236}">
                  <a16:creationId xmlns:a16="http://schemas.microsoft.com/office/drawing/2014/main" id="{65ACA5CB-4926-4AA1-8B0D-0A8C294D3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ysClr val="windowText" lastClr="000000">
                <a:lumMod val="85000"/>
                <a:lumOff val="15000"/>
              </a:sysClr>
            </a:solidFill>
            <a:ln>
              <a:noFill/>
            </a:ln>
          </p:spPr>
          <p:txBody>
            <a:bodyPr/>
            <a:lstStyle/>
            <a:p>
              <a:endParaRPr lang="en-US"/>
            </a:p>
          </p:txBody>
        </p:sp>
        <p:sp>
          <p:nvSpPr>
            <p:cNvPr id="24" name="Freeform 10">
              <a:extLst>
                <a:ext uri="{FF2B5EF4-FFF2-40B4-BE49-F238E27FC236}">
                  <a16:creationId xmlns:a16="http://schemas.microsoft.com/office/drawing/2014/main" id="{1FC1EC6E-AED1-4539-B157-052264991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rgbClr val="30ACEC">
                <a:lumMod val="50000"/>
              </a:srgbClr>
            </a:solidFill>
            <a:ln>
              <a:noFill/>
            </a:ln>
          </p:spPr>
          <p:txBody>
            <a:bodyPr/>
            <a:lstStyle/>
            <a:p>
              <a:endParaRPr lang="en-US"/>
            </a:p>
          </p:txBody>
        </p:sp>
        <p:sp>
          <p:nvSpPr>
            <p:cNvPr id="25" name="Freeform 11">
              <a:extLst>
                <a:ext uri="{FF2B5EF4-FFF2-40B4-BE49-F238E27FC236}">
                  <a16:creationId xmlns:a16="http://schemas.microsoft.com/office/drawing/2014/main" id="{F5C22045-92BD-4CA1-A655-5ADD00283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rgbClr val="30ACEC">
                <a:lumMod val="75000"/>
              </a:srgbClr>
            </a:solidFill>
            <a:ln>
              <a:noFill/>
            </a:ln>
          </p:spPr>
          <p:txBody>
            <a:bodyPr/>
            <a:lstStyle/>
            <a:p>
              <a:endParaRPr lang="en-US"/>
            </a:p>
          </p:txBody>
        </p:sp>
        <p:sp>
          <p:nvSpPr>
            <p:cNvPr id="26" name="Freeform 12">
              <a:extLst>
                <a:ext uri="{FF2B5EF4-FFF2-40B4-BE49-F238E27FC236}">
                  <a16:creationId xmlns:a16="http://schemas.microsoft.com/office/drawing/2014/main" id="{F130A56D-449A-4985-94CD-B749D51FF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ysClr val="windowText" lastClr="000000">
                <a:lumMod val="75000"/>
                <a:lumOff val="25000"/>
              </a:sysClr>
            </a:solidFill>
            <a:ln>
              <a:noFill/>
            </a:ln>
          </p:spPr>
          <p:txBody>
            <a:bodyPr/>
            <a:lstStyle/>
            <a:p>
              <a:endParaRPr lang="en-US"/>
            </a:p>
          </p:txBody>
        </p:sp>
      </p:grpSp>
      <p:sp>
        <p:nvSpPr>
          <p:cNvPr id="9" name="Slide Number Placeholder 8">
            <a:extLst>
              <a:ext uri="{FF2B5EF4-FFF2-40B4-BE49-F238E27FC236}">
                <a16:creationId xmlns:a16="http://schemas.microsoft.com/office/drawing/2014/main" id="{85EC49FB-D101-B911-3957-01180251E4CA}"/>
              </a:ext>
            </a:extLst>
          </p:cNvPr>
          <p:cNvSpPr>
            <a:spLocks noGrp="1"/>
          </p:cNvSpPr>
          <p:nvPr>
            <p:ph type="sldNum" sz="quarter" idx="12"/>
          </p:nvPr>
        </p:nvSpPr>
        <p:spPr/>
        <p:txBody>
          <a:bodyPr/>
          <a:lstStyle/>
          <a:p>
            <a:pPr algn="ctr"/>
            <a:r>
              <a:rPr lang="en-US"/>
              <a:t>CS4500/5500</a:t>
            </a:r>
            <a:endParaRPr lang="en-US" dirty="0"/>
          </a:p>
        </p:txBody>
      </p:sp>
    </p:spTree>
    <p:extLst>
      <p:ext uri="{BB962C8B-B14F-4D97-AF65-F5344CB8AC3E}">
        <p14:creationId xmlns:p14="http://schemas.microsoft.com/office/powerpoint/2010/main" val="101298659"/>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F12B2-3A62-9232-D756-D63B5AF397BD}"/>
              </a:ext>
            </a:extLst>
          </p:cNvPr>
          <p:cNvSpPr>
            <a:spLocks noGrp="1"/>
          </p:cNvSpPr>
          <p:nvPr>
            <p:ph type="title"/>
          </p:nvPr>
        </p:nvSpPr>
        <p:spPr>
          <a:xfrm>
            <a:off x="1113232" y="685801"/>
            <a:ext cx="7043509" cy="1143000"/>
          </a:xfrm>
        </p:spPr>
        <p:txBody>
          <a:bodyPr>
            <a:normAutofit/>
          </a:bodyPr>
          <a:lstStyle/>
          <a:p>
            <a:r>
              <a:rPr lang="en-US" dirty="0">
                <a:ln>
                  <a:noFill/>
                </a:ln>
                <a:effectLst/>
              </a:rPr>
              <a:t>First-Come, First-Serve (FCFS)</a:t>
            </a:r>
            <a:endParaRPr lang="en-US" dirty="0"/>
          </a:p>
        </p:txBody>
      </p:sp>
      <p:sp>
        <p:nvSpPr>
          <p:cNvPr id="3" name="Content Placeholder 2">
            <a:extLst>
              <a:ext uri="{FF2B5EF4-FFF2-40B4-BE49-F238E27FC236}">
                <a16:creationId xmlns:a16="http://schemas.microsoft.com/office/drawing/2014/main" id="{4C1087AB-5B56-8ACA-FD47-C645E64A4675}"/>
              </a:ext>
            </a:extLst>
          </p:cNvPr>
          <p:cNvSpPr>
            <a:spLocks noGrp="1"/>
          </p:cNvSpPr>
          <p:nvPr>
            <p:ph idx="1"/>
          </p:nvPr>
        </p:nvSpPr>
        <p:spPr>
          <a:xfrm>
            <a:off x="642709" y="612057"/>
            <a:ext cx="8257942" cy="4622472"/>
          </a:xfrm>
        </p:spPr>
        <p:txBody>
          <a:bodyPr>
            <a:normAutofit/>
          </a:bodyPr>
          <a:lstStyle/>
          <a:p>
            <a:r>
              <a:rPr lang="en-US"/>
              <a:t>Simplest CPU scheduling algorithm</a:t>
            </a:r>
          </a:p>
          <a:p>
            <a:r>
              <a:rPr lang="en-US"/>
              <a:t>Managed with a first in first out (FIFO) queue</a:t>
            </a:r>
          </a:p>
          <a:p>
            <a:endParaRPr lang="en-US" dirty="0"/>
          </a:p>
        </p:txBody>
      </p:sp>
      <p:pic>
        <p:nvPicPr>
          <p:cNvPr id="1026" name="Picture 2" descr="Queue in Python - GeeksforGeeks">
            <a:extLst>
              <a:ext uri="{FF2B5EF4-FFF2-40B4-BE49-F238E27FC236}">
                <a16:creationId xmlns:a16="http://schemas.microsoft.com/office/drawing/2014/main" id="{53CDC6E8-2E07-187A-7101-3C48A3C57CF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76828" y="3730495"/>
            <a:ext cx="7760387" cy="2076316"/>
          </a:xfrm>
          <a:prstGeom prst="roundRect">
            <a:avLst>
              <a:gd name="adj" fmla="val 4380"/>
            </a:avLst>
          </a:prstGeom>
          <a:no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a:extLst>
            <a:ext uri="{909E8E84-426E-40DD-AFC4-6F175D3DCCD1}">
              <a14:hiddenFill xmlns:a14="http://schemas.microsoft.com/office/drawing/2010/main">
                <a:solidFill>
                  <a:srgbClr val="FFFFFF"/>
                </a:solidFill>
              </a14:hiddenFill>
            </a:ext>
          </a:extLst>
        </p:spPr>
      </p:pic>
      <p:sp>
        <p:nvSpPr>
          <p:cNvPr id="8" name="Slide Number Placeholder 7">
            <a:extLst>
              <a:ext uri="{FF2B5EF4-FFF2-40B4-BE49-F238E27FC236}">
                <a16:creationId xmlns:a16="http://schemas.microsoft.com/office/drawing/2014/main" id="{0C28F469-2486-2828-9D2E-3D92C98EE963}"/>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532471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DC374-0BD2-D3C2-44D4-28E17CA34FE9}"/>
              </a:ext>
            </a:extLst>
          </p:cNvPr>
          <p:cNvSpPr>
            <a:spLocks noGrp="1"/>
          </p:cNvSpPr>
          <p:nvPr>
            <p:ph type="title"/>
          </p:nvPr>
        </p:nvSpPr>
        <p:spPr/>
        <p:txBody>
          <a:bodyPr/>
          <a:lstStyle/>
          <a:p>
            <a:r>
              <a:rPr lang="en-US" dirty="0">
                <a:ln>
                  <a:noFill/>
                </a:ln>
                <a:effectLst/>
              </a:rPr>
              <a:t>First-Come, First-Serve (FCFS)</a:t>
            </a:r>
            <a:endParaRPr lang="en-US" dirty="0"/>
          </a:p>
        </p:txBody>
      </p:sp>
      <p:sp>
        <p:nvSpPr>
          <p:cNvPr id="3" name="Content Placeholder 2">
            <a:extLst>
              <a:ext uri="{FF2B5EF4-FFF2-40B4-BE49-F238E27FC236}">
                <a16:creationId xmlns:a16="http://schemas.microsoft.com/office/drawing/2014/main" id="{B97E0B6C-3D81-B932-C04E-6E2944AAE4C0}"/>
              </a:ext>
            </a:extLst>
          </p:cNvPr>
          <p:cNvSpPr>
            <a:spLocks noGrp="1"/>
          </p:cNvSpPr>
          <p:nvPr>
            <p:ph idx="1"/>
          </p:nvPr>
        </p:nvSpPr>
        <p:spPr/>
        <p:txBody>
          <a:bodyPr/>
          <a:lstStyle/>
          <a:p>
            <a:r>
              <a:rPr lang="en-US" dirty="0"/>
              <a:t>The new process is in line at the tail of the queue</a:t>
            </a:r>
          </a:p>
          <a:p>
            <a:r>
              <a:rPr lang="en-US" dirty="0"/>
              <a:t>Processes cannot skip forward or move backward in line</a:t>
            </a:r>
          </a:p>
          <a:p>
            <a:r>
              <a:rPr lang="en-US" dirty="0"/>
              <a:t>When a process enters the queue, the Process Control Block (PCB) is linked to the tail of the queue</a:t>
            </a:r>
          </a:p>
          <a:p>
            <a:r>
              <a:rPr lang="en-US" dirty="0"/>
              <a:t>Once the first process is complete it is removed from the queue and the next process in the queue can be executed</a:t>
            </a:r>
          </a:p>
          <a:p>
            <a:endParaRPr lang="en-US" dirty="0"/>
          </a:p>
        </p:txBody>
      </p:sp>
      <p:sp>
        <p:nvSpPr>
          <p:cNvPr id="8" name="Slide Number Placeholder 7">
            <a:extLst>
              <a:ext uri="{FF2B5EF4-FFF2-40B4-BE49-F238E27FC236}">
                <a16:creationId xmlns:a16="http://schemas.microsoft.com/office/drawing/2014/main" id="{497FFCE8-9E8A-4E42-2469-1B37327E4841}"/>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3385784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5F90F-D796-119B-F15D-B05DD52E233A}"/>
              </a:ext>
            </a:extLst>
          </p:cNvPr>
          <p:cNvSpPr>
            <a:spLocks noGrp="1"/>
          </p:cNvSpPr>
          <p:nvPr>
            <p:ph type="title"/>
          </p:nvPr>
        </p:nvSpPr>
        <p:spPr/>
        <p:txBody>
          <a:bodyPr/>
          <a:lstStyle/>
          <a:p>
            <a:r>
              <a:rPr lang="en-US" dirty="0">
                <a:ln>
                  <a:noFill/>
                </a:ln>
                <a:effectLst/>
              </a:rPr>
              <a:t>First-Come, First-Serve (FCFS)</a:t>
            </a:r>
            <a:endParaRPr lang="en-US" dirty="0"/>
          </a:p>
        </p:txBody>
      </p:sp>
      <p:sp>
        <p:nvSpPr>
          <p:cNvPr id="3" name="Content Placeholder 2">
            <a:extLst>
              <a:ext uri="{FF2B5EF4-FFF2-40B4-BE49-F238E27FC236}">
                <a16:creationId xmlns:a16="http://schemas.microsoft.com/office/drawing/2014/main" id="{9C3FE8B9-B31E-B982-DC7E-E642F4D4493C}"/>
              </a:ext>
            </a:extLst>
          </p:cNvPr>
          <p:cNvSpPr>
            <a:spLocks noGrp="1"/>
          </p:cNvSpPr>
          <p:nvPr>
            <p:ph idx="1"/>
          </p:nvPr>
        </p:nvSpPr>
        <p:spPr/>
        <p:txBody>
          <a:bodyPr/>
          <a:lstStyle/>
          <a:p>
            <a:r>
              <a:rPr lang="en-US" dirty="0"/>
              <a:t>Average waiting time for a process to execute is long</a:t>
            </a:r>
          </a:p>
          <a:p>
            <a:pPr marL="457200" lvl="1" indent="0">
              <a:buNone/>
            </a:pPr>
            <a:endParaRPr lang="en-US" dirty="0"/>
          </a:p>
        </p:txBody>
      </p:sp>
      <p:sp>
        <p:nvSpPr>
          <p:cNvPr id="8" name="Slide Number Placeholder 7">
            <a:extLst>
              <a:ext uri="{FF2B5EF4-FFF2-40B4-BE49-F238E27FC236}">
                <a16:creationId xmlns:a16="http://schemas.microsoft.com/office/drawing/2014/main" id="{99F00FD8-52BF-6012-2E17-8831A6F4E6C7}"/>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2439861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460EA-A6F8-E79A-D784-47232F40FB4C}"/>
              </a:ext>
            </a:extLst>
          </p:cNvPr>
          <p:cNvSpPr>
            <a:spLocks noGrp="1"/>
          </p:cNvSpPr>
          <p:nvPr>
            <p:ph type="title"/>
          </p:nvPr>
        </p:nvSpPr>
        <p:spPr>
          <a:xfrm>
            <a:off x="982133" y="457201"/>
            <a:ext cx="7704667" cy="1153567"/>
          </a:xfrm>
        </p:spPr>
        <p:txBody>
          <a:bodyPr/>
          <a:lstStyle/>
          <a:p>
            <a:r>
              <a:rPr lang="en-US" dirty="0">
                <a:ln>
                  <a:noFill/>
                </a:ln>
                <a:effectLst/>
              </a:rPr>
              <a:t>First-Come, First-Serve (FCFS)</a:t>
            </a:r>
            <a:endParaRPr lang="en-US" dirty="0"/>
          </a:p>
        </p:txBody>
      </p:sp>
      <p:sp>
        <p:nvSpPr>
          <p:cNvPr id="3" name="Content Placeholder 2">
            <a:extLst>
              <a:ext uri="{FF2B5EF4-FFF2-40B4-BE49-F238E27FC236}">
                <a16:creationId xmlns:a16="http://schemas.microsoft.com/office/drawing/2014/main" id="{2408941D-8B67-56FB-7964-216F56B7970B}"/>
              </a:ext>
            </a:extLst>
          </p:cNvPr>
          <p:cNvSpPr>
            <a:spLocks noGrp="1"/>
          </p:cNvSpPr>
          <p:nvPr>
            <p:ph idx="1"/>
          </p:nvPr>
        </p:nvSpPr>
        <p:spPr>
          <a:xfrm>
            <a:off x="1119116" y="1547177"/>
            <a:ext cx="7704667" cy="1483360"/>
          </a:xfrm>
        </p:spPr>
        <p:txBody>
          <a:bodyPr/>
          <a:lstStyle/>
          <a:p>
            <a:r>
              <a:rPr lang="en-US" dirty="0"/>
              <a:t>These processes arrive at time 0 (zero)</a:t>
            </a:r>
          </a:p>
          <a:p>
            <a:r>
              <a:rPr lang="en-US" dirty="0"/>
              <a:t>Burst time indicates how long the process will take to complete</a:t>
            </a:r>
          </a:p>
          <a:p>
            <a:endParaRPr lang="en-US" dirty="0"/>
          </a:p>
        </p:txBody>
      </p:sp>
      <p:graphicFrame>
        <p:nvGraphicFramePr>
          <p:cNvPr id="7" name="Table 7">
            <a:extLst>
              <a:ext uri="{FF2B5EF4-FFF2-40B4-BE49-F238E27FC236}">
                <a16:creationId xmlns:a16="http://schemas.microsoft.com/office/drawing/2014/main" id="{EFDA002E-6E5E-65FE-906F-9993856BAE5C}"/>
              </a:ext>
            </a:extLst>
          </p:cNvPr>
          <p:cNvGraphicFramePr>
            <a:graphicFrameLocks noGrp="1"/>
          </p:cNvGraphicFramePr>
          <p:nvPr>
            <p:extLst>
              <p:ext uri="{D42A27DB-BD31-4B8C-83A1-F6EECF244321}">
                <p14:modId xmlns:p14="http://schemas.microsoft.com/office/powerpoint/2010/main" val="2137123185"/>
              </p:ext>
            </p:extLst>
          </p:nvPr>
        </p:nvGraphicFramePr>
        <p:xfrm>
          <a:off x="1310971" y="2700744"/>
          <a:ext cx="6637868" cy="2161448"/>
        </p:xfrm>
        <a:graphic>
          <a:graphicData uri="http://schemas.openxmlformats.org/drawingml/2006/table">
            <a:tbl>
              <a:tblPr firstRow="1" bandRow="1">
                <a:tableStyleId>{5C22544A-7EE6-4342-B048-85BDC9FD1C3A}</a:tableStyleId>
              </a:tblPr>
              <a:tblGrid>
                <a:gridCol w="3318934">
                  <a:extLst>
                    <a:ext uri="{9D8B030D-6E8A-4147-A177-3AD203B41FA5}">
                      <a16:colId xmlns:a16="http://schemas.microsoft.com/office/drawing/2014/main" val="3337363091"/>
                    </a:ext>
                  </a:extLst>
                </a:gridCol>
                <a:gridCol w="3318934">
                  <a:extLst>
                    <a:ext uri="{9D8B030D-6E8A-4147-A177-3AD203B41FA5}">
                      <a16:colId xmlns:a16="http://schemas.microsoft.com/office/drawing/2014/main" val="787648342"/>
                    </a:ext>
                  </a:extLst>
                </a:gridCol>
              </a:tblGrid>
              <a:tr h="540362">
                <a:tc>
                  <a:txBody>
                    <a:bodyPr/>
                    <a:lstStyle/>
                    <a:p>
                      <a:pPr algn="ctr"/>
                      <a:r>
                        <a:rPr lang="en-US" sz="2800" dirty="0">
                          <a:solidFill>
                            <a:schemeClr val="tx1"/>
                          </a:solidFill>
                        </a:rPr>
                        <a:t>Process</a:t>
                      </a:r>
                    </a:p>
                  </a:txBody>
                  <a:tcPr>
                    <a:solidFill>
                      <a:schemeClr val="accent1">
                        <a:lumMod val="40000"/>
                        <a:lumOff val="60000"/>
                      </a:schemeClr>
                    </a:solidFill>
                  </a:tcPr>
                </a:tc>
                <a:tc>
                  <a:txBody>
                    <a:bodyPr/>
                    <a:lstStyle/>
                    <a:p>
                      <a:r>
                        <a:rPr lang="en-US" sz="2800" dirty="0">
                          <a:solidFill>
                            <a:schemeClr val="tx1"/>
                          </a:solidFill>
                        </a:rPr>
                        <a:t>Burst Time in </a:t>
                      </a:r>
                      <a:r>
                        <a:rPr lang="en-US" sz="2800" dirty="0" err="1">
                          <a:solidFill>
                            <a:schemeClr val="tx1"/>
                          </a:solidFill>
                        </a:rPr>
                        <a:t>ms</a:t>
                      </a:r>
                      <a:endParaRPr lang="en-US" sz="2800"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2114385968"/>
                  </a:ext>
                </a:extLst>
              </a:tr>
              <a:tr h="540362">
                <a:tc>
                  <a:txBody>
                    <a:bodyPr/>
                    <a:lstStyle/>
                    <a:p>
                      <a:r>
                        <a:rPr lang="en-US" sz="2800" dirty="0">
                          <a:solidFill>
                            <a:schemeClr val="tx1"/>
                          </a:solidFill>
                        </a:rPr>
                        <a:t>P1</a:t>
                      </a:r>
                    </a:p>
                  </a:txBody>
                  <a:tcPr>
                    <a:solidFill>
                      <a:schemeClr val="accent1">
                        <a:lumMod val="40000"/>
                        <a:lumOff val="60000"/>
                      </a:schemeClr>
                    </a:solidFill>
                  </a:tcPr>
                </a:tc>
                <a:tc>
                  <a:txBody>
                    <a:bodyPr/>
                    <a:lstStyle/>
                    <a:p>
                      <a:r>
                        <a:rPr lang="en-US" sz="2800" dirty="0">
                          <a:solidFill>
                            <a:schemeClr val="tx1"/>
                          </a:solidFill>
                        </a:rPr>
                        <a:t>32</a:t>
                      </a:r>
                    </a:p>
                  </a:txBody>
                  <a:tcPr>
                    <a:solidFill>
                      <a:schemeClr val="accent1">
                        <a:lumMod val="40000"/>
                        <a:lumOff val="60000"/>
                      </a:schemeClr>
                    </a:solidFill>
                  </a:tcPr>
                </a:tc>
                <a:extLst>
                  <a:ext uri="{0D108BD9-81ED-4DB2-BD59-A6C34878D82A}">
                    <a16:rowId xmlns:a16="http://schemas.microsoft.com/office/drawing/2014/main" val="3545151370"/>
                  </a:ext>
                </a:extLst>
              </a:tr>
              <a:tr h="540362">
                <a:tc>
                  <a:txBody>
                    <a:bodyPr/>
                    <a:lstStyle/>
                    <a:p>
                      <a:r>
                        <a:rPr lang="en-US" sz="2800" dirty="0">
                          <a:solidFill>
                            <a:schemeClr val="tx1"/>
                          </a:solidFill>
                        </a:rPr>
                        <a:t>P2</a:t>
                      </a:r>
                    </a:p>
                  </a:txBody>
                  <a:tcPr>
                    <a:solidFill>
                      <a:schemeClr val="accent1">
                        <a:lumMod val="40000"/>
                        <a:lumOff val="60000"/>
                      </a:schemeClr>
                    </a:solidFill>
                  </a:tcPr>
                </a:tc>
                <a:tc>
                  <a:txBody>
                    <a:bodyPr/>
                    <a:lstStyle/>
                    <a:p>
                      <a:r>
                        <a:rPr lang="en-US" sz="2800" dirty="0">
                          <a:solidFill>
                            <a:schemeClr val="tx1"/>
                          </a:solidFill>
                        </a:rPr>
                        <a:t>8</a:t>
                      </a:r>
                    </a:p>
                  </a:txBody>
                  <a:tcPr>
                    <a:solidFill>
                      <a:schemeClr val="accent1">
                        <a:lumMod val="40000"/>
                        <a:lumOff val="60000"/>
                      </a:schemeClr>
                    </a:solidFill>
                  </a:tcPr>
                </a:tc>
                <a:extLst>
                  <a:ext uri="{0D108BD9-81ED-4DB2-BD59-A6C34878D82A}">
                    <a16:rowId xmlns:a16="http://schemas.microsoft.com/office/drawing/2014/main" val="308782284"/>
                  </a:ext>
                </a:extLst>
              </a:tr>
              <a:tr h="540362">
                <a:tc>
                  <a:txBody>
                    <a:bodyPr/>
                    <a:lstStyle/>
                    <a:p>
                      <a:r>
                        <a:rPr lang="en-US" sz="2800" dirty="0">
                          <a:solidFill>
                            <a:schemeClr val="tx1"/>
                          </a:solidFill>
                        </a:rPr>
                        <a:t>P3</a:t>
                      </a:r>
                    </a:p>
                  </a:txBody>
                  <a:tcPr>
                    <a:solidFill>
                      <a:schemeClr val="accent1">
                        <a:lumMod val="40000"/>
                        <a:lumOff val="60000"/>
                      </a:schemeClr>
                    </a:solidFill>
                  </a:tcPr>
                </a:tc>
                <a:tc>
                  <a:txBody>
                    <a:bodyPr/>
                    <a:lstStyle/>
                    <a:p>
                      <a:r>
                        <a:rPr lang="en-US" sz="2800" dirty="0">
                          <a:solidFill>
                            <a:schemeClr val="tx1"/>
                          </a:solidFill>
                        </a:rPr>
                        <a:t>5</a:t>
                      </a:r>
                    </a:p>
                  </a:txBody>
                  <a:tcPr>
                    <a:solidFill>
                      <a:schemeClr val="accent1">
                        <a:lumMod val="40000"/>
                        <a:lumOff val="60000"/>
                      </a:schemeClr>
                    </a:solidFill>
                  </a:tcPr>
                </a:tc>
                <a:extLst>
                  <a:ext uri="{0D108BD9-81ED-4DB2-BD59-A6C34878D82A}">
                    <a16:rowId xmlns:a16="http://schemas.microsoft.com/office/drawing/2014/main" val="4073082168"/>
                  </a:ext>
                </a:extLst>
              </a:tr>
            </a:tbl>
          </a:graphicData>
        </a:graphic>
      </p:graphicFrame>
      <p:sp>
        <p:nvSpPr>
          <p:cNvPr id="8" name="Rectangle 7">
            <a:extLst>
              <a:ext uri="{FF2B5EF4-FFF2-40B4-BE49-F238E27FC236}">
                <a16:creationId xmlns:a16="http://schemas.microsoft.com/office/drawing/2014/main" id="{49AF307E-3C77-33C2-FF09-79D9D1AE9460}"/>
              </a:ext>
            </a:extLst>
          </p:cNvPr>
          <p:cNvSpPr/>
          <p:nvPr/>
        </p:nvSpPr>
        <p:spPr>
          <a:xfrm>
            <a:off x="1297736" y="5175762"/>
            <a:ext cx="7073459" cy="54557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P1</a:t>
            </a:r>
          </a:p>
        </p:txBody>
      </p:sp>
      <p:sp>
        <p:nvSpPr>
          <p:cNvPr id="9" name="TextBox 8">
            <a:extLst>
              <a:ext uri="{FF2B5EF4-FFF2-40B4-BE49-F238E27FC236}">
                <a16:creationId xmlns:a16="http://schemas.microsoft.com/office/drawing/2014/main" id="{CD0476D4-0A3E-901B-7FBE-27741805A39F}"/>
              </a:ext>
            </a:extLst>
          </p:cNvPr>
          <p:cNvSpPr txBox="1"/>
          <p:nvPr/>
        </p:nvSpPr>
        <p:spPr>
          <a:xfrm>
            <a:off x="1147610" y="5721335"/>
            <a:ext cx="427832" cy="461665"/>
          </a:xfrm>
          <a:prstGeom prst="rect">
            <a:avLst/>
          </a:prstGeom>
          <a:noFill/>
        </p:spPr>
        <p:txBody>
          <a:bodyPr wrap="square" rtlCol="0">
            <a:spAutoFit/>
          </a:bodyPr>
          <a:lstStyle/>
          <a:p>
            <a:r>
              <a:rPr lang="en-US" sz="2400" b="1" dirty="0"/>
              <a:t>0</a:t>
            </a:r>
          </a:p>
        </p:txBody>
      </p:sp>
      <p:cxnSp>
        <p:nvCxnSpPr>
          <p:cNvPr id="14" name="Straight Connector 13">
            <a:extLst>
              <a:ext uri="{FF2B5EF4-FFF2-40B4-BE49-F238E27FC236}">
                <a16:creationId xmlns:a16="http://schemas.microsoft.com/office/drawing/2014/main" id="{CB24195B-D3F0-67E0-A7D0-DB91BDEDAE3F}"/>
              </a:ext>
            </a:extLst>
          </p:cNvPr>
          <p:cNvCxnSpPr>
            <a:cxnSpLocks/>
          </p:cNvCxnSpPr>
          <p:nvPr/>
        </p:nvCxnSpPr>
        <p:spPr>
          <a:xfrm>
            <a:off x="6934200" y="5175760"/>
            <a:ext cx="0" cy="5455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2F5E28-7B3F-9BFC-9792-A3844C9BFCB0}"/>
              </a:ext>
            </a:extLst>
          </p:cNvPr>
          <p:cNvCxnSpPr>
            <a:cxnSpLocks/>
          </p:cNvCxnSpPr>
          <p:nvPr/>
        </p:nvCxnSpPr>
        <p:spPr>
          <a:xfrm>
            <a:off x="7784438" y="5175761"/>
            <a:ext cx="0" cy="5455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F1DBCD1-573B-EC61-AFC3-C18D4FC6F908}"/>
              </a:ext>
            </a:extLst>
          </p:cNvPr>
          <p:cNvSpPr txBox="1"/>
          <p:nvPr/>
        </p:nvSpPr>
        <p:spPr>
          <a:xfrm>
            <a:off x="7034201" y="5186936"/>
            <a:ext cx="661997" cy="523220"/>
          </a:xfrm>
          <a:prstGeom prst="rect">
            <a:avLst/>
          </a:prstGeom>
          <a:noFill/>
        </p:spPr>
        <p:txBody>
          <a:bodyPr wrap="square" rtlCol="0">
            <a:spAutoFit/>
          </a:bodyPr>
          <a:lstStyle/>
          <a:p>
            <a:r>
              <a:rPr lang="en-US" sz="2800" dirty="0"/>
              <a:t>P2</a:t>
            </a:r>
          </a:p>
        </p:txBody>
      </p:sp>
      <p:sp>
        <p:nvSpPr>
          <p:cNvPr id="18" name="TextBox 17">
            <a:extLst>
              <a:ext uri="{FF2B5EF4-FFF2-40B4-BE49-F238E27FC236}">
                <a16:creationId xmlns:a16="http://schemas.microsoft.com/office/drawing/2014/main" id="{1C94CC74-6B52-7350-E0D8-6F30A9961A6F}"/>
              </a:ext>
            </a:extLst>
          </p:cNvPr>
          <p:cNvSpPr txBox="1"/>
          <p:nvPr/>
        </p:nvSpPr>
        <p:spPr>
          <a:xfrm>
            <a:off x="7814765" y="5186936"/>
            <a:ext cx="661997" cy="523220"/>
          </a:xfrm>
          <a:prstGeom prst="rect">
            <a:avLst/>
          </a:prstGeom>
          <a:noFill/>
        </p:spPr>
        <p:txBody>
          <a:bodyPr wrap="square" rtlCol="0">
            <a:spAutoFit/>
          </a:bodyPr>
          <a:lstStyle/>
          <a:p>
            <a:r>
              <a:rPr lang="en-US" sz="2800" dirty="0"/>
              <a:t>P3</a:t>
            </a:r>
          </a:p>
        </p:txBody>
      </p:sp>
      <p:sp>
        <p:nvSpPr>
          <p:cNvPr id="19" name="TextBox 18">
            <a:extLst>
              <a:ext uri="{FF2B5EF4-FFF2-40B4-BE49-F238E27FC236}">
                <a16:creationId xmlns:a16="http://schemas.microsoft.com/office/drawing/2014/main" id="{23566643-589E-EC64-58C9-58BDC4B90735}"/>
              </a:ext>
            </a:extLst>
          </p:cNvPr>
          <p:cNvSpPr txBox="1"/>
          <p:nvPr/>
        </p:nvSpPr>
        <p:spPr>
          <a:xfrm>
            <a:off x="6675274" y="5661868"/>
            <a:ext cx="581564" cy="461665"/>
          </a:xfrm>
          <a:prstGeom prst="rect">
            <a:avLst/>
          </a:prstGeom>
          <a:noFill/>
        </p:spPr>
        <p:txBody>
          <a:bodyPr wrap="square" rtlCol="0">
            <a:spAutoFit/>
          </a:bodyPr>
          <a:lstStyle/>
          <a:p>
            <a:r>
              <a:rPr lang="en-US" sz="2400" b="1" dirty="0"/>
              <a:t>32</a:t>
            </a:r>
          </a:p>
        </p:txBody>
      </p:sp>
      <p:sp>
        <p:nvSpPr>
          <p:cNvPr id="21" name="TextBox 20">
            <a:extLst>
              <a:ext uri="{FF2B5EF4-FFF2-40B4-BE49-F238E27FC236}">
                <a16:creationId xmlns:a16="http://schemas.microsoft.com/office/drawing/2014/main" id="{2F1A1C39-A383-DB55-2393-E7877DCBB93C}"/>
              </a:ext>
            </a:extLst>
          </p:cNvPr>
          <p:cNvSpPr txBox="1"/>
          <p:nvPr/>
        </p:nvSpPr>
        <p:spPr>
          <a:xfrm>
            <a:off x="7536141" y="5653538"/>
            <a:ext cx="581564" cy="461665"/>
          </a:xfrm>
          <a:prstGeom prst="rect">
            <a:avLst/>
          </a:prstGeom>
          <a:noFill/>
        </p:spPr>
        <p:txBody>
          <a:bodyPr wrap="square" rtlCol="0">
            <a:spAutoFit/>
          </a:bodyPr>
          <a:lstStyle/>
          <a:p>
            <a:r>
              <a:rPr lang="en-US" sz="2400" b="1" dirty="0"/>
              <a:t>40</a:t>
            </a:r>
          </a:p>
        </p:txBody>
      </p:sp>
      <p:sp>
        <p:nvSpPr>
          <p:cNvPr id="23" name="TextBox 22">
            <a:extLst>
              <a:ext uri="{FF2B5EF4-FFF2-40B4-BE49-F238E27FC236}">
                <a16:creationId xmlns:a16="http://schemas.microsoft.com/office/drawing/2014/main" id="{BB544845-B888-1F9D-43AA-12B2ECBB0F0D}"/>
              </a:ext>
            </a:extLst>
          </p:cNvPr>
          <p:cNvSpPr txBox="1"/>
          <p:nvPr/>
        </p:nvSpPr>
        <p:spPr>
          <a:xfrm>
            <a:off x="8229577" y="5635329"/>
            <a:ext cx="941580" cy="461665"/>
          </a:xfrm>
          <a:prstGeom prst="rect">
            <a:avLst/>
          </a:prstGeom>
          <a:noFill/>
        </p:spPr>
        <p:txBody>
          <a:bodyPr wrap="square" rtlCol="0">
            <a:spAutoFit/>
          </a:bodyPr>
          <a:lstStyle/>
          <a:p>
            <a:r>
              <a:rPr lang="en-US" sz="2400" b="1" dirty="0"/>
              <a:t>45</a:t>
            </a:r>
          </a:p>
        </p:txBody>
      </p:sp>
      <p:sp>
        <p:nvSpPr>
          <p:cNvPr id="11" name="Slide Number Placeholder 10">
            <a:extLst>
              <a:ext uri="{FF2B5EF4-FFF2-40B4-BE49-F238E27FC236}">
                <a16:creationId xmlns:a16="http://schemas.microsoft.com/office/drawing/2014/main" id="{99F801BC-BCC6-BD36-D0C9-BAF1C02CDE30}"/>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490762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6D0C0-662B-AEB6-445F-D0598705B713}"/>
              </a:ext>
            </a:extLst>
          </p:cNvPr>
          <p:cNvSpPr>
            <a:spLocks noGrp="1"/>
          </p:cNvSpPr>
          <p:nvPr>
            <p:ph type="title"/>
          </p:nvPr>
        </p:nvSpPr>
        <p:spPr/>
        <p:txBody>
          <a:bodyPr/>
          <a:lstStyle/>
          <a:p>
            <a:r>
              <a:rPr lang="en-US" dirty="0"/>
              <a:t>Calculate Timing</a:t>
            </a:r>
          </a:p>
        </p:txBody>
      </p:sp>
      <p:sp>
        <p:nvSpPr>
          <p:cNvPr id="3" name="Content Placeholder 2">
            <a:extLst>
              <a:ext uri="{FF2B5EF4-FFF2-40B4-BE49-F238E27FC236}">
                <a16:creationId xmlns:a16="http://schemas.microsoft.com/office/drawing/2014/main" id="{AE622909-E94B-75B5-F28E-43DD2D0F11BB}"/>
              </a:ext>
            </a:extLst>
          </p:cNvPr>
          <p:cNvSpPr>
            <a:spLocks noGrp="1"/>
          </p:cNvSpPr>
          <p:nvPr>
            <p:ph idx="1"/>
          </p:nvPr>
        </p:nvSpPr>
        <p:spPr/>
        <p:txBody>
          <a:bodyPr/>
          <a:lstStyle/>
          <a:p>
            <a:r>
              <a:rPr kumimoji="0" lang="en-US" sz="2400" i="0" u="none" strike="noStrike" kern="1200" cap="none" spc="0" normalizeH="0" baseline="0" noProof="0" dirty="0">
                <a:ln>
                  <a:noFill/>
                </a:ln>
                <a:solidFill>
                  <a:prstClr val="black"/>
                </a:solidFill>
                <a:effectLst/>
                <a:uLnTx/>
                <a:uFillTx/>
                <a:latin typeface="+mj-lt"/>
                <a:ea typeface="+mn-ea"/>
                <a:cs typeface="+mn-cs"/>
              </a:rPr>
              <a:t>Turn around time = Completion Time – Arrival Time</a:t>
            </a:r>
          </a:p>
          <a:p>
            <a:r>
              <a:rPr kumimoji="0" lang="en-US" sz="2400" i="0" u="none" strike="noStrike" kern="1200" cap="none" spc="0" normalizeH="0" baseline="0" noProof="0" dirty="0">
                <a:ln>
                  <a:noFill/>
                </a:ln>
                <a:solidFill>
                  <a:prstClr val="black"/>
                </a:solidFill>
                <a:effectLst/>
                <a:uLnTx/>
                <a:uFillTx/>
                <a:latin typeface="+mj-lt"/>
                <a:ea typeface="+mn-ea"/>
                <a:cs typeface="+mn-cs"/>
              </a:rPr>
              <a:t>Waiting time = Turnaround time – Burst time </a:t>
            </a:r>
          </a:p>
          <a:p>
            <a:r>
              <a:rPr lang="en-US" sz="2400" dirty="0">
                <a:latin typeface="+mj-lt"/>
              </a:rPr>
              <a:t>Response Time = Time process begins – Arrival time</a:t>
            </a:r>
            <a:endParaRPr kumimoji="0" lang="en-US" sz="2400" i="0" u="none" strike="noStrike" kern="1200" cap="none" spc="0" normalizeH="0" baseline="0" noProof="0" dirty="0">
              <a:ln>
                <a:noFill/>
              </a:ln>
              <a:solidFill>
                <a:prstClr val="black"/>
              </a:solidFill>
              <a:effectLst/>
              <a:uLnTx/>
              <a:uFillTx/>
              <a:latin typeface="+mj-lt"/>
              <a:ea typeface="+mn-ea"/>
              <a:cs typeface="+mn-cs"/>
            </a:endParaRPr>
          </a:p>
        </p:txBody>
      </p:sp>
      <p:sp>
        <p:nvSpPr>
          <p:cNvPr id="4" name="Slide Number Placeholder 3">
            <a:extLst>
              <a:ext uri="{FF2B5EF4-FFF2-40B4-BE49-F238E27FC236}">
                <a16:creationId xmlns:a16="http://schemas.microsoft.com/office/drawing/2014/main" id="{71B16176-6F73-735B-6F9A-07C4C54F9211}"/>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4174325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0F887-1348-2772-F1B4-B081BC6404D7}"/>
              </a:ext>
            </a:extLst>
          </p:cNvPr>
          <p:cNvSpPr>
            <a:spLocks noGrp="1"/>
          </p:cNvSpPr>
          <p:nvPr>
            <p:ph type="title"/>
          </p:nvPr>
        </p:nvSpPr>
        <p:spPr/>
        <p:txBody>
          <a:bodyPr/>
          <a:lstStyle/>
          <a:p>
            <a:r>
              <a:rPr lang="en-US" dirty="0"/>
              <a:t>What is the average waiting time in the FCFS Example?</a:t>
            </a:r>
          </a:p>
        </p:txBody>
      </p:sp>
      <p:sp>
        <p:nvSpPr>
          <p:cNvPr id="3" name="Content Placeholder 2">
            <a:extLst>
              <a:ext uri="{FF2B5EF4-FFF2-40B4-BE49-F238E27FC236}">
                <a16:creationId xmlns:a16="http://schemas.microsoft.com/office/drawing/2014/main" id="{6A788F34-25B1-9803-81FC-953E429CEB74}"/>
              </a:ext>
            </a:extLst>
          </p:cNvPr>
          <p:cNvSpPr>
            <a:spLocks noGrp="1"/>
          </p:cNvSpPr>
          <p:nvPr>
            <p:ph idx="1"/>
          </p:nvPr>
        </p:nvSpPr>
        <p:spPr/>
        <p:txBody>
          <a:bodyPr/>
          <a:lstStyle/>
          <a:p>
            <a:r>
              <a:rPr lang="en-US" dirty="0"/>
              <a:t>P1 = 0 </a:t>
            </a:r>
            <a:r>
              <a:rPr lang="en-US" dirty="0" err="1"/>
              <a:t>ms</a:t>
            </a:r>
            <a:endParaRPr lang="en-US" dirty="0"/>
          </a:p>
          <a:p>
            <a:r>
              <a:rPr lang="en-US" dirty="0"/>
              <a:t>P2 = 32 </a:t>
            </a:r>
            <a:r>
              <a:rPr lang="en-US" dirty="0" err="1"/>
              <a:t>ms</a:t>
            </a:r>
            <a:endParaRPr lang="en-US" dirty="0"/>
          </a:p>
          <a:p>
            <a:r>
              <a:rPr lang="en-US" dirty="0"/>
              <a:t>P3 = 40 </a:t>
            </a:r>
            <a:r>
              <a:rPr lang="en-US" dirty="0" err="1"/>
              <a:t>ms</a:t>
            </a:r>
            <a:endParaRPr lang="en-US" dirty="0"/>
          </a:p>
          <a:p>
            <a:pPr marL="0" indent="0">
              <a:buNone/>
            </a:pPr>
            <a:endParaRPr lang="en-US" dirty="0"/>
          </a:p>
          <a:p>
            <a:pPr marL="0" indent="0">
              <a:buNone/>
            </a:pPr>
            <a:r>
              <a:rPr lang="en-US" dirty="0"/>
              <a:t>0 + 32+40/3 = 24 average wait time per process</a:t>
            </a:r>
          </a:p>
        </p:txBody>
      </p:sp>
      <p:sp>
        <p:nvSpPr>
          <p:cNvPr id="8" name="Slide Number Placeholder 7">
            <a:extLst>
              <a:ext uri="{FF2B5EF4-FFF2-40B4-BE49-F238E27FC236}">
                <a16:creationId xmlns:a16="http://schemas.microsoft.com/office/drawing/2014/main" id="{E0E15E25-7C56-6740-19D9-741AEB1D68F7}"/>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3164916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A7A10-FC84-7905-C141-0669D1FE5C97}"/>
              </a:ext>
            </a:extLst>
          </p:cNvPr>
          <p:cNvSpPr>
            <a:spLocks noGrp="1"/>
          </p:cNvSpPr>
          <p:nvPr>
            <p:ph type="title"/>
          </p:nvPr>
        </p:nvSpPr>
        <p:spPr>
          <a:xfrm>
            <a:off x="979797" y="-18197"/>
            <a:ext cx="7704667" cy="1981200"/>
          </a:xfrm>
        </p:spPr>
        <p:txBody>
          <a:bodyPr/>
          <a:lstStyle/>
          <a:p>
            <a:r>
              <a:rPr lang="en-US" dirty="0"/>
              <a:t>Example: Process Arrive in Different Order</a:t>
            </a:r>
          </a:p>
        </p:txBody>
      </p:sp>
      <p:graphicFrame>
        <p:nvGraphicFramePr>
          <p:cNvPr id="11" name="Table 11">
            <a:extLst>
              <a:ext uri="{FF2B5EF4-FFF2-40B4-BE49-F238E27FC236}">
                <a16:creationId xmlns:a16="http://schemas.microsoft.com/office/drawing/2014/main" id="{FF59912C-DD8E-D65F-016F-7AD836882479}"/>
              </a:ext>
            </a:extLst>
          </p:cNvPr>
          <p:cNvGraphicFramePr>
            <a:graphicFrameLocks noGrp="1"/>
          </p:cNvGraphicFramePr>
          <p:nvPr>
            <p:ph idx="1"/>
          </p:nvPr>
        </p:nvGraphicFramePr>
        <p:xfrm>
          <a:off x="800530" y="1582002"/>
          <a:ext cx="7704136" cy="1828800"/>
        </p:xfrm>
        <a:graphic>
          <a:graphicData uri="http://schemas.openxmlformats.org/drawingml/2006/table">
            <a:tbl>
              <a:tblPr firstRow="1" bandRow="1">
                <a:tableStyleId>{5C22544A-7EE6-4342-B048-85BDC9FD1C3A}</a:tableStyleId>
              </a:tblPr>
              <a:tblGrid>
                <a:gridCol w="3852068">
                  <a:extLst>
                    <a:ext uri="{9D8B030D-6E8A-4147-A177-3AD203B41FA5}">
                      <a16:colId xmlns:a16="http://schemas.microsoft.com/office/drawing/2014/main" val="67694611"/>
                    </a:ext>
                  </a:extLst>
                </a:gridCol>
                <a:gridCol w="3852068">
                  <a:extLst>
                    <a:ext uri="{9D8B030D-6E8A-4147-A177-3AD203B41FA5}">
                      <a16:colId xmlns:a16="http://schemas.microsoft.com/office/drawing/2014/main" val="1363942614"/>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Process</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Burst Time in </a:t>
                      </a:r>
                      <a:r>
                        <a:rPr lang="en-US" sz="2400" dirty="0" err="1">
                          <a:solidFill>
                            <a:schemeClr val="tx1"/>
                          </a:solidFill>
                        </a:rPr>
                        <a:t>ms</a:t>
                      </a:r>
                      <a:endParaRPr lang="en-US" sz="2400" dirty="0">
                        <a:solidFill>
                          <a:schemeClr val="tx1"/>
                        </a:solidFill>
                      </a:endParaRPr>
                    </a:p>
                  </a:txBody>
                  <a:tcPr/>
                </a:tc>
                <a:extLst>
                  <a:ext uri="{0D108BD9-81ED-4DB2-BD59-A6C34878D82A}">
                    <a16:rowId xmlns:a16="http://schemas.microsoft.com/office/drawing/2014/main" val="3696443067"/>
                  </a:ext>
                </a:extLst>
              </a:tr>
              <a:tr h="370840">
                <a:tc>
                  <a:txBody>
                    <a:bodyPr/>
                    <a:lstStyle/>
                    <a:p>
                      <a:r>
                        <a:rPr lang="en-US" sz="2400" dirty="0"/>
                        <a:t>P2</a:t>
                      </a:r>
                    </a:p>
                  </a:txBody>
                  <a:tcPr/>
                </a:tc>
                <a:tc>
                  <a:txBody>
                    <a:bodyPr/>
                    <a:lstStyle/>
                    <a:p>
                      <a:r>
                        <a:rPr lang="en-US" sz="2400" dirty="0"/>
                        <a:t>8</a:t>
                      </a:r>
                    </a:p>
                  </a:txBody>
                  <a:tcPr/>
                </a:tc>
                <a:extLst>
                  <a:ext uri="{0D108BD9-81ED-4DB2-BD59-A6C34878D82A}">
                    <a16:rowId xmlns:a16="http://schemas.microsoft.com/office/drawing/2014/main" val="2679560469"/>
                  </a:ext>
                </a:extLst>
              </a:tr>
              <a:tr h="370840">
                <a:tc>
                  <a:txBody>
                    <a:bodyPr/>
                    <a:lstStyle/>
                    <a:p>
                      <a:r>
                        <a:rPr lang="en-US" sz="2400" dirty="0"/>
                        <a:t>P3</a:t>
                      </a:r>
                    </a:p>
                  </a:txBody>
                  <a:tcPr/>
                </a:tc>
                <a:tc>
                  <a:txBody>
                    <a:bodyPr/>
                    <a:lstStyle/>
                    <a:p>
                      <a:r>
                        <a:rPr lang="en-US" sz="2400" dirty="0"/>
                        <a:t>5</a:t>
                      </a:r>
                    </a:p>
                  </a:txBody>
                  <a:tcPr/>
                </a:tc>
                <a:extLst>
                  <a:ext uri="{0D108BD9-81ED-4DB2-BD59-A6C34878D82A}">
                    <a16:rowId xmlns:a16="http://schemas.microsoft.com/office/drawing/2014/main" val="2930927643"/>
                  </a:ext>
                </a:extLst>
              </a:tr>
              <a:tr h="370840">
                <a:tc>
                  <a:txBody>
                    <a:bodyPr/>
                    <a:lstStyle/>
                    <a:p>
                      <a:r>
                        <a:rPr lang="en-US" sz="2400" dirty="0"/>
                        <a:t>P1</a:t>
                      </a:r>
                    </a:p>
                  </a:txBody>
                  <a:tcPr/>
                </a:tc>
                <a:tc>
                  <a:txBody>
                    <a:bodyPr/>
                    <a:lstStyle/>
                    <a:p>
                      <a:r>
                        <a:rPr lang="en-US" sz="2400" dirty="0"/>
                        <a:t>32</a:t>
                      </a:r>
                    </a:p>
                  </a:txBody>
                  <a:tcPr/>
                </a:tc>
                <a:extLst>
                  <a:ext uri="{0D108BD9-81ED-4DB2-BD59-A6C34878D82A}">
                    <a16:rowId xmlns:a16="http://schemas.microsoft.com/office/drawing/2014/main" val="2808912740"/>
                  </a:ext>
                </a:extLst>
              </a:tr>
            </a:tbl>
          </a:graphicData>
        </a:graphic>
      </p:graphicFrame>
      <p:sp>
        <p:nvSpPr>
          <p:cNvPr id="23" name="TextBox 22">
            <a:extLst>
              <a:ext uri="{FF2B5EF4-FFF2-40B4-BE49-F238E27FC236}">
                <a16:creationId xmlns:a16="http://schemas.microsoft.com/office/drawing/2014/main" id="{38E43377-2CBE-3C2F-B2AA-659D049EAA6C}"/>
              </a:ext>
            </a:extLst>
          </p:cNvPr>
          <p:cNvSpPr txBox="1"/>
          <p:nvPr/>
        </p:nvSpPr>
        <p:spPr>
          <a:xfrm>
            <a:off x="7909683" y="4225091"/>
            <a:ext cx="941580" cy="461665"/>
          </a:xfrm>
          <a:prstGeom prst="rect">
            <a:avLst/>
          </a:prstGeom>
          <a:noFill/>
        </p:spPr>
        <p:txBody>
          <a:bodyPr wrap="square" rtlCol="0">
            <a:spAutoFit/>
          </a:bodyPr>
          <a:lstStyle/>
          <a:p>
            <a:r>
              <a:rPr lang="en-US" sz="2400" b="1" dirty="0"/>
              <a:t>45</a:t>
            </a:r>
          </a:p>
        </p:txBody>
      </p:sp>
      <p:grpSp>
        <p:nvGrpSpPr>
          <p:cNvPr id="3" name="Group 2">
            <a:extLst>
              <a:ext uri="{FF2B5EF4-FFF2-40B4-BE49-F238E27FC236}">
                <a16:creationId xmlns:a16="http://schemas.microsoft.com/office/drawing/2014/main" id="{E454A616-443B-71F1-FB8C-8F121D24DF92}"/>
              </a:ext>
            </a:extLst>
          </p:cNvPr>
          <p:cNvGrpSpPr/>
          <p:nvPr/>
        </p:nvGrpSpPr>
        <p:grpSpPr>
          <a:xfrm>
            <a:off x="956846" y="3629741"/>
            <a:ext cx="7223585" cy="1054698"/>
            <a:chOff x="956846" y="3629741"/>
            <a:chExt cx="7223585" cy="1054698"/>
          </a:xfrm>
        </p:grpSpPr>
        <p:sp>
          <p:nvSpPr>
            <p:cNvPr id="15" name="Rectangle 14">
              <a:extLst>
                <a:ext uri="{FF2B5EF4-FFF2-40B4-BE49-F238E27FC236}">
                  <a16:creationId xmlns:a16="http://schemas.microsoft.com/office/drawing/2014/main" id="{14C1590C-E87E-238A-8F1D-945D3E4F83BB}"/>
                </a:ext>
              </a:extLst>
            </p:cNvPr>
            <p:cNvSpPr/>
            <p:nvPr/>
          </p:nvSpPr>
          <p:spPr>
            <a:xfrm>
              <a:off x="1106972" y="3657600"/>
              <a:ext cx="7073459" cy="54557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P2</a:t>
              </a:r>
            </a:p>
          </p:txBody>
        </p:sp>
        <p:sp>
          <p:nvSpPr>
            <p:cNvPr id="17" name="TextBox 16">
              <a:extLst>
                <a:ext uri="{FF2B5EF4-FFF2-40B4-BE49-F238E27FC236}">
                  <a16:creationId xmlns:a16="http://schemas.microsoft.com/office/drawing/2014/main" id="{2C60924A-143D-B2FB-62FA-86BE3692D8F7}"/>
                </a:ext>
              </a:extLst>
            </p:cNvPr>
            <p:cNvSpPr txBox="1"/>
            <p:nvPr/>
          </p:nvSpPr>
          <p:spPr>
            <a:xfrm>
              <a:off x="956846" y="4203173"/>
              <a:ext cx="427832" cy="461665"/>
            </a:xfrm>
            <a:prstGeom prst="rect">
              <a:avLst/>
            </a:prstGeom>
            <a:noFill/>
          </p:spPr>
          <p:txBody>
            <a:bodyPr wrap="square" rtlCol="0">
              <a:spAutoFit/>
            </a:bodyPr>
            <a:lstStyle/>
            <a:p>
              <a:r>
                <a:rPr lang="en-US" sz="2400" b="1" dirty="0"/>
                <a:t>0</a:t>
              </a:r>
            </a:p>
          </p:txBody>
        </p:sp>
        <p:sp>
          <p:nvSpPr>
            <p:cNvPr id="21" name="TextBox 20">
              <a:extLst>
                <a:ext uri="{FF2B5EF4-FFF2-40B4-BE49-F238E27FC236}">
                  <a16:creationId xmlns:a16="http://schemas.microsoft.com/office/drawing/2014/main" id="{5A9EC113-3981-A4CE-CDA4-D9EA49EA5F4D}"/>
                </a:ext>
              </a:extLst>
            </p:cNvPr>
            <p:cNvSpPr txBox="1"/>
            <p:nvPr/>
          </p:nvSpPr>
          <p:spPr>
            <a:xfrm>
              <a:off x="3213319" y="4214401"/>
              <a:ext cx="581564" cy="461665"/>
            </a:xfrm>
            <a:prstGeom prst="rect">
              <a:avLst/>
            </a:prstGeom>
            <a:noFill/>
          </p:spPr>
          <p:txBody>
            <a:bodyPr wrap="square" rtlCol="0">
              <a:spAutoFit/>
            </a:bodyPr>
            <a:lstStyle/>
            <a:p>
              <a:r>
                <a:rPr lang="en-US" sz="2400" b="1" dirty="0"/>
                <a:t>13</a:t>
              </a:r>
            </a:p>
          </p:txBody>
        </p:sp>
        <p:cxnSp>
          <p:nvCxnSpPr>
            <p:cNvPr id="25" name="Straight Connector 24">
              <a:extLst>
                <a:ext uri="{FF2B5EF4-FFF2-40B4-BE49-F238E27FC236}">
                  <a16:creationId xmlns:a16="http://schemas.microsoft.com/office/drawing/2014/main" id="{F578E1E6-D13E-962E-FC72-548A46B33DE5}"/>
                </a:ext>
              </a:extLst>
            </p:cNvPr>
            <p:cNvCxnSpPr/>
            <p:nvPr/>
          </p:nvCxnSpPr>
          <p:spPr>
            <a:xfrm>
              <a:off x="2020544" y="3629741"/>
              <a:ext cx="0" cy="5397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CA8F125-F678-3C3A-9ACB-AC925D46C19A}"/>
                </a:ext>
              </a:extLst>
            </p:cNvPr>
            <p:cNvSpPr txBox="1"/>
            <p:nvPr/>
          </p:nvSpPr>
          <p:spPr>
            <a:xfrm>
              <a:off x="2400036" y="3637999"/>
              <a:ext cx="914400" cy="523220"/>
            </a:xfrm>
            <a:prstGeom prst="rect">
              <a:avLst/>
            </a:prstGeom>
            <a:noFill/>
          </p:spPr>
          <p:txBody>
            <a:bodyPr wrap="square" rtlCol="0">
              <a:spAutoFit/>
            </a:bodyPr>
            <a:lstStyle/>
            <a:p>
              <a:r>
                <a:rPr lang="en-US" sz="2800" dirty="0"/>
                <a:t>P3</a:t>
              </a:r>
            </a:p>
          </p:txBody>
        </p:sp>
        <p:cxnSp>
          <p:nvCxnSpPr>
            <p:cNvPr id="30" name="Straight Connector 29">
              <a:extLst>
                <a:ext uri="{FF2B5EF4-FFF2-40B4-BE49-F238E27FC236}">
                  <a16:creationId xmlns:a16="http://schemas.microsoft.com/office/drawing/2014/main" id="{6BD3F514-303C-4004-F5B4-96048BD4D456}"/>
                </a:ext>
              </a:extLst>
            </p:cNvPr>
            <p:cNvCxnSpPr/>
            <p:nvPr/>
          </p:nvCxnSpPr>
          <p:spPr>
            <a:xfrm>
              <a:off x="3314436" y="3637999"/>
              <a:ext cx="0" cy="5651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909E76F-8545-3FA2-E17E-ACF9FE214638}"/>
                </a:ext>
              </a:extLst>
            </p:cNvPr>
            <p:cNvSpPr txBox="1"/>
            <p:nvPr/>
          </p:nvSpPr>
          <p:spPr>
            <a:xfrm>
              <a:off x="3665110" y="3691181"/>
              <a:ext cx="838199" cy="523220"/>
            </a:xfrm>
            <a:prstGeom prst="rect">
              <a:avLst/>
            </a:prstGeom>
            <a:noFill/>
          </p:spPr>
          <p:txBody>
            <a:bodyPr wrap="square" rtlCol="0">
              <a:spAutoFit/>
            </a:bodyPr>
            <a:lstStyle/>
            <a:p>
              <a:r>
                <a:rPr lang="en-US" sz="2800" dirty="0"/>
                <a:t>P1</a:t>
              </a:r>
            </a:p>
          </p:txBody>
        </p:sp>
        <p:sp>
          <p:nvSpPr>
            <p:cNvPr id="33" name="TextBox 32">
              <a:extLst>
                <a:ext uri="{FF2B5EF4-FFF2-40B4-BE49-F238E27FC236}">
                  <a16:creationId xmlns:a16="http://schemas.microsoft.com/office/drawing/2014/main" id="{61D87C3A-B3DE-95EF-C06E-13DF1084B980}"/>
                </a:ext>
              </a:extLst>
            </p:cNvPr>
            <p:cNvSpPr txBox="1"/>
            <p:nvPr/>
          </p:nvSpPr>
          <p:spPr>
            <a:xfrm>
              <a:off x="1818472" y="4222774"/>
              <a:ext cx="581564" cy="461665"/>
            </a:xfrm>
            <a:prstGeom prst="rect">
              <a:avLst/>
            </a:prstGeom>
            <a:noFill/>
          </p:spPr>
          <p:txBody>
            <a:bodyPr wrap="square" rtlCol="0">
              <a:spAutoFit/>
            </a:bodyPr>
            <a:lstStyle/>
            <a:p>
              <a:r>
                <a:rPr lang="en-US" sz="2400" b="1" dirty="0"/>
                <a:t>8</a:t>
              </a:r>
            </a:p>
          </p:txBody>
        </p:sp>
      </p:grpSp>
      <p:sp>
        <p:nvSpPr>
          <p:cNvPr id="35" name="TextBox 34">
            <a:extLst>
              <a:ext uri="{FF2B5EF4-FFF2-40B4-BE49-F238E27FC236}">
                <a16:creationId xmlns:a16="http://schemas.microsoft.com/office/drawing/2014/main" id="{DE7D8071-94BA-C6B3-897E-9D806F30A03D}"/>
              </a:ext>
            </a:extLst>
          </p:cNvPr>
          <p:cNvSpPr txBox="1"/>
          <p:nvPr/>
        </p:nvSpPr>
        <p:spPr>
          <a:xfrm>
            <a:off x="1106972" y="5275998"/>
            <a:ext cx="7971260" cy="523220"/>
          </a:xfrm>
          <a:prstGeom prst="rect">
            <a:avLst/>
          </a:prstGeom>
          <a:noFill/>
        </p:spPr>
        <p:txBody>
          <a:bodyPr wrap="square">
            <a:spAutoFit/>
          </a:bodyPr>
          <a:lstStyle/>
          <a:p>
            <a:pPr marL="0" indent="0">
              <a:buNone/>
            </a:pPr>
            <a:r>
              <a:rPr lang="en-US" sz="2800" dirty="0"/>
              <a:t>0 + 8+13/3 = 7 </a:t>
            </a:r>
            <a:r>
              <a:rPr lang="en-US" sz="2800" dirty="0" err="1"/>
              <a:t>ms</a:t>
            </a:r>
            <a:r>
              <a:rPr lang="en-US" sz="2800" dirty="0"/>
              <a:t> average wait time per process</a:t>
            </a:r>
          </a:p>
        </p:txBody>
      </p:sp>
      <p:sp>
        <p:nvSpPr>
          <p:cNvPr id="6" name="Slide Number Placeholder 5">
            <a:extLst>
              <a:ext uri="{FF2B5EF4-FFF2-40B4-BE49-F238E27FC236}">
                <a16:creationId xmlns:a16="http://schemas.microsoft.com/office/drawing/2014/main" id="{BEF4028F-C4CB-DA44-102D-09CE326A1A99}"/>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3718260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EEAB4-F2B1-1BBE-2B9C-8CEC8156F128}"/>
              </a:ext>
            </a:extLst>
          </p:cNvPr>
          <p:cNvSpPr>
            <a:spLocks noGrp="1"/>
          </p:cNvSpPr>
          <p:nvPr>
            <p:ph type="title"/>
          </p:nvPr>
        </p:nvSpPr>
        <p:spPr>
          <a:xfrm>
            <a:off x="982133" y="0"/>
            <a:ext cx="7704667" cy="1066799"/>
          </a:xfrm>
        </p:spPr>
        <p:txBody>
          <a:bodyPr/>
          <a:lstStyle/>
          <a:p>
            <a:r>
              <a:rPr lang="en-US" dirty="0"/>
              <a:t>Turnaround Time</a:t>
            </a:r>
          </a:p>
        </p:txBody>
      </p:sp>
      <p:sp>
        <p:nvSpPr>
          <p:cNvPr id="3" name="Content Placeholder 2">
            <a:extLst>
              <a:ext uri="{FF2B5EF4-FFF2-40B4-BE49-F238E27FC236}">
                <a16:creationId xmlns:a16="http://schemas.microsoft.com/office/drawing/2014/main" id="{D8D9D65B-2CCC-3147-7E21-535CAE59D588}"/>
              </a:ext>
            </a:extLst>
          </p:cNvPr>
          <p:cNvSpPr>
            <a:spLocks noGrp="1"/>
          </p:cNvSpPr>
          <p:nvPr>
            <p:ph idx="1"/>
          </p:nvPr>
        </p:nvSpPr>
        <p:spPr>
          <a:xfrm>
            <a:off x="978721" y="4302070"/>
            <a:ext cx="7704667" cy="333281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rbel" panose="020B0503020204020204"/>
                <a:ea typeface="+mn-ea"/>
                <a:cs typeface="+mn-cs"/>
              </a:rPr>
              <a:t>Turn around time = Completion Time – Arrival Time </a:t>
            </a:r>
          </a:p>
          <a:p>
            <a:pPr marL="0" indent="0">
              <a:buNone/>
            </a:pPr>
            <a:endParaRPr lang="en-US" dirty="0"/>
          </a:p>
        </p:txBody>
      </p:sp>
      <p:grpSp>
        <p:nvGrpSpPr>
          <p:cNvPr id="21" name="Group 20">
            <a:extLst>
              <a:ext uri="{FF2B5EF4-FFF2-40B4-BE49-F238E27FC236}">
                <a16:creationId xmlns:a16="http://schemas.microsoft.com/office/drawing/2014/main" id="{B1A0D78F-66E2-0593-DC7E-BEC3E14A1706}"/>
              </a:ext>
            </a:extLst>
          </p:cNvPr>
          <p:cNvGrpSpPr/>
          <p:nvPr/>
        </p:nvGrpSpPr>
        <p:grpSpPr>
          <a:xfrm>
            <a:off x="1112728" y="4032156"/>
            <a:ext cx="7223585" cy="1072443"/>
            <a:chOff x="956846" y="3637999"/>
            <a:chExt cx="7223585" cy="1072443"/>
          </a:xfrm>
        </p:grpSpPr>
        <p:sp>
          <p:nvSpPr>
            <p:cNvPr id="22" name="Rectangle 21">
              <a:extLst>
                <a:ext uri="{FF2B5EF4-FFF2-40B4-BE49-F238E27FC236}">
                  <a16:creationId xmlns:a16="http://schemas.microsoft.com/office/drawing/2014/main" id="{F3F12CBB-8DF0-E25C-85AC-D39BFAEA002C}"/>
                </a:ext>
              </a:extLst>
            </p:cNvPr>
            <p:cNvSpPr/>
            <p:nvPr/>
          </p:nvSpPr>
          <p:spPr>
            <a:xfrm>
              <a:off x="1106972" y="3657600"/>
              <a:ext cx="7073459" cy="54557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2800" dirty="0">
                  <a:solidFill>
                    <a:schemeClr val="tx1"/>
                  </a:solidFill>
                </a:rPr>
                <a:t>P1</a:t>
              </a:r>
            </a:p>
          </p:txBody>
        </p:sp>
        <p:sp>
          <p:nvSpPr>
            <p:cNvPr id="23" name="TextBox 22">
              <a:extLst>
                <a:ext uri="{FF2B5EF4-FFF2-40B4-BE49-F238E27FC236}">
                  <a16:creationId xmlns:a16="http://schemas.microsoft.com/office/drawing/2014/main" id="{4E17CFBB-817E-FC1C-CC6E-ECB31CE5BB9C}"/>
                </a:ext>
              </a:extLst>
            </p:cNvPr>
            <p:cNvSpPr txBox="1"/>
            <p:nvPr/>
          </p:nvSpPr>
          <p:spPr>
            <a:xfrm>
              <a:off x="956846" y="4203173"/>
              <a:ext cx="427832" cy="461665"/>
            </a:xfrm>
            <a:prstGeom prst="rect">
              <a:avLst/>
            </a:prstGeom>
            <a:noFill/>
          </p:spPr>
          <p:txBody>
            <a:bodyPr wrap="square" rtlCol="0">
              <a:spAutoFit/>
            </a:bodyPr>
            <a:lstStyle/>
            <a:p>
              <a:r>
                <a:rPr lang="en-US" sz="2400" b="1" dirty="0"/>
                <a:t>0</a:t>
              </a:r>
            </a:p>
          </p:txBody>
        </p:sp>
        <p:sp>
          <p:nvSpPr>
            <p:cNvPr id="24" name="TextBox 23">
              <a:extLst>
                <a:ext uri="{FF2B5EF4-FFF2-40B4-BE49-F238E27FC236}">
                  <a16:creationId xmlns:a16="http://schemas.microsoft.com/office/drawing/2014/main" id="{29463F4E-9F46-7C47-8B12-412A3D79160B}"/>
                </a:ext>
              </a:extLst>
            </p:cNvPr>
            <p:cNvSpPr txBox="1"/>
            <p:nvPr/>
          </p:nvSpPr>
          <p:spPr>
            <a:xfrm>
              <a:off x="6324341" y="4248777"/>
              <a:ext cx="581564" cy="461665"/>
            </a:xfrm>
            <a:prstGeom prst="rect">
              <a:avLst/>
            </a:prstGeom>
            <a:noFill/>
          </p:spPr>
          <p:txBody>
            <a:bodyPr wrap="square" lIns="91440" tIns="45720" rIns="91440" bIns="45720" rtlCol="0" anchor="t">
              <a:spAutoFit/>
            </a:bodyPr>
            <a:lstStyle/>
            <a:p>
              <a:r>
                <a:rPr lang="en-US" sz="2400" b="1" dirty="0"/>
                <a:t>40</a:t>
              </a:r>
            </a:p>
          </p:txBody>
        </p:sp>
        <p:cxnSp>
          <p:nvCxnSpPr>
            <p:cNvPr id="25" name="Straight Connector 24">
              <a:extLst>
                <a:ext uri="{FF2B5EF4-FFF2-40B4-BE49-F238E27FC236}">
                  <a16:creationId xmlns:a16="http://schemas.microsoft.com/office/drawing/2014/main" id="{46BEF5E6-CDDA-9600-390D-E95B975AA82B}"/>
                </a:ext>
              </a:extLst>
            </p:cNvPr>
            <p:cNvCxnSpPr/>
            <p:nvPr/>
          </p:nvCxnSpPr>
          <p:spPr>
            <a:xfrm>
              <a:off x="6498010" y="3664117"/>
              <a:ext cx="0" cy="5397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3FFD9C2-A854-B273-9716-76E7962E75C4}"/>
                </a:ext>
              </a:extLst>
            </p:cNvPr>
            <p:cNvSpPr txBox="1"/>
            <p:nvPr/>
          </p:nvSpPr>
          <p:spPr>
            <a:xfrm>
              <a:off x="4849322" y="3680969"/>
              <a:ext cx="914400" cy="523220"/>
            </a:xfrm>
            <a:prstGeom prst="rect">
              <a:avLst/>
            </a:prstGeom>
            <a:noFill/>
          </p:spPr>
          <p:txBody>
            <a:bodyPr wrap="square" lIns="91440" tIns="45720" rIns="91440" bIns="45720" rtlCol="0" anchor="t">
              <a:spAutoFit/>
            </a:bodyPr>
            <a:lstStyle/>
            <a:p>
              <a:r>
                <a:rPr lang="en-US" sz="2800" dirty="0"/>
                <a:t>P2</a:t>
              </a:r>
            </a:p>
          </p:txBody>
        </p:sp>
        <p:cxnSp>
          <p:nvCxnSpPr>
            <p:cNvPr id="27" name="Straight Connector 26">
              <a:extLst>
                <a:ext uri="{FF2B5EF4-FFF2-40B4-BE49-F238E27FC236}">
                  <a16:creationId xmlns:a16="http://schemas.microsoft.com/office/drawing/2014/main" id="{49CF3761-D99B-940B-880E-9E97426C644D}"/>
                </a:ext>
              </a:extLst>
            </p:cNvPr>
            <p:cNvCxnSpPr/>
            <p:nvPr/>
          </p:nvCxnSpPr>
          <p:spPr>
            <a:xfrm>
              <a:off x="4371496" y="3637999"/>
              <a:ext cx="0" cy="5651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305CA77-ECC3-02C0-D47A-FB043508F78E}"/>
                </a:ext>
              </a:extLst>
            </p:cNvPr>
            <p:cNvSpPr txBox="1"/>
            <p:nvPr/>
          </p:nvSpPr>
          <p:spPr>
            <a:xfrm>
              <a:off x="6707381" y="3716963"/>
              <a:ext cx="838199" cy="523220"/>
            </a:xfrm>
            <a:prstGeom prst="rect">
              <a:avLst/>
            </a:prstGeom>
            <a:noFill/>
          </p:spPr>
          <p:txBody>
            <a:bodyPr wrap="square" lIns="91440" tIns="45720" rIns="91440" bIns="45720" rtlCol="0" anchor="t">
              <a:spAutoFit/>
            </a:bodyPr>
            <a:lstStyle/>
            <a:p>
              <a:r>
                <a:rPr lang="en-US" sz="2800" dirty="0"/>
                <a:t>P3</a:t>
              </a:r>
            </a:p>
          </p:txBody>
        </p:sp>
        <p:sp>
          <p:nvSpPr>
            <p:cNvPr id="29" name="TextBox 28">
              <a:extLst>
                <a:ext uri="{FF2B5EF4-FFF2-40B4-BE49-F238E27FC236}">
                  <a16:creationId xmlns:a16="http://schemas.microsoft.com/office/drawing/2014/main" id="{E61F43B5-A8FD-7A47-1D61-5A5BE6E290F4}"/>
                </a:ext>
              </a:extLst>
            </p:cNvPr>
            <p:cNvSpPr txBox="1"/>
            <p:nvPr/>
          </p:nvSpPr>
          <p:spPr>
            <a:xfrm>
              <a:off x="4233382" y="4214180"/>
              <a:ext cx="581564" cy="461665"/>
            </a:xfrm>
            <a:prstGeom prst="rect">
              <a:avLst/>
            </a:prstGeom>
            <a:noFill/>
          </p:spPr>
          <p:txBody>
            <a:bodyPr wrap="square" lIns="91440" tIns="45720" rIns="91440" bIns="45720" rtlCol="0" anchor="t">
              <a:spAutoFit/>
            </a:bodyPr>
            <a:lstStyle/>
            <a:p>
              <a:r>
                <a:rPr lang="en-US" sz="2400" b="1" dirty="0"/>
                <a:t>32</a:t>
              </a:r>
            </a:p>
          </p:txBody>
        </p:sp>
      </p:grpSp>
      <p:grpSp>
        <p:nvGrpSpPr>
          <p:cNvPr id="30" name="Group 29">
            <a:extLst>
              <a:ext uri="{FF2B5EF4-FFF2-40B4-BE49-F238E27FC236}">
                <a16:creationId xmlns:a16="http://schemas.microsoft.com/office/drawing/2014/main" id="{B7482386-04EE-8F99-B3BE-65DE8DB36187}"/>
              </a:ext>
            </a:extLst>
          </p:cNvPr>
          <p:cNvGrpSpPr/>
          <p:nvPr/>
        </p:nvGrpSpPr>
        <p:grpSpPr>
          <a:xfrm>
            <a:off x="870169" y="966720"/>
            <a:ext cx="7704136" cy="2390140"/>
            <a:chOff x="978721" y="943483"/>
            <a:chExt cx="7704136" cy="2390140"/>
          </a:xfrm>
        </p:grpSpPr>
        <p:graphicFrame>
          <p:nvGraphicFramePr>
            <p:cNvPr id="31" name="Table 11">
              <a:extLst>
                <a:ext uri="{FF2B5EF4-FFF2-40B4-BE49-F238E27FC236}">
                  <a16:creationId xmlns:a16="http://schemas.microsoft.com/office/drawing/2014/main" id="{E9BAFB91-F296-DEF1-39C5-0E0463FC904E}"/>
                </a:ext>
              </a:extLst>
            </p:cNvPr>
            <p:cNvGraphicFramePr>
              <a:graphicFrameLocks/>
            </p:cNvGraphicFramePr>
            <p:nvPr/>
          </p:nvGraphicFramePr>
          <p:xfrm>
            <a:off x="978721" y="943483"/>
            <a:ext cx="7704136" cy="2275840"/>
          </p:xfrm>
          <a:graphic>
            <a:graphicData uri="http://schemas.openxmlformats.org/drawingml/2006/table">
              <a:tbl>
                <a:tblPr firstRow="1" bandRow="1">
                  <a:tableStyleId>{5C22544A-7EE6-4342-B048-85BDC9FD1C3A}</a:tableStyleId>
                </a:tblPr>
                <a:tblGrid>
                  <a:gridCol w="2523067">
                    <a:extLst>
                      <a:ext uri="{9D8B030D-6E8A-4147-A177-3AD203B41FA5}">
                        <a16:colId xmlns:a16="http://schemas.microsoft.com/office/drawing/2014/main" val="67694611"/>
                      </a:ext>
                    </a:extLst>
                  </a:gridCol>
                  <a:gridCol w="5181069">
                    <a:extLst>
                      <a:ext uri="{9D8B030D-6E8A-4147-A177-3AD203B41FA5}">
                        <a16:colId xmlns:a16="http://schemas.microsoft.com/office/drawing/2014/main" val="1363942614"/>
                      </a:ext>
                    </a:extLst>
                  </a:gridCol>
                </a:tblGrid>
                <a:tr h="9042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Process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Burst Time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 in </a:t>
                        </a:r>
                        <a:r>
                          <a:rPr lang="en-US" sz="2400" dirty="0" err="1">
                            <a:solidFill>
                              <a:schemeClr val="tx1"/>
                            </a:solidFill>
                          </a:rPr>
                          <a:t>ms</a:t>
                        </a:r>
                        <a:endParaRPr lang="en-US" sz="2400" dirty="0">
                          <a:solidFill>
                            <a:schemeClr val="tx1"/>
                          </a:solidFill>
                        </a:endParaRPr>
                      </a:p>
                    </a:txBody>
                    <a:tcPr/>
                  </a:tc>
                  <a:extLst>
                    <a:ext uri="{0D108BD9-81ED-4DB2-BD59-A6C34878D82A}">
                      <a16:rowId xmlns:a16="http://schemas.microsoft.com/office/drawing/2014/main" val="3696443067"/>
                    </a:ext>
                  </a:extLst>
                </a:tr>
                <a:tr h="370840">
                  <a:tc>
                    <a:txBody>
                      <a:bodyPr/>
                      <a:lstStyle/>
                      <a:p>
                        <a:r>
                          <a:rPr lang="en-US" sz="2400" dirty="0"/>
                          <a:t>P2</a:t>
                        </a:r>
                      </a:p>
                    </a:txBody>
                    <a:tcPr/>
                  </a:tc>
                  <a:tc>
                    <a:txBody>
                      <a:bodyPr/>
                      <a:lstStyle/>
                      <a:p>
                        <a:r>
                          <a:rPr lang="en-US" sz="2400" dirty="0"/>
                          <a:t>8</a:t>
                        </a:r>
                      </a:p>
                    </a:txBody>
                    <a:tcPr/>
                  </a:tc>
                  <a:extLst>
                    <a:ext uri="{0D108BD9-81ED-4DB2-BD59-A6C34878D82A}">
                      <a16:rowId xmlns:a16="http://schemas.microsoft.com/office/drawing/2014/main" val="2679560469"/>
                    </a:ext>
                  </a:extLst>
                </a:tr>
                <a:tr h="370840">
                  <a:tc>
                    <a:txBody>
                      <a:bodyPr/>
                      <a:lstStyle/>
                      <a:p>
                        <a:r>
                          <a:rPr lang="en-US" sz="2400" dirty="0"/>
                          <a:t>P3</a:t>
                        </a:r>
                      </a:p>
                    </a:txBody>
                    <a:tcPr/>
                  </a:tc>
                  <a:tc>
                    <a:txBody>
                      <a:bodyPr/>
                      <a:lstStyle/>
                      <a:p>
                        <a:r>
                          <a:rPr lang="en-US" sz="2400" dirty="0"/>
                          <a:t>5</a:t>
                        </a:r>
                      </a:p>
                    </a:txBody>
                    <a:tcPr/>
                  </a:tc>
                  <a:extLst>
                    <a:ext uri="{0D108BD9-81ED-4DB2-BD59-A6C34878D82A}">
                      <a16:rowId xmlns:a16="http://schemas.microsoft.com/office/drawing/2014/main" val="2930927643"/>
                    </a:ext>
                  </a:extLst>
                </a:tr>
                <a:tr h="370840">
                  <a:tc>
                    <a:txBody>
                      <a:bodyPr/>
                      <a:lstStyle/>
                      <a:p>
                        <a:r>
                          <a:rPr lang="en-US" sz="2400" dirty="0"/>
                          <a:t>P1</a:t>
                        </a:r>
                      </a:p>
                    </a:txBody>
                    <a:tcPr/>
                  </a:tc>
                  <a:tc>
                    <a:txBody>
                      <a:bodyPr/>
                      <a:lstStyle/>
                      <a:p>
                        <a:r>
                          <a:rPr lang="en-US" sz="2400" dirty="0"/>
                          <a:t>32</a:t>
                        </a:r>
                      </a:p>
                    </a:txBody>
                    <a:tcPr/>
                  </a:tc>
                  <a:extLst>
                    <a:ext uri="{0D108BD9-81ED-4DB2-BD59-A6C34878D82A}">
                      <a16:rowId xmlns:a16="http://schemas.microsoft.com/office/drawing/2014/main" val="2808912740"/>
                    </a:ext>
                  </a:extLst>
                </a:tr>
              </a:tbl>
            </a:graphicData>
          </a:graphic>
        </p:graphicFrame>
        <p:grpSp>
          <p:nvGrpSpPr>
            <p:cNvPr id="32" name="Group 31">
              <a:extLst>
                <a:ext uri="{FF2B5EF4-FFF2-40B4-BE49-F238E27FC236}">
                  <a16:creationId xmlns:a16="http://schemas.microsoft.com/office/drawing/2014/main" id="{E2D0C07B-208A-D940-AD00-AA0DA47F4CFC}"/>
                </a:ext>
              </a:extLst>
            </p:cNvPr>
            <p:cNvGrpSpPr/>
            <p:nvPr/>
          </p:nvGrpSpPr>
          <p:grpSpPr>
            <a:xfrm>
              <a:off x="5101988" y="971423"/>
              <a:ext cx="3532393" cy="2362200"/>
              <a:chOff x="5105400" y="2247900"/>
              <a:chExt cx="3532393" cy="2362200"/>
            </a:xfrm>
          </p:grpSpPr>
          <p:cxnSp>
            <p:nvCxnSpPr>
              <p:cNvPr id="38" name="Straight Connector 37">
                <a:extLst>
                  <a:ext uri="{FF2B5EF4-FFF2-40B4-BE49-F238E27FC236}">
                    <a16:creationId xmlns:a16="http://schemas.microsoft.com/office/drawing/2014/main" id="{382790DD-9958-BE3C-9381-2C587E81037F}"/>
                  </a:ext>
                </a:extLst>
              </p:cNvPr>
              <p:cNvCxnSpPr/>
              <p:nvPr/>
            </p:nvCxnSpPr>
            <p:spPr>
              <a:xfrm>
                <a:off x="5105400" y="2247900"/>
                <a:ext cx="0" cy="2362200"/>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96D1733-1489-19FA-D73B-BE1B848627B9}"/>
                  </a:ext>
                </a:extLst>
              </p:cNvPr>
              <p:cNvSpPr txBox="1"/>
              <p:nvPr/>
            </p:nvSpPr>
            <p:spPr>
              <a:xfrm>
                <a:off x="5770643" y="2297943"/>
                <a:ext cx="2675466" cy="830997"/>
              </a:xfrm>
              <a:prstGeom prst="rect">
                <a:avLst/>
              </a:prstGeom>
              <a:noFill/>
            </p:spPr>
            <p:txBody>
              <a:bodyPr wrap="square" rtlCol="0">
                <a:spAutoFit/>
              </a:bodyPr>
              <a:lstStyle/>
              <a:p>
                <a:r>
                  <a:rPr lang="en-US" sz="2400" b="1" dirty="0"/>
                  <a:t>Turnaround Time in </a:t>
                </a:r>
                <a:r>
                  <a:rPr lang="en-US" sz="2400" b="1" dirty="0" err="1"/>
                  <a:t>ms</a:t>
                </a:r>
                <a:endParaRPr lang="en-US" sz="2400" b="1" dirty="0"/>
              </a:p>
            </p:txBody>
          </p:sp>
          <p:sp>
            <p:nvSpPr>
              <p:cNvPr id="40" name="TextBox 39">
                <a:extLst>
                  <a:ext uri="{FF2B5EF4-FFF2-40B4-BE49-F238E27FC236}">
                    <a16:creationId xmlns:a16="http://schemas.microsoft.com/office/drawing/2014/main" id="{6C3D41E7-3680-9F92-4DC4-A47F898D5AA8}"/>
                  </a:ext>
                </a:extLst>
              </p:cNvPr>
              <p:cNvSpPr txBox="1"/>
              <p:nvPr/>
            </p:nvSpPr>
            <p:spPr>
              <a:xfrm>
                <a:off x="5724766" y="3514483"/>
                <a:ext cx="2861463" cy="461665"/>
              </a:xfrm>
              <a:prstGeom prst="rect">
                <a:avLst/>
              </a:prstGeom>
              <a:noFill/>
            </p:spPr>
            <p:txBody>
              <a:bodyPr wrap="square" lIns="91440" tIns="45720" rIns="91440" bIns="45720" rtlCol="0" anchor="t">
                <a:spAutoFit/>
              </a:bodyPr>
              <a:lstStyle/>
              <a:p>
                <a:r>
                  <a:rPr lang="en-US" sz="2400" b="1" dirty="0"/>
                  <a:t>45 – 2 = 43</a:t>
                </a:r>
              </a:p>
            </p:txBody>
          </p:sp>
          <p:sp>
            <p:nvSpPr>
              <p:cNvPr id="41" name="TextBox 40">
                <a:extLst>
                  <a:ext uri="{FF2B5EF4-FFF2-40B4-BE49-F238E27FC236}">
                    <a16:creationId xmlns:a16="http://schemas.microsoft.com/office/drawing/2014/main" id="{A3CB0961-D8E4-81BD-249D-B9590690FF62}"/>
                  </a:ext>
                </a:extLst>
              </p:cNvPr>
              <p:cNvSpPr txBox="1"/>
              <p:nvPr/>
            </p:nvSpPr>
            <p:spPr>
              <a:xfrm>
                <a:off x="5767736" y="3054991"/>
                <a:ext cx="2861463" cy="461665"/>
              </a:xfrm>
              <a:prstGeom prst="rect">
                <a:avLst/>
              </a:prstGeom>
              <a:noFill/>
            </p:spPr>
            <p:txBody>
              <a:bodyPr wrap="square" lIns="91440" tIns="45720" rIns="91440" bIns="45720" rtlCol="0" anchor="t">
                <a:spAutoFit/>
              </a:bodyPr>
              <a:lstStyle/>
              <a:p>
                <a:r>
                  <a:rPr lang="en-US" sz="2400" b="1" dirty="0"/>
                  <a:t>40– 1 = 39</a:t>
                </a:r>
              </a:p>
            </p:txBody>
          </p:sp>
          <p:sp>
            <p:nvSpPr>
              <p:cNvPr id="42" name="TextBox 41">
                <a:extLst>
                  <a:ext uri="{FF2B5EF4-FFF2-40B4-BE49-F238E27FC236}">
                    <a16:creationId xmlns:a16="http://schemas.microsoft.com/office/drawing/2014/main" id="{20C8EC56-5E81-2563-881D-939CD8AEDD0D}"/>
                  </a:ext>
                </a:extLst>
              </p:cNvPr>
              <p:cNvSpPr txBox="1"/>
              <p:nvPr/>
            </p:nvSpPr>
            <p:spPr>
              <a:xfrm>
                <a:off x="5776330" y="4034133"/>
                <a:ext cx="2861463" cy="461665"/>
              </a:xfrm>
              <a:prstGeom prst="rect">
                <a:avLst/>
              </a:prstGeom>
              <a:noFill/>
            </p:spPr>
            <p:txBody>
              <a:bodyPr wrap="square" lIns="91440" tIns="45720" rIns="91440" bIns="45720" rtlCol="0" anchor="t">
                <a:spAutoFit/>
              </a:bodyPr>
              <a:lstStyle/>
              <a:p>
                <a:r>
                  <a:rPr lang="en-US" sz="2400" b="1" dirty="0"/>
                  <a:t>32 – 0 = 32</a:t>
                </a:r>
              </a:p>
            </p:txBody>
          </p:sp>
        </p:grpSp>
        <p:cxnSp>
          <p:nvCxnSpPr>
            <p:cNvPr id="33" name="Straight Connector 32">
              <a:extLst>
                <a:ext uri="{FF2B5EF4-FFF2-40B4-BE49-F238E27FC236}">
                  <a16:creationId xmlns:a16="http://schemas.microsoft.com/office/drawing/2014/main" id="{07F45D6F-9D9A-1F9B-76EB-636AAE4A621F}"/>
                </a:ext>
              </a:extLst>
            </p:cNvPr>
            <p:cNvCxnSpPr/>
            <p:nvPr/>
          </p:nvCxnSpPr>
          <p:spPr>
            <a:xfrm>
              <a:off x="2209800" y="943483"/>
              <a:ext cx="0" cy="2362200"/>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DB1F28E-AB5A-6B16-CBE1-219BEB72BEDC}"/>
                </a:ext>
              </a:extLst>
            </p:cNvPr>
            <p:cNvSpPr txBox="1"/>
            <p:nvPr/>
          </p:nvSpPr>
          <p:spPr>
            <a:xfrm>
              <a:off x="2296071" y="943483"/>
              <a:ext cx="1106969" cy="830997"/>
            </a:xfrm>
            <a:prstGeom prst="rect">
              <a:avLst/>
            </a:prstGeom>
            <a:noFill/>
          </p:spPr>
          <p:txBody>
            <a:bodyPr wrap="square" rtlCol="0">
              <a:spAutoFit/>
            </a:bodyPr>
            <a:lstStyle/>
            <a:p>
              <a:r>
                <a:rPr lang="en-US" sz="2400" b="1" dirty="0"/>
                <a:t>Arrival Time</a:t>
              </a:r>
            </a:p>
          </p:txBody>
        </p:sp>
        <p:sp>
          <p:nvSpPr>
            <p:cNvPr id="35" name="TextBox 34">
              <a:extLst>
                <a:ext uri="{FF2B5EF4-FFF2-40B4-BE49-F238E27FC236}">
                  <a16:creationId xmlns:a16="http://schemas.microsoft.com/office/drawing/2014/main" id="{3CE55905-AE50-3972-6F8C-60C746F8EBD0}"/>
                </a:ext>
              </a:extLst>
            </p:cNvPr>
            <p:cNvSpPr txBox="1"/>
            <p:nvPr/>
          </p:nvSpPr>
          <p:spPr>
            <a:xfrm>
              <a:off x="2488641" y="2281127"/>
              <a:ext cx="721828" cy="461665"/>
            </a:xfrm>
            <a:prstGeom prst="rect">
              <a:avLst/>
            </a:prstGeom>
            <a:noFill/>
          </p:spPr>
          <p:txBody>
            <a:bodyPr wrap="square" rtlCol="0">
              <a:spAutoFit/>
            </a:bodyPr>
            <a:lstStyle/>
            <a:p>
              <a:r>
                <a:rPr lang="en-US" sz="2400" b="1" dirty="0"/>
                <a:t>2</a:t>
              </a:r>
            </a:p>
          </p:txBody>
        </p:sp>
        <p:sp>
          <p:nvSpPr>
            <p:cNvPr id="36" name="TextBox 35">
              <a:extLst>
                <a:ext uri="{FF2B5EF4-FFF2-40B4-BE49-F238E27FC236}">
                  <a16:creationId xmlns:a16="http://schemas.microsoft.com/office/drawing/2014/main" id="{FDB2D4FB-F425-FE9E-5EAF-20F23B31A8D0}"/>
                </a:ext>
              </a:extLst>
            </p:cNvPr>
            <p:cNvSpPr txBox="1"/>
            <p:nvPr/>
          </p:nvSpPr>
          <p:spPr>
            <a:xfrm>
              <a:off x="2479624" y="1873270"/>
              <a:ext cx="721828" cy="461665"/>
            </a:xfrm>
            <a:prstGeom prst="rect">
              <a:avLst/>
            </a:prstGeom>
            <a:noFill/>
          </p:spPr>
          <p:txBody>
            <a:bodyPr wrap="square" rtlCol="0">
              <a:spAutoFit/>
            </a:bodyPr>
            <a:lstStyle/>
            <a:p>
              <a:r>
                <a:rPr lang="en-US" sz="2400" b="1" dirty="0"/>
                <a:t>1</a:t>
              </a:r>
            </a:p>
          </p:txBody>
        </p:sp>
        <p:sp>
          <p:nvSpPr>
            <p:cNvPr id="37" name="TextBox 36">
              <a:extLst>
                <a:ext uri="{FF2B5EF4-FFF2-40B4-BE49-F238E27FC236}">
                  <a16:creationId xmlns:a16="http://schemas.microsoft.com/office/drawing/2014/main" id="{0ED27A53-0A26-1AA9-5BFB-F70948463906}"/>
                </a:ext>
              </a:extLst>
            </p:cNvPr>
            <p:cNvSpPr txBox="1"/>
            <p:nvPr/>
          </p:nvSpPr>
          <p:spPr>
            <a:xfrm>
              <a:off x="2502207" y="2717555"/>
              <a:ext cx="721828" cy="461665"/>
            </a:xfrm>
            <a:prstGeom prst="rect">
              <a:avLst/>
            </a:prstGeom>
            <a:noFill/>
          </p:spPr>
          <p:txBody>
            <a:bodyPr wrap="square" rtlCol="0">
              <a:spAutoFit/>
            </a:bodyPr>
            <a:lstStyle/>
            <a:p>
              <a:r>
                <a:rPr lang="en-US" sz="2400" b="1" dirty="0"/>
                <a:t>0</a:t>
              </a:r>
            </a:p>
          </p:txBody>
        </p:sp>
      </p:grpSp>
      <p:sp>
        <p:nvSpPr>
          <p:cNvPr id="44" name="TextBox 43">
            <a:extLst>
              <a:ext uri="{FF2B5EF4-FFF2-40B4-BE49-F238E27FC236}">
                <a16:creationId xmlns:a16="http://schemas.microsoft.com/office/drawing/2014/main" id="{71A254A2-05AA-6FAB-8820-01B083F642D1}"/>
              </a:ext>
            </a:extLst>
          </p:cNvPr>
          <p:cNvSpPr txBox="1"/>
          <p:nvPr/>
        </p:nvSpPr>
        <p:spPr>
          <a:xfrm>
            <a:off x="7994964" y="4595827"/>
            <a:ext cx="941580" cy="461665"/>
          </a:xfrm>
          <a:prstGeom prst="rect">
            <a:avLst/>
          </a:prstGeom>
          <a:noFill/>
        </p:spPr>
        <p:txBody>
          <a:bodyPr wrap="square" rtlCol="0">
            <a:spAutoFit/>
          </a:bodyPr>
          <a:lstStyle/>
          <a:p>
            <a:r>
              <a:rPr lang="en-US" sz="2400" b="1" dirty="0"/>
              <a:t>45</a:t>
            </a:r>
          </a:p>
        </p:txBody>
      </p:sp>
      <p:sp>
        <p:nvSpPr>
          <p:cNvPr id="8" name="Slide Number Placeholder 7">
            <a:extLst>
              <a:ext uri="{FF2B5EF4-FFF2-40B4-BE49-F238E27FC236}">
                <a16:creationId xmlns:a16="http://schemas.microsoft.com/office/drawing/2014/main" id="{03E2760E-2459-7178-C2DC-7E28B0510642}"/>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414935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EEAB4-F2B1-1BBE-2B9C-8CEC8156F128}"/>
              </a:ext>
            </a:extLst>
          </p:cNvPr>
          <p:cNvSpPr>
            <a:spLocks noGrp="1"/>
          </p:cNvSpPr>
          <p:nvPr>
            <p:ph type="title"/>
          </p:nvPr>
        </p:nvSpPr>
        <p:spPr>
          <a:xfrm>
            <a:off x="982133" y="0"/>
            <a:ext cx="7704667" cy="1066799"/>
          </a:xfrm>
        </p:spPr>
        <p:txBody>
          <a:bodyPr/>
          <a:lstStyle/>
          <a:p>
            <a:r>
              <a:rPr lang="en-US" dirty="0"/>
              <a:t>Waiting Time</a:t>
            </a:r>
          </a:p>
        </p:txBody>
      </p:sp>
      <p:sp>
        <p:nvSpPr>
          <p:cNvPr id="3" name="Content Placeholder 2">
            <a:extLst>
              <a:ext uri="{FF2B5EF4-FFF2-40B4-BE49-F238E27FC236}">
                <a16:creationId xmlns:a16="http://schemas.microsoft.com/office/drawing/2014/main" id="{D8D9D65B-2CCC-3147-7E21-535CAE59D588}"/>
              </a:ext>
            </a:extLst>
          </p:cNvPr>
          <p:cNvSpPr>
            <a:spLocks noGrp="1"/>
          </p:cNvSpPr>
          <p:nvPr>
            <p:ph idx="1"/>
          </p:nvPr>
        </p:nvSpPr>
        <p:spPr>
          <a:xfrm>
            <a:off x="978721" y="4302070"/>
            <a:ext cx="7704667" cy="333281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rbel" panose="020B0503020204020204"/>
                <a:ea typeface="+mn-ea"/>
                <a:cs typeface="+mn-cs"/>
              </a:rPr>
              <a:t>Waiting time = Turnaround time – Burst time </a:t>
            </a:r>
          </a:p>
          <a:p>
            <a:pPr marL="0" indent="0">
              <a:buNone/>
            </a:pPr>
            <a:endParaRPr lang="en-US" dirty="0"/>
          </a:p>
        </p:txBody>
      </p:sp>
      <p:grpSp>
        <p:nvGrpSpPr>
          <p:cNvPr id="31" name="Group 30">
            <a:extLst>
              <a:ext uri="{FF2B5EF4-FFF2-40B4-BE49-F238E27FC236}">
                <a16:creationId xmlns:a16="http://schemas.microsoft.com/office/drawing/2014/main" id="{AAA1B78E-8036-3955-CEF6-8313B5EC4729}"/>
              </a:ext>
            </a:extLst>
          </p:cNvPr>
          <p:cNvGrpSpPr/>
          <p:nvPr/>
        </p:nvGrpSpPr>
        <p:grpSpPr>
          <a:xfrm>
            <a:off x="1089461" y="1030027"/>
            <a:ext cx="7704136" cy="2390140"/>
            <a:chOff x="1032800" y="943483"/>
            <a:chExt cx="7704136" cy="2390140"/>
          </a:xfrm>
        </p:grpSpPr>
        <p:graphicFrame>
          <p:nvGraphicFramePr>
            <p:cNvPr id="32" name="Table 11">
              <a:extLst>
                <a:ext uri="{FF2B5EF4-FFF2-40B4-BE49-F238E27FC236}">
                  <a16:creationId xmlns:a16="http://schemas.microsoft.com/office/drawing/2014/main" id="{C2D83BAE-03EC-1E3B-B7D3-CDCDB34EA4D2}"/>
                </a:ext>
              </a:extLst>
            </p:cNvPr>
            <p:cNvGraphicFramePr>
              <a:graphicFrameLocks/>
            </p:cNvGraphicFramePr>
            <p:nvPr/>
          </p:nvGraphicFramePr>
          <p:xfrm>
            <a:off x="1032800" y="968972"/>
            <a:ext cx="7704136" cy="2275840"/>
          </p:xfrm>
          <a:graphic>
            <a:graphicData uri="http://schemas.openxmlformats.org/drawingml/2006/table">
              <a:tbl>
                <a:tblPr firstRow="1" bandRow="1">
                  <a:tableStyleId>{5C22544A-7EE6-4342-B048-85BDC9FD1C3A}</a:tableStyleId>
                </a:tblPr>
                <a:tblGrid>
                  <a:gridCol w="2523067">
                    <a:extLst>
                      <a:ext uri="{9D8B030D-6E8A-4147-A177-3AD203B41FA5}">
                        <a16:colId xmlns:a16="http://schemas.microsoft.com/office/drawing/2014/main" val="67694611"/>
                      </a:ext>
                    </a:extLst>
                  </a:gridCol>
                  <a:gridCol w="5181069">
                    <a:extLst>
                      <a:ext uri="{9D8B030D-6E8A-4147-A177-3AD203B41FA5}">
                        <a16:colId xmlns:a16="http://schemas.microsoft.com/office/drawing/2014/main" val="1363942614"/>
                      </a:ext>
                    </a:extLst>
                  </a:gridCol>
                </a:tblGrid>
                <a:tr h="9042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Process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Burst Time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 in </a:t>
                        </a:r>
                        <a:r>
                          <a:rPr lang="en-US" sz="2400" dirty="0" err="1">
                            <a:solidFill>
                              <a:schemeClr val="tx1"/>
                            </a:solidFill>
                          </a:rPr>
                          <a:t>ms</a:t>
                        </a:r>
                        <a:endParaRPr lang="en-US" sz="2400" dirty="0">
                          <a:solidFill>
                            <a:schemeClr val="tx1"/>
                          </a:solidFill>
                        </a:endParaRPr>
                      </a:p>
                    </a:txBody>
                    <a:tcPr/>
                  </a:tc>
                  <a:extLst>
                    <a:ext uri="{0D108BD9-81ED-4DB2-BD59-A6C34878D82A}">
                      <a16:rowId xmlns:a16="http://schemas.microsoft.com/office/drawing/2014/main" val="3696443067"/>
                    </a:ext>
                  </a:extLst>
                </a:tr>
                <a:tr h="370840">
                  <a:tc>
                    <a:txBody>
                      <a:bodyPr/>
                      <a:lstStyle/>
                      <a:p>
                        <a:r>
                          <a:rPr lang="en-US" sz="2400" dirty="0"/>
                          <a:t>P2</a:t>
                        </a:r>
                      </a:p>
                    </a:txBody>
                    <a:tcPr/>
                  </a:tc>
                  <a:tc>
                    <a:txBody>
                      <a:bodyPr/>
                      <a:lstStyle/>
                      <a:p>
                        <a:r>
                          <a:rPr lang="en-US" sz="2400" dirty="0"/>
                          <a:t>8</a:t>
                        </a:r>
                      </a:p>
                    </a:txBody>
                    <a:tcPr/>
                  </a:tc>
                  <a:extLst>
                    <a:ext uri="{0D108BD9-81ED-4DB2-BD59-A6C34878D82A}">
                      <a16:rowId xmlns:a16="http://schemas.microsoft.com/office/drawing/2014/main" val="2679560469"/>
                    </a:ext>
                  </a:extLst>
                </a:tr>
                <a:tr h="370840">
                  <a:tc>
                    <a:txBody>
                      <a:bodyPr/>
                      <a:lstStyle/>
                      <a:p>
                        <a:r>
                          <a:rPr lang="en-US" sz="2400" dirty="0"/>
                          <a:t>P3</a:t>
                        </a:r>
                      </a:p>
                    </a:txBody>
                    <a:tcPr/>
                  </a:tc>
                  <a:tc>
                    <a:txBody>
                      <a:bodyPr/>
                      <a:lstStyle/>
                      <a:p>
                        <a:r>
                          <a:rPr lang="en-US" sz="2400" dirty="0"/>
                          <a:t>5</a:t>
                        </a:r>
                      </a:p>
                    </a:txBody>
                    <a:tcPr/>
                  </a:tc>
                  <a:extLst>
                    <a:ext uri="{0D108BD9-81ED-4DB2-BD59-A6C34878D82A}">
                      <a16:rowId xmlns:a16="http://schemas.microsoft.com/office/drawing/2014/main" val="2930927643"/>
                    </a:ext>
                  </a:extLst>
                </a:tr>
                <a:tr h="370840">
                  <a:tc>
                    <a:txBody>
                      <a:bodyPr/>
                      <a:lstStyle/>
                      <a:p>
                        <a:r>
                          <a:rPr lang="en-US" sz="2400" dirty="0"/>
                          <a:t>P1</a:t>
                        </a:r>
                      </a:p>
                    </a:txBody>
                    <a:tcPr/>
                  </a:tc>
                  <a:tc>
                    <a:txBody>
                      <a:bodyPr/>
                      <a:lstStyle/>
                      <a:p>
                        <a:r>
                          <a:rPr lang="en-US" sz="2400" dirty="0"/>
                          <a:t>32</a:t>
                        </a:r>
                      </a:p>
                    </a:txBody>
                    <a:tcPr/>
                  </a:tc>
                  <a:extLst>
                    <a:ext uri="{0D108BD9-81ED-4DB2-BD59-A6C34878D82A}">
                      <a16:rowId xmlns:a16="http://schemas.microsoft.com/office/drawing/2014/main" val="2808912740"/>
                    </a:ext>
                  </a:extLst>
                </a:tr>
              </a:tbl>
            </a:graphicData>
          </a:graphic>
        </p:graphicFrame>
        <p:grpSp>
          <p:nvGrpSpPr>
            <p:cNvPr id="33" name="Group 32">
              <a:extLst>
                <a:ext uri="{FF2B5EF4-FFF2-40B4-BE49-F238E27FC236}">
                  <a16:creationId xmlns:a16="http://schemas.microsoft.com/office/drawing/2014/main" id="{0AE2814F-5BBA-360A-1AD2-8A7393DE0E8B}"/>
                </a:ext>
              </a:extLst>
            </p:cNvPr>
            <p:cNvGrpSpPr/>
            <p:nvPr/>
          </p:nvGrpSpPr>
          <p:grpSpPr>
            <a:xfrm>
              <a:off x="5101988" y="971423"/>
              <a:ext cx="2691096" cy="2362200"/>
              <a:chOff x="5105400" y="2247900"/>
              <a:chExt cx="2691096" cy="2362200"/>
            </a:xfrm>
          </p:grpSpPr>
          <p:cxnSp>
            <p:nvCxnSpPr>
              <p:cNvPr id="39" name="Straight Connector 38">
                <a:extLst>
                  <a:ext uri="{FF2B5EF4-FFF2-40B4-BE49-F238E27FC236}">
                    <a16:creationId xmlns:a16="http://schemas.microsoft.com/office/drawing/2014/main" id="{3B679B88-2FBF-9317-6814-39475EC5E172}"/>
                  </a:ext>
                </a:extLst>
              </p:cNvPr>
              <p:cNvCxnSpPr/>
              <p:nvPr/>
            </p:nvCxnSpPr>
            <p:spPr>
              <a:xfrm>
                <a:off x="5105400" y="2247900"/>
                <a:ext cx="0" cy="2362200"/>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35839A90-9277-D872-5ABC-6B1C400157BA}"/>
                  </a:ext>
                </a:extLst>
              </p:cNvPr>
              <p:cNvSpPr txBox="1"/>
              <p:nvPr/>
            </p:nvSpPr>
            <p:spPr>
              <a:xfrm>
                <a:off x="5121030" y="2270000"/>
                <a:ext cx="2675466" cy="830997"/>
              </a:xfrm>
              <a:prstGeom prst="rect">
                <a:avLst/>
              </a:prstGeom>
              <a:noFill/>
            </p:spPr>
            <p:txBody>
              <a:bodyPr wrap="square" rtlCol="0">
                <a:spAutoFit/>
              </a:bodyPr>
              <a:lstStyle/>
              <a:p>
                <a:r>
                  <a:rPr lang="en-US" sz="2400" b="1" dirty="0"/>
                  <a:t>Turnaround </a:t>
                </a:r>
              </a:p>
              <a:p>
                <a:r>
                  <a:rPr lang="en-US" sz="2400" b="1" dirty="0"/>
                  <a:t>Time in </a:t>
                </a:r>
                <a:r>
                  <a:rPr lang="en-US" sz="2400" b="1" dirty="0" err="1"/>
                  <a:t>ms</a:t>
                </a:r>
                <a:endParaRPr lang="en-US" sz="2400" b="1" dirty="0"/>
              </a:p>
            </p:txBody>
          </p:sp>
        </p:grpSp>
        <p:cxnSp>
          <p:nvCxnSpPr>
            <p:cNvPr id="34" name="Straight Connector 33">
              <a:extLst>
                <a:ext uri="{FF2B5EF4-FFF2-40B4-BE49-F238E27FC236}">
                  <a16:creationId xmlns:a16="http://schemas.microsoft.com/office/drawing/2014/main" id="{F643B836-B122-FC42-DE3D-BA794793435A}"/>
                </a:ext>
              </a:extLst>
            </p:cNvPr>
            <p:cNvCxnSpPr/>
            <p:nvPr/>
          </p:nvCxnSpPr>
          <p:spPr>
            <a:xfrm>
              <a:off x="2209800" y="943483"/>
              <a:ext cx="0" cy="2362200"/>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C3DE4AB-BB27-FE2A-FCD9-E4DB20AED924}"/>
                </a:ext>
              </a:extLst>
            </p:cNvPr>
            <p:cNvSpPr txBox="1"/>
            <p:nvPr/>
          </p:nvSpPr>
          <p:spPr>
            <a:xfrm>
              <a:off x="2296071" y="943483"/>
              <a:ext cx="1106969" cy="830997"/>
            </a:xfrm>
            <a:prstGeom prst="rect">
              <a:avLst/>
            </a:prstGeom>
            <a:noFill/>
          </p:spPr>
          <p:txBody>
            <a:bodyPr wrap="square" rtlCol="0">
              <a:spAutoFit/>
            </a:bodyPr>
            <a:lstStyle/>
            <a:p>
              <a:r>
                <a:rPr lang="en-US" sz="2400" b="1" dirty="0"/>
                <a:t>Arrival Time</a:t>
              </a:r>
            </a:p>
          </p:txBody>
        </p:sp>
        <p:sp>
          <p:nvSpPr>
            <p:cNvPr id="36" name="TextBox 35">
              <a:extLst>
                <a:ext uri="{FF2B5EF4-FFF2-40B4-BE49-F238E27FC236}">
                  <a16:creationId xmlns:a16="http://schemas.microsoft.com/office/drawing/2014/main" id="{967D73F1-20AA-1C1F-30DF-39AEF0E2512F}"/>
                </a:ext>
              </a:extLst>
            </p:cNvPr>
            <p:cNvSpPr txBox="1"/>
            <p:nvPr/>
          </p:nvSpPr>
          <p:spPr>
            <a:xfrm>
              <a:off x="2488641" y="2281127"/>
              <a:ext cx="721828" cy="461665"/>
            </a:xfrm>
            <a:prstGeom prst="rect">
              <a:avLst/>
            </a:prstGeom>
            <a:noFill/>
          </p:spPr>
          <p:txBody>
            <a:bodyPr wrap="square" rtlCol="0">
              <a:spAutoFit/>
            </a:bodyPr>
            <a:lstStyle/>
            <a:p>
              <a:r>
                <a:rPr lang="en-US" sz="2400" b="1" dirty="0"/>
                <a:t>2</a:t>
              </a:r>
            </a:p>
          </p:txBody>
        </p:sp>
        <p:sp>
          <p:nvSpPr>
            <p:cNvPr id="37" name="TextBox 36">
              <a:extLst>
                <a:ext uri="{FF2B5EF4-FFF2-40B4-BE49-F238E27FC236}">
                  <a16:creationId xmlns:a16="http://schemas.microsoft.com/office/drawing/2014/main" id="{E53578DB-89E5-82E4-143F-0D41D9571E45}"/>
                </a:ext>
              </a:extLst>
            </p:cNvPr>
            <p:cNvSpPr txBox="1"/>
            <p:nvPr/>
          </p:nvSpPr>
          <p:spPr>
            <a:xfrm>
              <a:off x="2479624" y="1873270"/>
              <a:ext cx="721828" cy="461665"/>
            </a:xfrm>
            <a:prstGeom prst="rect">
              <a:avLst/>
            </a:prstGeom>
            <a:noFill/>
          </p:spPr>
          <p:txBody>
            <a:bodyPr wrap="square" rtlCol="0">
              <a:spAutoFit/>
            </a:bodyPr>
            <a:lstStyle/>
            <a:p>
              <a:r>
                <a:rPr lang="en-US" sz="2400" b="1" dirty="0"/>
                <a:t>1</a:t>
              </a:r>
            </a:p>
          </p:txBody>
        </p:sp>
        <p:sp>
          <p:nvSpPr>
            <p:cNvPr id="38" name="TextBox 37">
              <a:extLst>
                <a:ext uri="{FF2B5EF4-FFF2-40B4-BE49-F238E27FC236}">
                  <a16:creationId xmlns:a16="http://schemas.microsoft.com/office/drawing/2014/main" id="{F8C5F594-E78E-847A-A43C-84159A9DEDA1}"/>
                </a:ext>
              </a:extLst>
            </p:cNvPr>
            <p:cNvSpPr txBox="1"/>
            <p:nvPr/>
          </p:nvSpPr>
          <p:spPr>
            <a:xfrm>
              <a:off x="2502207" y="2717555"/>
              <a:ext cx="721828" cy="461665"/>
            </a:xfrm>
            <a:prstGeom prst="rect">
              <a:avLst/>
            </a:prstGeom>
            <a:noFill/>
          </p:spPr>
          <p:txBody>
            <a:bodyPr wrap="square" rtlCol="0">
              <a:spAutoFit/>
            </a:bodyPr>
            <a:lstStyle/>
            <a:p>
              <a:r>
                <a:rPr lang="en-US" sz="2400" b="1" dirty="0"/>
                <a:t>0</a:t>
              </a:r>
            </a:p>
          </p:txBody>
        </p:sp>
      </p:grpSp>
      <p:cxnSp>
        <p:nvCxnSpPr>
          <p:cNvPr id="46" name="Straight Connector 45">
            <a:extLst>
              <a:ext uri="{FF2B5EF4-FFF2-40B4-BE49-F238E27FC236}">
                <a16:creationId xmlns:a16="http://schemas.microsoft.com/office/drawing/2014/main" id="{3AFEBA7B-A487-281C-6FD2-2E3C6A4A3EF4}"/>
              </a:ext>
            </a:extLst>
          </p:cNvPr>
          <p:cNvCxnSpPr/>
          <p:nvPr/>
        </p:nvCxnSpPr>
        <p:spPr>
          <a:xfrm>
            <a:off x="7344329" y="914516"/>
            <a:ext cx="0" cy="2362200"/>
          </a:xfrm>
          <a:prstGeom prst="line">
            <a:avLst/>
          </a:prstGeom>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9038537C-54D5-86BE-2EF4-43F8C0895D24}"/>
              </a:ext>
            </a:extLst>
          </p:cNvPr>
          <p:cNvSpPr txBox="1"/>
          <p:nvPr/>
        </p:nvSpPr>
        <p:spPr>
          <a:xfrm>
            <a:off x="7397579" y="1035601"/>
            <a:ext cx="1229975" cy="830997"/>
          </a:xfrm>
          <a:prstGeom prst="rect">
            <a:avLst/>
          </a:prstGeom>
          <a:noFill/>
        </p:spPr>
        <p:txBody>
          <a:bodyPr wrap="square" rtlCol="0">
            <a:spAutoFit/>
          </a:bodyPr>
          <a:lstStyle/>
          <a:p>
            <a:r>
              <a:rPr lang="en-US" sz="2400" b="1" dirty="0"/>
              <a:t>Waiting Time</a:t>
            </a:r>
          </a:p>
        </p:txBody>
      </p:sp>
      <p:sp>
        <p:nvSpPr>
          <p:cNvPr id="49" name="TextBox 48">
            <a:extLst>
              <a:ext uri="{FF2B5EF4-FFF2-40B4-BE49-F238E27FC236}">
                <a16:creationId xmlns:a16="http://schemas.microsoft.com/office/drawing/2014/main" id="{F9435AB1-B376-0ECC-76EF-DA479ABDD2E7}"/>
              </a:ext>
            </a:extLst>
          </p:cNvPr>
          <p:cNvSpPr txBox="1"/>
          <p:nvPr/>
        </p:nvSpPr>
        <p:spPr>
          <a:xfrm>
            <a:off x="7264801" y="2833147"/>
            <a:ext cx="1630359" cy="461665"/>
          </a:xfrm>
          <a:prstGeom prst="rect">
            <a:avLst/>
          </a:prstGeom>
          <a:noFill/>
        </p:spPr>
        <p:txBody>
          <a:bodyPr wrap="square" lIns="91440" tIns="45720" rIns="91440" bIns="45720" rtlCol="0" anchor="t">
            <a:spAutoFit/>
          </a:bodyPr>
          <a:lstStyle/>
          <a:p>
            <a:r>
              <a:rPr lang="en-US" sz="2400" b="1" dirty="0"/>
              <a:t>32 – 32 = 0</a:t>
            </a:r>
          </a:p>
        </p:txBody>
      </p:sp>
      <p:sp>
        <p:nvSpPr>
          <p:cNvPr id="51" name="TextBox 50">
            <a:extLst>
              <a:ext uri="{FF2B5EF4-FFF2-40B4-BE49-F238E27FC236}">
                <a16:creationId xmlns:a16="http://schemas.microsoft.com/office/drawing/2014/main" id="{34DE6E65-FD70-CA72-B2AF-E4CD3D5A6FC8}"/>
              </a:ext>
            </a:extLst>
          </p:cNvPr>
          <p:cNvSpPr txBox="1"/>
          <p:nvPr/>
        </p:nvSpPr>
        <p:spPr>
          <a:xfrm>
            <a:off x="7386819" y="2416975"/>
            <a:ext cx="1630359" cy="461665"/>
          </a:xfrm>
          <a:prstGeom prst="rect">
            <a:avLst/>
          </a:prstGeom>
          <a:noFill/>
        </p:spPr>
        <p:txBody>
          <a:bodyPr wrap="square" lIns="91440" tIns="45720" rIns="91440" bIns="45720" rtlCol="0" anchor="t">
            <a:spAutoFit/>
          </a:bodyPr>
          <a:lstStyle/>
          <a:p>
            <a:r>
              <a:rPr lang="en-US" sz="2400" b="1" dirty="0"/>
              <a:t>43 – 5 = 38</a:t>
            </a:r>
          </a:p>
        </p:txBody>
      </p:sp>
      <p:sp>
        <p:nvSpPr>
          <p:cNvPr id="53" name="TextBox 52">
            <a:extLst>
              <a:ext uri="{FF2B5EF4-FFF2-40B4-BE49-F238E27FC236}">
                <a16:creationId xmlns:a16="http://schemas.microsoft.com/office/drawing/2014/main" id="{B57E0BC7-A326-0110-2816-6E2F9D2B5C9A}"/>
              </a:ext>
            </a:extLst>
          </p:cNvPr>
          <p:cNvSpPr txBox="1"/>
          <p:nvPr/>
        </p:nvSpPr>
        <p:spPr>
          <a:xfrm>
            <a:off x="7397579" y="1925514"/>
            <a:ext cx="1630359" cy="461665"/>
          </a:xfrm>
          <a:prstGeom prst="rect">
            <a:avLst/>
          </a:prstGeom>
          <a:noFill/>
        </p:spPr>
        <p:txBody>
          <a:bodyPr wrap="square" lIns="91440" tIns="45720" rIns="91440" bIns="45720" rtlCol="0" anchor="t">
            <a:spAutoFit/>
          </a:bodyPr>
          <a:lstStyle/>
          <a:p>
            <a:r>
              <a:rPr lang="en-US" sz="2400" b="1" dirty="0"/>
              <a:t>39 – 8 = 31</a:t>
            </a:r>
          </a:p>
        </p:txBody>
      </p:sp>
      <p:grpSp>
        <p:nvGrpSpPr>
          <p:cNvPr id="16" name="Group 15">
            <a:extLst>
              <a:ext uri="{FF2B5EF4-FFF2-40B4-BE49-F238E27FC236}">
                <a16:creationId xmlns:a16="http://schemas.microsoft.com/office/drawing/2014/main" id="{111EC768-A882-08B0-AD9F-BBFBE37575D9}"/>
              </a:ext>
            </a:extLst>
          </p:cNvPr>
          <p:cNvGrpSpPr/>
          <p:nvPr/>
        </p:nvGrpSpPr>
        <p:grpSpPr>
          <a:xfrm>
            <a:off x="1112728" y="4032156"/>
            <a:ext cx="7223585" cy="1072443"/>
            <a:chOff x="956846" y="3637999"/>
            <a:chExt cx="7223585" cy="1072443"/>
          </a:xfrm>
        </p:grpSpPr>
        <p:sp>
          <p:nvSpPr>
            <p:cNvPr id="8" name="Rectangle 7">
              <a:extLst>
                <a:ext uri="{FF2B5EF4-FFF2-40B4-BE49-F238E27FC236}">
                  <a16:creationId xmlns:a16="http://schemas.microsoft.com/office/drawing/2014/main" id="{9A9A1ABD-A31C-E29D-A4CC-F8CD6F838856}"/>
                </a:ext>
              </a:extLst>
            </p:cNvPr>
            <p:cNvSpPr/>
            <p:nvPr/>
          </p:nvSpPr>
          <p:spPr>
            <a:xfrm>
              <a:off x="1106972" y="3657600"/>
              <a:ext cx="7073459" cy="54557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2800" dirty="0">
                  <a:solidFill>
                    <a:schemeClr val="tx1"/>
                  </a:solidFill>
                </a:rPr>
                <a:t>P1</a:t>
              </a:r>
            </a:p>
          </p:txBody>
        </p:sp>
        <p:sp>
          <p:nvSpPr>
            <p:cNvPr id="9" name="TextBox 8">
              <a:extLst>
                <a:ext uri="{FF2B5EF4-FFF2-40B4-BE49-F238E27FC236}">
                  <a16:creationId xmlns:a16="http://schemas.microsoft.com/office/drawing/2014/main" id="{6C31016C-E7C4-8A24-FA89-98CDACE17BD1}"/>
                </a:ext>
              </a:extLst>
            </p:cNvPr>
            <p:cNvSpPr txBox="1"/>
            <p:nvPr/>
          </p:nvSpPr>
          <p:spPr>
            <a:xfrm>
              <a:off x="956846" y="4203173"/>
              <a:ext cx="427832" cy="461665"/>
            </a:xfrm>
            <a:prstGeom prst="rect">
              <a:avLst/>
            </a:prstGeom>
            <a:noFill/>
          </p:spPr>
          <p:txBody>
            <a:bodyPr wrap="square" rtlCol="0">
              <a:spAutoFit/>
            </a:bodyPr>
            <a:lstStyle/>
            <a:p>
              <a:r>
                <a:rPr lang="en-US" sz="2400" b="1" dirty="0"/>
                <a:t>0</a:t>
              </a:r>
            </a:p>
          </p:txBody>
        </p:sp>
        <p:sp>
          <p:nvSpPr>
            <p:cNvPr id="10" name="TextBox 9">
              <a:extLst>
                <a:ext uri="{FF2B5EF4-FFF2-40B4-BE49-F238E27FC236}">
                  <a16:creationId xmlns:a16="http://schemas.microsoft.com/office/drawing/2014/main" id="{01DDAAA0-1DE6-E9AC-6B15-F19CEA718F47}"/>
                </a:ext>
              </a:extLst>
            </p:cNvPr>
            <p:cNvSpPr txBox="1"/>
            <p:nvPr/>
          </p:nvSpPr>
          <p:spPr>
            <a:xfrm>
              <a:off x="6324341" y="4248777"/>
              <a:ext cx="581564" cy="461665"/>
            </a:xfrm>
            <a:prstGeom prst="rect">
              <a:avLst/>
            </a:prstGeom>
            <a:noFill/>
          </p:spPr>
          <p:txBody>
            <a:bodyPr wrap="square" lIns="91440" tIns="45720" rIns="91440" bIns="45720" rtlCol="0" anchor="t">
              <a:spAutoFit/>
            </a:bodyPr>
            <a:lstStyle/>
            <a:p>
              <a:r>
                <a:rPr lang="en-US" sz="2400" b="1" dirty="0"/>
                <a:t>40</a:t>
              </a:r>
            </a:p>
          </p:txBody>
        </p:sp>
        <p:cxnSp>
          <p:nvCxnSpPr>
            <p:cNvPr id="11" name="Straight Connector 10">
              <a:extLst>
                <a:ext uri="{FF2B5EF4-FFF2-40B4-BE49-F238E27FC236}">
                  <a16:creationId xmlns:a16="http://schemas.microsoft.com/office/drawing/2014/main" id="{0AFD7731-AAA7-172F-0CDF-E8FAC7001B87}"/>
                </a:ext>
              </a:extLst>
            </p:cNvPr>
            <p:cNvCxnSpPr/>
            <p:nvPr/>
          </p:nvCxnSpPr>
          <p:spPr>
            <a:xfrm>
              <a:off x="6498010" y="3664117"/>
              <a:ext cx="0" cy="5397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9E71AF4-2C7C-C517-C2A5-99CFA26B686F}"/>
                </a:ext>
              </a:extLst>
            </p:cNvPr>
            <p:cNvSpPr txBox="1"/>
            <p:nvPr/>
          </p:nvSpPr>
          <p:spPr>
            <a:xfrm>
              <a:off x="4849322" y="3680969"/>
              <a:ext cx="914400" cy="523220"/>
            </a:xfrm>
            <a:prstGeom prst="rect">
              <a:avLst/>
            </a:prstGeom>
            <a:noFill/>
          </p:spPr>
          <p:txBody>
            <a:bodyPr wrap="square" lIns="91440" tIns="45720" rIns="91440" bIns="45720" rtlCol="0" anchor="t">
              <a:spAutoFit/>
            </a:bodyPr>
            <a:lstStyle/>
            <a:p>
              <a:r>
                <a:rPr lang="en-US" sz="2800" dirty="0"/>
                <a:t>P2</a:t>
              </a:r>
            </a:p>
          </p:txBody>
        </p:sp>
        <p:cxnSp>
          <p:nvCxnSpPr>
            <p:cNvPr id="13" name="Straight Connector 12">
              <a:extLst>
                <a:ext uri="{FF2B5EF4-FFF2-40B4-BE49-F238E27FC236}">
                  <a16:creationId xmlns:a16="http://schemas.microsoft.com/office/drawing/2014/main" id="{1321B92E-EDA2-DEF7-A22A-D5B48BABD923}"/>
                </a:ext>
              </a:extLst>
            </p:cNvPr>
            <p:cNvCxnSpPr/>
            <p:nvPr/>
          </p:nvCxnSpPr>
          <p:spPr>
            <a:xfrm>
              <a:off x="4371496" y="3637999"/>
              <a:ext cx="0" cy="5651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EE31693-018F-32CA-C305-4C4FD59518B0}"/>
                </a:ext>
              </a:extLst>
            </p:cNvPr>
            <p:cNvSpPr txBox="1"/>
            <p:nvPr/>
          </p:nvSpPr>
          <p:spPr>
            <a:xfrm>
              <a:off x="6707381" y="3716963"/>
              <a:ext cx="838199" cy="523220"/>
            </a:xfrm>
            <a:prstGeom prst="rect">
              <a:avLst/>
            </a:prstGeom>
            <a:noFill/>
          </p:spPr>
          <p:txBody>
            <a:bodyPr wrap="square" lIns="91440" tIns="45720" rIns="91440" bIns="45720" rtlCol="0" anchor="t">
              <a:spAutoFit/>
            </a:bodyPr>
            <a:lstStyle/>
            <a:p>
              <a:r>
                <a:rPr lang="en-US" sz="2800" dirty="0"/>
                <a:t>P3</a:t>
              </a:r>
            </a:p>
          </p:txBody>
        </p:sp>
        <p:sp>
          <p:nvSpPr>
            <p:cNvPr id="15" name="TextBox 14">
              <a:extLst>
                <a:ext uri="{FF2B5EF4-FFF2-40B4-BE49-F238E27FC236}">
                  <a16:creationId xmlns:a16="http://schemas.microsoft.com/office/drawing/2014/main" id="{03B848F6-03E3-1C3E-7840-3F3F5A16F780}"/>
                </a:ext>
              </a:extLst>
            </p:cNvPr>
            <p:cNvSpPr txBox="1"/>
            <p:nvPr/>
          </p:nvSpPr>
          <p:spPr>
            <a:xfrm>
              <a:off x="4233382" y="4214180"/>
              <a:ext cx="581564" cy="461665"/>
            </a:xfrm>
            <a:prstGeom prst="rect">
              <a:avLst/>
            </a:prstGeom>
            <a:noFill/>
          </p:spPr>
          <p:txBody>
            <a:bodyPr wrap="square" lIns="91440" tIns="45720" rIns="91440" bIns="45720" rtlCol="0" anchor="t">
              <a:spAutoFit/>
            </a:bodyPr>
            <a:lstStyle/>
            <a:p>
              <a:r>
                <a:rPr lang="en-US" sz="2400" b="1" dirty="0"/>
                <a:t>32</a:t>
              </a:r>
            </a:p>
          </p:txBody>
        </p:sp>
      </p:grpSp>
      <p:sp>
        <p:nvSpPr>
          <p:cNvPr id="18" name="TextBox 17">
            <a:extLst>
              <a:ext uri="{FF2B5EF4-FFF2-40B4-BE49-F238E27FC236}">
                <a16:creationId xmlns:a16="http://schemas.microsoft.com/office/drawing/2014/main" id="{3FBC0F55-50E9-E756-88A8-5979300FB90D}"/>
              </a:ext>
            </a:extLst>
          </p:cNvPr>
          <p:cNvSpPr txBox="1"/>
          <p:nvPr/>
        </p:nvSpPr>
        <p:spPr>
          <a:xfrm>
            <a:off x="7973285" y="4640642"/>
            <a:ext cx="581564" cy="461665"/>
          </a:xfrm>
          <a:prstGeom prst="rect">
            <a:avLst/>
          </a:prstGeom>
          <a:noFill/>
        </p:spPr>
        <p:txBody>
          <a:bodyPr wrap="square" lIns="91440" tIns="45720" rIns="91440" bIns="45720" rtlCol="0" anchor="t">
            <a:spAutoFit/>
          </a:bodyPr>
          <a:lstStyle/>
          <a:p>
            <a:r>
              <a:rPr lang="en-US" sz="2400" b="1" dirty="0"/>
              <a:t>45</a:t>
            </a:r>
          </a:p>
        </p:txBody>
      </p:sp>
      <p:sp>
        <p:nvSpPr>
          <p:cNvPr id="20" name="TextBox 19">
            <a:extLst>
              <a:ext uri="{FF2B5EF4-FFF2-40B4-BE49-F238E27FC236}">
                <a16:creationId xmlns:a16="http://schemas.microsoft.com/office/drawing/2014/main" id="{89B9181D-6442-F0C1-3651-04DA2A619011}"/>
              </a:ext>
            </a:extLst>
          </p:cNvPr>
          <p:cNvSpPr txBox="1"/>
          <p:nvPr/>
        </p:nvSpPr>
        <p:spPr>
          <a:xfrm>
            <a:off x="5294825" y="1930661"/>
            <a:ext cx="1649711" cy="461665"/>
          </a:xfrm>
          <a:prstGeom prst="rect">
            <a:avLst/>
          </a:prstGeom>
          <a:noFill/>
        </p:spPr>
        <p:txBody>
          <a:bodyPr wrap="square" lIns="91440" tIns="45720" rIns="91440" bIns="45720" rtlCol="0" anchor="t">
            <a:spAutoFit/>
          </a:bodyPr>
          <a:lstStyle/>
          <a:p>
            <a:r>
              <a:rPr lang="en-US" sz="2400" b="1" dirty="0"/>
              <a:t>40– 1 = 39</a:t>
            </a:r>
          </a:p>
        </p:txBody>
      </p:sp>
      <p:sp>
        <p:nvSpPr>
          <p:cNvPr id="44" name="TextBox 43">
            <a:extLst>
              <a:ext uri="{FF2B5EF4-FFF2-40B4-BE49-F238E27FC236}">
                <a16:creationId xmlns:a16="http://schemas.microsoft.com/office/drawing/2014/main" id="{49E461ED-DA13-1251-4098-09B919E7C05A}"/>
              </a:ext>
            </a:extLst>
          </p:cNvPr>
          <p:cNvSpPr txBox="1"/>
          <p:nvPr/>
        </p:nvSpPr>
        <p:spPr>
          <a:xfrm>
            <a:off x="5294825" y="2381558"/>
            <a:ext cx="1916125" cy="461665"/>
          </a:xfrm>
          <a:prstGeom prst="rect">
            <a:avLst/>
          </a:prstGeom>
          <a:noFill/>
        </p:spPr>
        <p:txBody>
          <a:bodyPr wrap="square" lIns="91440" tIns="45720" rIns="91440" bIns="45720" rtlCol="0" anchor="t">
            <a:spAutoFit/>
          </a:bodyPr>
          <a:lstStyle/>
          <a:p>
            <a:r>
              <a:rPr lang="en-US" sz="2400" b="1" dirty="0"/>
              <a:t>45 – 2 = 43</a:t>
            </a:r>
          </a:p>
        </p:txBody>
      </p:sp>
      <p:sp>
        <p:nvSpPr>
          <p:cNvPr id="50" name="TextBox 49">
            <a:extLst>
              <a:ext uri="{FF2B5EF4-FFF2-40B4-BE49-F238E27FC236}">
                <a16:creationId xmlns:a16="http://schemas.microsoft.com/office/drawing/2014/main" id="{5D6C3594-1CF5-00CE-90BC-B0F737B892A3}"/>
              </a:ext>
            </a:extLst>
          </p:cNvPr>
          <p:cNvSpPr txBox="1"/>
          <p:nvPr/>
        </p:nvSpPr>
        <p:spPr>
          <a:xfrm>
            <a:off x="5294825" y="2841050"/>
            <a:ext cx="1770027" cy="461665"/>
          </a:xfrm>
          <a:prstGeom prst="rect">
            <a:avLst/>
          </a:prstGeom>
          <a:noFill/>
        </p:spPr>
        <p:txBody>
          <a:bodyPr wrap="square" lIns="91440" tIns="45720" rIns="91440" bIns="45720" rtlCol="0" anchor="t">
            <a:spAutoFit/>
          </a:bodyPr>
          <a:lstStyle/>
          <a:p>
            <a:r>
              <a:rPr lang="en-US" sz="2400" b="1" dirty="0"/>
              <a:t>32 – 0 = 32</a:t>
            </a:r>
          </a:p>
        </p:txBody>
      </p:sp>
      <p:sp>
        <p:nvSpPr>
          <p:cNvPr id="17" name="Slide Number Placeholder 16">
            <a:extLst>
              <a:ext uri="{FF2B5EF4-FFF2-40B4-BE49-F238E27FC236}">
                <a16:creationId xmlns:a16="http://schemas.microsoft.com/office/drawing/2014/main" id="{7649B9C4-E9C7-3D5A-1A1C-77BB38B95C24}"/>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271008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4DF0B-1ED8-9F92-967F-68203EB9FE74}"/>
              </a:ext>
            </a:extLst>
          </p:cNvPr>
          <p:cNvSpPr>
            <a:spLocks noGrp="1"/>
          </p:cNvSpPr>
          <p:nvPr>
            <p:ph type="title"/>
          </p:nvPr>
        </p:nvSpPr>
        <p:spPr/>
        <p:txBody>
          <a:bodyPr/>
          <a:lstStyle/>
          <a:p>
            <a:r>
              <a:rPr lang="en-US" dirty="0">
                <a:ln>
                  <a:noFill/>
                </a:ln>
                <a:effectLst/>
              </a:rPr>
              <a:t>First-Come, First-Serve (FCFS)</a:t>
            </a:r>
            <a:endParaRPr lang="en-US" dirty="0"/>
          </a:p>
        </p:txBody>
      </p:sp>
      <p:sp>
        <p:nvSpPr>
          <p:cNvPr id="3" name="Content Placeholder 2">
            <a:extLst>
              <a:ext uri="{FF2B5EF4-FFF2-40B4-BE49-F238E27FC236}">
                <a16:creationId xmlns:a16="http://schemas.microsoft.com/office/drawing/2014/main" id="{6DBDE55A-9B4C-003B-6BC6-1EAB448849B4}"/>
              </a:ext>
            </a:extLst>
          </p:cNvPr>
          <p:cNvSpPr>
            <a:spLocks noGrp="1"/>
          </p:cNvSpPr>
          <p:nvPr>
            <p:ph idx="1"/>
          </p:nvPr>
        </p:nvSpPr>
        <p:spPr/>
        <p:txBody>
          <a:bodyPr>
            <a:normAutofit lnSpcReduction="10000"/>
          </a:bodyPr>
          <a:lstStyle/>
          <a:p>
            <a:r>
              <a:rPr lang="en-US" dirty="0"/>
              <a:t>Examples demonstrated the average waiting time for process to be scheduled by the CPU vary depending upon the order in which they arrive</a:t>
            </a:r>
          </a:p>
          <a:p>
            <a:r>
              <a:rPr lang="en-US" dirty="0"/>
              <a:t>Once a process has taken the entire CPU it keeps it unless the CPU is released</a:t>
            </a:r>
          </a:p>
          <a:p>
            <a:pPr lvl="1"/>
            <a:r>
              <a:rPr lang="en-US" dirty="0"/>
              <a:t>Can be accomplished by terminating or requesting I/O</a:t>
            </a:r>
          </a:p>
          <a:p>
            <a:r>
              <a:rPr lang="en-US" dirty="0"/>
              <a:t>Cannot be used by time-sharing systems that requires CPU usage at regular intervals of time</a:t>
            </a:r>
          </a:p>
        </p:txBody>
      </p:sp>
      <p:sp>
        <p:nvSpPr>
          <p:cNvPr id="8" name="Slide Number Placeholder 7">
            <a:extLst>
              <a:ext uri="{FF2B5EF4-FFF2-40B4-BE49-F238E27FC236}">
                <a16:creationId xmlns:a16="http://schemas.microsoft.com/office/drawing/2014/main" id="{0E991E9C-3A37-D00E-6D60-E5938804B446}"/>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35239050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54632"/>
            <a:ext cx="7704667" cy="1066799"/>
          </a:xfrm>
        </p:spPr>
        <p:txBody>
          <a:bodyPr>
            <a:normAutofit/>
          </a:bodyPr>
          <a:lstStyle/>
          <a:p>
            <a:r>
              <a:rPr lang="en-US" sz="4000" dirty="0">
                <a:ln>
                  <a:noFill/>
                </a:ln>
                <a:effectLst/>
              </a:rPr>
              <a:t>First-Come, First-Serve (FCFS)</a:t>
            </a:r>
          </a:p>
        </p:txBody>
      </p:sp>
      <p:sp>
        <p:nvSpPr>
          <p:cNvPr id="31" name="Content Placeholder 5"/>
          <p:cNvSpPr>
            <a:spLocks noGrp="1"/>
          </p:cNvSpPr>
          <p:nvPr>
            <p:ph sz="quarter" idx="1"/>
          </p:nvPr>
        </p:nvSpPr>
        <p:spPr>
          <a:xfrm>
            <a:off x="457200" y="1219200"/>
            <a:ext cx="8229600" cy="5029200"/>
          </a:xfrm>
        </p:spPr>
        <p:txBody>
          <a:bodyPr>
            <a:normAutofit/>
          </a:bodyPr>
          <a:lstStyle/>
          <a:p>
            <a:pPr marL="274320" lvl="1">
              <a:spcBef>
                <a:spcPts val="600"/>
              </a:spcBef>
              <a:buClr>
                <a:schemeClr val="accent1"/>
              </a:buClr>
              <a:buSzPct val="100000"/>
              <a:buFont typeface="Arial" pitchFamily="34" charset="0"/>
              <a:buChar char="•"/>
            </a:pPr>
            <a:r>
              <a:rPr lang="en-US" sz="2400" dirty="0">
                <a:solidFill>
                  <a:srgbClr val="000000"/>
                </a:solidFill>
              </a:rPr>
              <a:t>CPU schedules the task that arrived earliest, </a:t>
            </a:r>
            <a:r>
              <a:rPr lang="en-US" dirty="0">
                <a:solidFill>
                  <a:srgbClr val="000000"/>
                </a:solidFill>
              </a:rPr>
              <a:t>non-preemptive</a:t>
            </a:r>
          </a:p>
          <a:p>
            <a:pPr>
              <a:buNone/>
            </a:pPr>
            <a:endParaRPr lang="en-US" sz="2400" dirty="0">
              <a:solidFill>
                <a:srgbClr val="000000"/>
              </a:solidFill>
            </a:endParaRPr>
          </a:p>
          <a:p>
            <a:pPr lvl="2"/>
            <a:endParaRPr lang="en-US" dirty="0">
              <a:solidFill>
                <a:srgbClr val="000000"/>
              </a:solidFill>
            </a:endParaRPr>
          </a:p>
          <a:p>
            <a:endParaRPr lang="en-US" dirty="0">
              <a:solidFill>
                <a:srgbClr val="000000"/>
              </a:solidFill>
            </a:endParaRPr>
          </a:p>
        </p:txBody>
      </p:sp>
      <p:sp>
        <p:nvSpPr>
          <p:cNvPr id="8" name="Rectangle 38"/>
          <p:cNvSpPr>
            <a:spLocks noChangeArrowheads="1"/>
          </p:cNvSpPr>
          <p:nvPr/>
        </p:nvSpPr>
        <p:spPr bwMode="auto">
          <a:xfrm>
            <a:off x="2672556" y="928618"/>
            <a:ext cx="6694487" cy="1752600"/>
          </a:xfrm>
          <a:prstGeom prst="rect">
            <a:avLst/>
          </a:prstGeom>
          <a:noFill/>
          <a:ln w="9525">
            <a:noFill/>
            <a:miter lim="800000"/>
            <a:headEnd/>
            <a:tailEnd/>
          </a:ln>
        </p:spPr>
        <p:txBody>
          <a:bodyPr lIns="86486" tIns="43243" rIns="86486" bIns="43243"/>
          <a:lstStyle/>
          <a:p>
            <a:pPr marL="323850" indent="-323850" defTabSz="865188">
              <a:spcBef>
                <a:spcPct val="20000"/>
              </a:spcBef>
              <a:tabLst>
                <a:tab pos="1516063" algn="ctr"/>
                <a:tab pos="3078163" algn="ctr"/>
                <a:tab pos="4865688" algn="ctr"/>
              </a:tabLst>
            </a:pPr>
            <a:r>
              <a:rPr lang="en-US" sz="2300" dirty="0">
                <a:solidFill>
                  <a:schemeClr val="accent2"/>
                </a:solidFill>
                <a:latin typeface="Arial Narrow" pitchFamily="34" charset="0"/>
              </a:rPr>
              <a:t>		</a:t>
            </a:r>
            <a:r>
              <a:rPr lang="en-US" u="sng" dirty="0"/>
              <a:t>Process</a:t>
            </a:r>
            <a:r>
              <a:rPr lang="en-US" dirty="0"/>
              <a:t>	</a:t>
            </a:r>
            <a:r>
              <a:rPr lang="en-US" u="sng" dirty="0"/>
              <a:t>Arrival Time</a:t>
            </a:r>
            <a:r>
              <a:rPr lang="en-US" dirty="0"/>
              <a:t>	</a:t>
            </a:r>
            <a:r>
              <a:rPr lang="en-US" u="sng" dirty="0"/>
              <a:t>Burst Time</a:t>
            </a:r>
            <a:endParaRPr lang="en-US" dirty="0"/>
          </a:p>
          <a:p>
            <a:pPr marL="323850" indent="-323850" defTabSz="865188">
              <a:spcBef>
                <a:spcPct val="20000"/>
              </a:spcBef>
              <a:tabLst>
                <a:tab pos="1516063" algn="ctr"/>
                <a:tab pos="3078163" algn="ctr"/>
                <a:tab pos="4865688" algn="ctr"/>
              </a:tabLst>
            </a:pPr>
            <a:r>
              <a:rPr lang="en-US" dirty="0"/>
              <a:t>		</a:t>
            </a:r>
            <a:r>
              <a:rPr lang="en-US" i="1" dirty="0">
                <a:solidFill>
                  <a:srgbClr val="FF0000"/>
                </a:solidFill>
              </a:rPr>
              <a:t>P</a:t>
            </a:r>
            <a:r>
              <a:rPr lang="en-US" i="1" baseline="-25000" dirty="0">
                <a:solidFill>
                  <a:srgbClr val="FF0000"/>
                </a:solidFill>
              </a:rPr>
              <a:t>1</a:t>
            </a:r>
            <a:r>
              <a:rPr lang="en-US" dirty="0"/>
              <a:t>	0	8</a:t>
            </a:r>
          </a:p>
          <a:p>
            <a:pPr marL="323850" indent="-323850" defTabSz="865188">
              <a:spcBef>
                <a:spcPct val="20000"/>
              </a:spcBef>
              <a:tabLst>
                <a:tab pos="1516063" algn="ctr"/>
                <a:tab pos="3078163" algn="ctr"/>
                <a:tab pos="4865688" algn="ctr"/>
              </a:tabLst>
            </a:pPr>
            <a:r>
              <a:rPr lang="en-US" dirty="0"/>
              <a:t>		 </a:t>
            </a:r>
            <a:r>
              <a:rPr lang="en-US" i="1" dirty="0">
                <a:solidFill>
                  <a:srgbClr val="00B050"/>
                </a:solidFill>
              </a:rPr>
              <a:t>P</a:t>
            </a:r>
            <a:r>
              <a:rPr lang="en-US" i="1" baseline="-25000" dirty="0">
                <a:solidFill>
                  <a:srgbClr val="00B050"/>
                </a:solidFill>
              </a:rPr>
              <a:t>2</a:t>
            </a:r>
            <a:r>
              <a:rPr lang="en-US" i="1" baseline="-25000" dirty="0"/>
              <a:t>	</a:t>
            </a:r>
            <a:r>
              <a:rPr lang="en-US" dirty="0"/>
              <a:t>1	4</a:t>
            </a:r>
          </a:p>
          <a:p>
            <a:pPr marL="323850" indent="-323850" defTabSz="865188">
              <a:spcBef>
                <a:spcPct val="20000"/>
              </a:spcBef>
              <a:tabLst>
                <a:tab pos="1516063" algn="ctr"/>
                <a:tab pos="3078163" algn="ctr"/>
                <a:tab pos="4865688" algn="ctr"/>
              </a:tabLst>
            </a:pPr>
            <a:r>
              <a:rPr lang="en-US" dirty="0"/>
              <a:t>		 </a:t>
            </a:r>
            <a:r>
              <a:rPr lang="en-US" i="1" dirty="0">
                <a:solidFill>
                  <a:srgbClr val="0070C0"/>
                </a:solidFill>
              </a:rPr>
              <a:t>P</a:t>
            </a:r>
            <a:r>
              <a:rPr lang="en-US" i="1" baseline="-25000" dirty="0">
                <a:solidFill>
                  <a:srgbClr val="0070C0"/>
                </a:solidFill>
              </a:rPr>
              <a:t>3</a:t>
            </a:r>
            <a:r>
              <a:rPr lang="en-US" dirty="0"/>
              <a:t>	2	9</a:t>
            </a:r>
          </a:p>
          <a:p>
            <a:pPr marL="323850" indent="-323850" defTabSz="865188">
              <a:spcBef>
                <a:spcPct val="20000"/>
              </a:spcBef>
              <a:tabLst>
                <a:tab pos="1516063" algn="ctr"/>
                <a:tab pos="3078163" algn="ctr"/>
                <a:tab pos="4865688" algn="ctr"/>
              </a:tabLst>
            </a:pPr>
            <a:r>
              <a:rPr lang="en-US" dirty="0"/>
              <a:t>		 </a:t>
            </a:r>
            <a:r>
              <a:rPr lang="en-US" i="1" dirty="0">
                <a:solidFill>
                  <a:srgbClr val="7030A0"/>
                </a:solidFill>
              </a:rPr>
              <a:t>P</a:t>
            </a:r>
            <a:r>
              <a:rPr lang="en-US" i="1" baseline="-25000" dirty="0">
                <a:solidFill>
                  <a:srgbClr val="7030A0"/>
                </a:solidFill>
              </a:rPr>
              <a:t>4</a:t>
            </a:r>
            <a:r>
              <a:rPr lang="en-US" dirty="0"/>
              <a:t>	3	5</a:t>
            </a:r>
          </a:p>
        </p:txBody>
      </p:sp>
      <p:sp>
        <p:nvSpPr>
          <p:cNvPr id="20" name="Text Box 15"/>
          <p:cNvSpPr txBox="1">
            <a:spLocks noChangeArrowheads="1"/>
          </p:cNvSpPr>
          <p:nvPr/>
        </p:nvSpPr>
        <p:spPr bwMode="auto">
          <a:xfrm>
            <a:off x="6858000" y="4038600"/>
            <a:ext cx="381000" cy="304800"/>
          </a:xfrm>
          <a:prstGeom prst="rect">
            <a:avLst/>
          </a:prstGeom>
          <a:noFill/>
          <a:ln w="9525">
            <a:noFill/>
            <a:miter lim="800000"/>
            <a:headEnd/>
            <a:tailEnd/>
          </a:ln>
          <a:effectLst/>
        </p:spPr>
        <p:txBody>
          <a:bodyPr wrap="none">
            <a:spAutoFit/>
          </a:bodyPr>
          <a:lstStyle/>
          <a:p>
            <a:r>
              <a:rPr lang="en-US" sz="1400" b="1" dirty="0"/>
              <a:t>26</a:t>
            </a:r>
          </a:p>
        </p:txBody>
      </p:sp>
      <p:sp>
        <p:nvSpPr>
          <p:cNvPr id="16" name="Text Box 11"/>
          <p:cNvSpPr txBox="1">
            <a:spLocks noChangeArrowheads="1"/>
          </p:cNvSpPr>
          <p:nvPr/>
        </p:nvSpPr>
        <p:spPr bwMode="auto">
          <a:xfrm>
            <a:off x="1752600" y="4038600"/>
            <a:ext cx="282575" cy="304800"/>
          </a:xfrm>
          <a:prstGeom prst="rect">
            <a:avLst/>
          </a:prstGeom>
          <a:noFill/>
          <a:ln w="9525">
            <a:noFill/>
            <a:miter lim="800000"/>
            <a:headEnd/>
            <a:tailEnd/>
          </a:ln>
          <a:effectLst/>
        </p:spPr>
        <p:txBody>
          <a:bodyPr wrap="none">
            <a:spAutoFit/>
          </a:bodyPr>
          <a:lstStyle/>
          <a:p>
            <a:r>
              <a:rPr lang="en-US" sz="1400" b="1" dirty="0"/>
              <a:t>0</a:t>
            </a:r>
          </a:p>
        </p:txBody>
      </p:sp>
      <p:sp>
        <p:nvSpPr>
          <p:cNvPr id="17" name="Text Box 12"/>
          <p:cNvSpPr txBox="1">
            <a:spLocks noChangeArrowheads="1"/>
          </p:cNvSpPr>
          <p:nvPr/>
        </p:nvSpPr>
        <p:spPr bwMode="auto">
          <a:xfrm>
            <a:off x="3276600" y="4038600"/>
            <a:ext cx="282575" cy="304800"/>
          </a:xfrm>
          <a:prstGeom prst="rect">
            <a:avLst/>
          </a:prstGeom>
          <a:noFill/>
          <a:ln w="9525">
            <a:noFill/>
            <a:miter lim="800000"/>
            <a:headEnd/>
            <a:tailEnd/>
          </a:ln>
          <a:effectLst/>
        </p:spPr>
        <p:txBody>
          <a:bodyPr wrap="none">
            <a:spAutoFit/>
          </a:bodyPr>
          <a:lstStyle/>
          <a:p>
            <a:r>
              <a:rPr lang="en-US" sz="1400" b="1" dirty="0"/>
              <a:t>8</a:t>
            </a:r>
          </a:p>
        </p:txBody>
      </p:sp>
      <p:sp>
        <p:nvSpPr>
          <p:cNvPr id="18" name="Text Box 13"/>
          <p:cNvSpPr txBox="1">
            <a:spLocks noChangeArrowheads="1"/>
          </p:cNvSpPr>
          <p:nvPr/>
        </p:nvSpPr>
        <p:spPr bwMode="auto">
          <a:xfrm>
            <a:off x="4038600" y="4038600"/>
            <a:ext cx="381000" cy="304800"/>
          </a:xfrm>
          <a:prstGeom prst="rect">
            <a:avLst/>
          </a:prstGeom>
          <a:noFill/>
          <a:ln w="9525">
            <a:noFill/>
            <a:miter lim="800000"/>
            <a:headEnd/>
            <a:tailEnd/>
          </a:ln>
          <a:effectLst/>
        </p:spPr>
        <p:txBody>
          <a:bodyPr wrap="none">
            <a:spAutoFit/>
          </a:bodyPr>
          <a:lstStyle/>
          <a:p>
            <a:r>
              <a:rPr lang="en-US" sz="1400" b="1" dirty="0"/>
              <a:t>12</a:t>
            </a:r>
          </a:p>
        </p:txBody>
      </p:sp>
      <p:sp>
        <p:nvSpPr>
          <p:cNvPr id="19" name="Text Box 14"/>
          <p:cNvSpPr txBox="1">
            <a:spLocks noChangeArrowheads="1"/>
          </p:cNvSpPr>
          <p:nvPr/>
        </p:nvSpPr>
        <p:spPr bwMode="auto">
          <a:xfrm>
            <a:off x="5638800" y="4038600"/>
            <a:ext cx="381000" cy="304800"/>
          </a:xfrm>
          <a:prstGeom prst="rect">
            <a:avLst/>
          </a:prstGeom>
          <a:noFill/>
          <a:ln w="9525">
            <a:noFill/>
            <a:miter lim="800000"/>
            <a:headEnd/>
            <a:tailEnd/>
          </a:ln>
          <a:effectLst/>
        </p:spPr>
        <p:txBody>
          <a:bodyPr wrap="none">
            <a:spAutoFit/>
          </a:bodyPr>
          <a:lstStyle/>
          <a:p>
            <a:r>
              <a:rPr lang="en-US" sz="1400" b="1" dirty="0"/>
              <a:t>21</a:t>
            </a:r>
          </a:p>
        </p:txBody>
      </p:sp>
      <p:grpSp>
        <p:nvGrpSpPr>
          <p:cNvPr id="30" name="Group 29"/>
          <p:cNvGrpSpPr/>
          <p:nvPr/>
        </p:nvGrpSpPr>
        <p:grpSpPr>
          <a:xfrm>
            <a:off x="1905000" y="3733800"/>
            <a:ext cx="5105400" cy="304800"/>
            <a:chOff x="1600200" y="4800600"/>
            <a:chExt cx="5105400" cy="228600"/>
          </a:xfrm>
        </p:grpSpPr>
        <p:sp>
          <p:nvSpPr>
            <p:cNvPr id="26" name="Rectangle 25"/>
            <p:cNvSpPr/>
            <p:nvPr/>
          </p:nvSpPr>
          <p:spPr>
            <a:xfrm>
              <a:off x="1600200" y="4800600"/>
              <a:ext cx="1524000" cy="2286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1</a:t>
              </a:r>
              <a:endParaRPr lang="en-US" b="1" dirty="0">
                <a:solidFill>
                  <a:schemeClr val="bg1"/>
                </a:solidFill>
              </a:endParaRPr>
            </a:p>
          </p:txBody>
        </p:sp>
        <p:sp>
          <p:nvSpPr>
            <p:cNvPr id="27" name="Rectangle 26"/>
            <p:cNvSpPr/>
            <p:nvPr/>
          </p:nvSpPr>
          <p:spPr>
            <a:xfrm>
              <a:off x="3124200" y="4800600"/>
              <a:ext cx="762000" cy="2286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2</a:t>
              </a:r>
              <a:endParaRPr lang="en-US" b="1" dirty="0">
                <a:solidFill>
                  <a:schemeClr val="bg1"/>
                </a:solidFill>
              </a:endParaRPr>
            </a:p>
          </p:txBody>
        </p:sp>
        <p:sp>
          <p:nvSpPr>
            <p:cNvPr id="28" name="Rectangle 27"/>
            <p:cNvSpPr/>
            <p:nvPr/>
          </p:nvSpPr>
          <p:spPr>
            <a:xfrm>
              <a:off x="3886200" y="4800600"/>
              <a:ext cx="1676400" cy="228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3</a:t>
              </a:r>
              <a:endParaRPr lang="en-US" b="1" dirty="0">
                <a:solidFill>
                  <a:schemeClr val="bg1"/>
                </a:solidFill>
              </a:endParaRPr>
            </a:p>
          </p:txBody>
        </p:sp>
        <p:sp>
          <p:nvSpPr>
            <p:cNvPr id="29" name="Rectangle 28"/>
            <p:cNvSpPr/>
            <p:nvPr/>
          </p:nvSpPr>
          <p:spPr>
            <a:xfrm>
              <a:off x="5562600" y="4800600"/>
              <a:ext cx="1143000" cy="2286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4</a:t>
              </a:r>
              <a:endParaRPr lang="en-US" b="1" dirty="0">
                <a:solidFill>
                  <a:schemeClr val="bg1"/>
                </a:solidFill>
              </a:endParaRPr>
            </a:p>
          </p:txBody>
        </p:sp>
      </p:grpSp>
      <p:sp>
        <p:nvSpPr>
          <p:cNvPr id="34" name="TextBox 33"/>
          <p:cNvSpPr txBox="1"/>
          <p:nvPr/>
        </p:nvSpPr>
        <p:spPr>
          <a:xfrm>
            <a:off x="1219200" y="4230469"/>
            <a:ext cx="6504409" cy="646331"/>
          </a:xfrm>
          <a:prstGeom prst="rect">
            <a:avLst/>
          </a:prstGeom>
          <a:noFill/>
        </p:spPr>
        <p:txBody>
          <a:bodyPr wrap="none" rtlCol="0">
            <a:spAutoFit/>
          </a:bodyPr>
          <a:lstStyle/>
          <a:p>
            <a:r>
              <a:rPr lang="en-US" dirty="0"/>
              <a:t>Average turnaround time = ((8-0)+(12-1)+(21-2)+(26-3)) / 4 = 15.25 </a:t>
            </a:r>
          </a:p>
          <a:p>
            <a:r>
              <a:rPr lang="en-US" dirty="0"/>
              <a:t>Average response time = (0+(8-1)+(12-2)+(21-3)) /4 = 8.75</a:t>
            </a:r>
          </a:p>
        </p:txBody>
      </p:sp>
      <p:sp>
        <p:nvSpPr>
          <p:cNvPr id="35" name="Text Box 15"/>
          <p:cNvSpPr txBox="1">
            <a:spLocks noChangeArrowheads="1"/>
          </p:cNvSpPr>
          <p:nvPr/>
        </p:nvSpPr>
        <p:spPr bwMode="auto">
          <a:xfrm>
            <a:off x="6858000" y="5334000"/>
            <a:ext cx="381000" cy="304800"/>
          </a:xfrm>
          <a:prstGeom prst="rect">
            <a:avLst/>
          </a:prstGeom>
          <a:noFill/>
          <a:ln w="9525">
            <a:noFill/>
            <a:miter lim="800000"/>
            <a:headEnd/>
            <a:tailEnd/>
          </a:ln>
          <a:effectLst/>
        </p:spPr>
        <p:txBody>
          <a:bodyPr wrap="none">
            <a:spAutoFit/>
          </a:bodyPr>
          <a:lstStyle/>
          <a:p>
            <a:r>
              <a:rPr lang="en-US" sz="1400" b="1" dirty="0"/>
              <a:t>26</a:t>
            </a:r>
          </a:p>
        </p:txBody>
      </p:sp>
      <p:sp>
        <p:nvSpPr>
          <p:cNvPr id="36" name="Text Box 11"/>
          <p:cNvSpPr txBox="1">
            <a:spLocks noChangeArrowheads="1"/>
          </p:cNvSpPr>
          <p:nvPr/>
        </p:nvSpPr>
        <p:spPr bwMode="auto">
          <a:xfrm>
            <a:off x="1752600" y="5334000"/>
            <a:ext cx="282575" cy="304800"/>
          </a:xfrm>
          <a:prstGeom prst="rect">
            <a:avLst/>
          </a:prstGeom>
          <a:noFill/>
          <a:ln w="9525">
            <a:noFill/>
            <a:miter lim="800000"/>
            <a:headEnd/>
            <a:tailEnd/>
          </a:ln>
          <a:effectLst/>
        </p:spPr>
        <p:txBody>
          <a:bodyPr wrap="none">
            <a:spAutoFit/>
          </a:bodyPr>
          <a:lstStyle/>
          <a:p>
            <a:r>
              <a:rPr lang="en-US" sz="1400" b="1" dirty="0"/>
              <a:t>0</a:t>
            </a:r>
          </a:p>
        </p:txBody>
      </p:sp>
      <p:sp>
        <p:nvSpPr>
          <p:cNvPr id="37" name="Text Box 12"/>
          <p:cNvSpPr txBox="1">
            <a:spLocks noChangeArrowheads="1"/>
          </p:cNvSpPr>
          <p:nvPr/>
        </p:nvSpPr>
        <p:spPr bwMode="auto">
          <a:xfrm>
            <a:off x="2895600" y="5334000"/>
            <a:ext cx="276038" cy="307777"/>
          </a:xfrm>
          <a:prstGeom prst="rect">
            <a:avLst/>
          </a:prstGeom>
          <a:noFill/>
          <a:ln w="9525">
            <a:noFill/>
            <a:miter lim="800000"/>
            <a:headEnd/>
            <a:tailEnd/>
          </a:ln>
          <a:effectLst/>
        </p:spPr>
        <p:txBody>
          <a:bodyPr wrap="none">
            <a:spAutoFit/>
          </a:bodyPr>
          <a:lstStyle/>
          <a:p>
            <a:r>
              <a:rPr lang="en-US" sz="1400" b="1" dirty="0"/>
              <a:t>5</a:t>
            </a:r>
          </a:p>
        </p:txBody>
      </p:sp>
      <p:sp>
        <p:nvSpPr>
          <p:cNvPr id="38" name="Text Box 13"/>
          <p:cNvSpPr txBox="1">
            <a:spLocks noChangeArrowheads="1"/>
          </p:cNvSpPr>
          <p:nvPr/>
        </p:nvSpPr>
        <p:spPr bwMode="auto">
          <a:xfrm>
            <a:off x="4572000" y="5334000"/>
            <a:ext cx="367408" cy="307777"/>
          </a:xfrm>
          <a:prstGeom prst="rect">
            <a:avLst/>
          </a:prstGeom>
          <a:noFill/>
          <a:ln w="9525">
            <a:noFill/>
            <a:miter lim="800000"/>
            <a:headEnd/>
            <a:tailEnd/>
          </a:ln>
          <a:effectLst/>
        </p:spPr>
        <p:txBody>
          <a:bodyPr wrap="none">
            <a:spAutoFit/>
          </a:bodyPr>
          <a:lstStyle/>
          <a:p>
            <a:r>
              <a:rPr lang="en-US" sz="1400" b="1" dirty="0"/>
              <a:t>14</a:t>
            </a:r>
          </a:p>
        </p:txBody>
      </p:sp>
      <p:sp>
        <p:nvSpPr>
          <p:cNvPr id="39" name="Text Box 14"/>
          <p:cNvSpPr txBox="1">
            <a:spLocks noChangeArrowheads="1"/>
          </p:cNvSpPr>
          <p:nvPr/>
        </p:nvSpPr>
        <p:spPr bwMode="auto">
          <a:xfrm>
            <a:off x="5334000" y="5334000"/>
            <a:ext cx="367408" cy="307777"/>
          </a:xfrm>
          <a:prstGeom prst="rect">
            <a:avLst/>
          </a:prstGeom>
          <a:noFill/>
          <a:ln w="9525">
            <a:noFill/>
            <a:miter lim="800000"/>
            <a:headEnd/>
            <a:tailEnd/>
          </a:ln>
          <a:effectLst/>
        </p:spPr>
        <p:txBody>
          <a:bodyPr wrap="none">
            <a:spAutoFit/>
          </a:bodyPr>
          <a:lstStyle/>
          <a:p>
            <a:r>
              <a:rPr lang="en-US" sz="1400" b="1" dirty="0"/>
              <a:t>18</a:t>
            </a:r>
          </a:p>
        </p:txBody>
      </p:sp>
      <p:grpSp>
        <p:nvGrpSpPr>
          <p:cNvPr id="46" name="Group 45"/>
          <p:cNvGrpSpPr/>
          <p:nvPr/>
        </p:nvGrpSpPr>
        <p:grpSpPr>
          <a:xfrm>
            <a:off x="1905000" y="5029200"/>
            <a:ext cx="5105400" cy="304800"/>
            <a:chOff x="1905000" y="5029200"/>
            <a:chExt cx="5105400" cy="304800"/>
          </a:xfrm>
        </p:grpSpPr>
        <p:sp>
          <p:nvSpPr>
            <p:cNvPr id="41" name="Rectangle 40"/>
            <p:cNvSpPr/>
            <p:nvPr/>
          </p:nvSpPr>
          <p:spPr>
            <a:xfrm>
              <a:off x="5486400" y="5029200"/>
              <a:ext cx="1524000" cy="3048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1</a:t>
              </a:r>
              <a:endParaRPr lang="en-US" b="1" dirty="0">
                <a:solidFill>
                  <a:schemeClr val="bg1"/>
                </a:solidFill>
              </a:endParaRPr>
            </a:p>
          </p:txBody>
        </p:sp>
        <p:sp>
          <p:nvSpPr>
            <p:cNvPr id="42" name="Rectangle 41"/>
            <p:cNvSpPr/>
            <p:nvPr/>
          </p:nvSpPr>
          <p:spPr>
            <a:xfrm>
              <a:off x="4724400" y="5029200"/>
              <a:ext cx="762000" cy="3048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2</a:t>
              </a:r>
              <a:endParaRPr lang="en-US" b="1" dirty="0">
                <a:solidFill>
                  <a:schemeClr val="bg1"/>
                </a:solidFill>
              </a:endParaRPr>
            </a:p>
          </p:txBody>
        </p:sp>
        <p:sp>
          <p:nvSpPr>
            <p:cNvPr id="43" name="Rectangle 42"/>
            <p:cNvSpPr/>
            <p:nvPr/>
          </p:nvSpPr>
          <p:spPr>
            <a:xfrm>
              <a:off x="3048000" y="5029200"/>
              <a:ext cx="1676400" cy="304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3</a:t>
              </a:r>
              <a:endParaRPr lang="en-US" b="1" dirty="0">
                <a:solidFill>
                  <a:schemeClr val="bg1"/>
                </a:solidFill>
              </a:endParaRPr>
            </a:p>
          </p:txBody>
        </p:sp>
        <p:sp>
          <p:nvSpPr>
            <p:cNvPr id="44" name="Rectangle 43"/>
            <p:cNvSpPr/>
            <p:nvPr/>
          </p:nvSpPr>
          <p:spPr>
            <a:xfrm>
              <a:off x="1905000" y="5029200"/>
              <a:ext cx="1143000" cy="3048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4</a:t>
              </a:r>
              <a:endParaRPr lang="en-US" b="1" dirty="0">
                <a:solidFill>
                  <a:schemeClr val="bg1"/>
                </a:solidFill>
              </a:endParaRPr>
            </a:p>
          </p:txBody>
        </p:sp>
      </p:grpSp>
      <p:sp>
        <p:nvSpPr>
          <p:cNvPr id="45" name="TextBox 44"/>
          <p:cNvSpPr txBox="1"/>
          <p:nvPr/>
        </p:nvSpPr>
        <p:spPr>
          <a:xfrm>
            <a:off x="1219200" y="5525869"/>
            <a:ext cx="6504409" cy="646331"/>
          </a:xfrm>
          <a:prstGeom prst="rect">
            <a:avLst/>
          </a:prstGeom>
          <a:noFill/>
        </p:spPr>
        <p:txBody>
          <a:bodyPr wrap="none" rtlCol="0">
            <a:spAutoFit/>
          </a:bodyPr>
          <a:lstStyle/>
          <a:p>
            <a:r>
              <a:rPr lang="en-US" dirty="0"/>
              <a:t>Average turnaround time = ((5-0)+(14-1)+(18-2)+(26-3)) / 4 = 14.25 </a:t>
            </a:r>
          </a:p>
          <a:p>
            <a:r>
              <a:rPr lang="en-US" dirty="0"/>
              <a:t>Average response time = (0+(5-1)+(14-2)+(18-3)) /4 = 7.75</a:t>
            </a:r>
          </a:p>
        </p:txBody>
      </p:sp>
      <p:sp>
        <p:nvSpPr>
          <p:cNvPr id="4" name="TextBox 3"/>
          <p:cNvSpPr txBox="1"/>
          <p:nvPr/>
        </p:nvSpPr>
        <p:spPr>
          <a:xfrm>
            <a:off x="1496746" y="1343427"/>
            <a:ext cx="2194832" cy="1200329"/>
          </a:xfrm>
          <a:prstGeom prst="rect">
            <a:avLst/>
          </a:prstGeom>
          <a:noFill/>
        </p:spPr>
        <p:txBody>
          <a:bodyPr wrap="none" rtlCol="0">
            <a:spAutoFit/>
          </a:bodyPr>
          <a:lstStyle/>
          <a:p>
            <a:r>
              <a:rPr lang="en-US" b="1" dirty="0"/>
              <a:t>Change arrival</a:t>
            </a:r>
          </a:p>
          <a:p>
            <a:r>
              <a:rPr lang="en-US" b="1" dirty="0"/>
              <a:t>time to P1:3, P2:2,</a:t>
            </a:r>
          </a:p>
          <a:p>
            <a:r>
              <a:rPr lang="en-US" b="1" dirty="0"/>
              <a:t>P3:1, P4:0</a:t>
            </a:r>
          </a:p>
          <a:p>
            <a:r>
              <a:rPr lang="en-US" b="1" dirty="0"/>
              <a:t>Burst time the same</a:t>
            </a:r>
          </a:p>
        </p:txBody>
      </p:sp>
      <p:sp>
        <p:nvSpPr>
          <p:cNvPr id="7" name="Slide Number Placeholder 6">
            <a:extLst>
              <a:ext uri="{FF2B5EF4-FFF2-40B4-BE49-F238E27FC236}">
                <a16:creationId xmlns:a16="http://schemas.microsoft.com/office/drawing/2014/main" id="{6AB8DC76-2487-CA6B-FF02-224FD91A11B3}"/>
              </a:ext>
            </a:extLst>
          </p:cNvPr>
          <p:cNvSpPr>
            <a:spLocks noGrp="1"/>
          </p:cNvSpPr>
          <p:nvPr>
            <p:ph type="sldNum" sz="quarter" idx="12"/>
          </p:nvPr>
        </p:nvSpPr>
        <p:spPr/>
        <p:txBody>
          <a:bodyPr/>
          <a:lstStyle/>
          <a:p>
            <a:r>
              <a:rPr lang="en-US"/>
              <a:t>CS4500/5500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D059B6-ADD8-488A-B346-63289E90D1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4" name="Freeform 6">
              <a:extLst>
                <a:ext uri="{FF2B5EF4-FFF2-40B4-BE49-F238E27FC236}">
                  <a16:creationId xmlns:a16="http://schemas.microsoft.com/office/drawing/2014/main" id="{F69B42B4-BC82-4495-A6F9-A28167B56A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5" name="Freeform 7">
              <a:extLst>
                <a:ext uri="{FF2B5EF4-FFF2-40B4-BE49-F238E27FC236}">
                  <a16:creationId xmlns:a16="http://schemas.microsoft.com/office/drawing/2014/main" id="{83CC168C-2AD4-4FFB-9F25-420ED6514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16" name="Freeform 9">
              <a:extLst>
                <a:ext uri="{FF2B5EF4-FFF2-40B4-BE49-F238E27FC236}">
                  <a16:creationId xmlns:a16="http://schemas.microsoft.com/office/drawing/2014/main" id="{6C9F369A-6158-4AE8-BA04-138A9DFFA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17" name="Freeform 10">
              <a:extLst>
                <a:ext uri="{FF2B5EF4-FFF2-40B4-BE49-F238E27FC236}">
                  <a16:creationId xmlns:a16="http://schemas.microsoft.com/office/drawing/2014/main" id="{FC7B1DF4-AD98-42A8-820F-667A3DCC4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18" name="Freeform 11">
              <a:extLst>
                <a:ext uri="{FF2B5EF4-FFF2-40B4-BE49-F238E27FC236}">
                  <a16:creationId xmlns:a16="http://schemas.microsoft.com/office/drawing/2014/main" id="{61C58B74-3656-4FD5-AC47-EE3A59EBB8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19" name="Freeform 12">
              <a:extLst>
                <a:ext uri="{FF2B5EF4-FFF2-40B4-BE49-F238E27FC236}">
                  <a16:creationId xmlns:a16="http://schemas.microsoft.com/office/drawing/2014/main" id="{8B349A01-D803-4A18-B608-47BFCED43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894654" y="1"/>
            <a:ext cx="3761187"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7" name="Title 6">
            <a:extLst>
              <a:ext uri="{FF2B5EF4-FFF2-40B4-BE49-F238E27FC236}">
                <a16:creationId xmlns:a16="http://schemas.microsoft.com/office/drawing/2014/main" id="{52FD773F-C6BB-D648-05A9-0B566C68A6C4}"/>
              </a:ext>
            </a:extLst>
          </p:cNvPr>
          <p:cNvSpPr>
            <a:spLocks noGrp="1"/>
          </p:cNvSpPr>
          <p:nvPr>
            <p:ph type="title"/>
          </p:nvPr>
        </p:nvSpPr>
        <p:spPr>
          <a:xfrm>
            <a:off x="763642" y="924232"/>
            <a:ext cx="6131228" cy="3285866"/>
          </a:xfrm>
        </p:spPr>
        <p:txBody>
          <a:bodyPr vert="horz" lIns="91440" tIns="45720" rIns="91440" bIns="45720" rtlCol="0" anchor="b">
            <a:normAutofit/>
          </a:bodyPr>
          <a:lstStyle/>
          <a:p>
            <a:pPr algn="l"/>
            <a:r>
              <a:rPr lang="en-US" sz="5400" dirty="0"/>
              <a:t>Shortest Job First (SJF)</a:t>
            </a:r>
          </a:p>
        </p:txBody>
      </p:sp>
      <p:sp>
        <p:nvSpPr>
          <p:cNvPr id="8" name="Text Placeholder 7">
            <a:extLst>
              <a:ext uri="{FF2B5EF4-FFF2-40B4-BE49-F238E27FC236}">
                <a16:creationId xmlns:a16="http://schemas.microsoft.com/office/drawing/2014/main" id="{49835DAA-4811-71B5-DC88-1E288B0B0C69}"/>
              </a:ext>
            </a:extLst>
          </p:cNvPr>
          <p:cNvSpPr>
            <a:spLocks noGrp="1"/>
          </p:cNvSpPr>
          <p:nvPr>
            <p:ph type="body" idx="1"/>
          </p:nvPr>
        </p:nvSpPr>
        <p:spPr>
          <a:xfrm>
            <a:off x="763642" y="4210098"/>
            <a:ext cx="5383553" cy="863348"/>
          </a:xfrm>
        </p:spPr>
        <p:txBody>
          <a:bodyPr vert="horz" lIns="91440" tIns="45720" rIns="91440" bIns="45720" rtlCol="0" anchor="t">
            <a:normAutofit/>
          </a:bodyPr>
          <a:lstStyle/>
          <a:p>
            <a:pPr algn="l"/>
            <a:endParaRPr lang="en-US" sz="2100"/>
          </a:p>
        </p:txBody>
      </p:sp>
      <p:sp>
        <p:nvSpPr>
          <p:cNvPr id="3" name="Slide Number Placeholder 2">
            <a:extLst>
              <a:ext uri="{FF2B5EF4-FFF2-40B4-BE49-F238E27FC236}">
                <a16:creationId xmlns:a16="http://schemas.microsoft.com/office/drawing/2014/main" id="{9E7BD5B1-3902-2120-74F1-46DE22BF41B6}"/>
              </a:ext>
            </a:extLst>
          </p:cNvPr>
          <p:cNvSpPr>
            <a:spLocks noGrp="1"/>
          </p:cNvSpPr>
          <p:nvPr>
            <p:ph type="sldNum" sz="quarter" idx="12"/>
          </p:nvPr>
        </p:nvSpPr>
        <p:spPr/>
        <p:txBody>
          <a:bodyPr/>
          <a:lstStyle/>
          <a:p>
            <a:pPr algn="ctr"/>
            <a:r>
              <a:rPr lang="en-US"/>
              <a:t>CS4500/5500</a:t>
            </a:r>
            <a:endParaRPr lang="en-US" dirty="0"/>
          </a:p>
        </p:txBody>
      </p:sp>
    </p:spTree>
    <p:extLst>
      <p:ext uri="{BB962C8B-B14F-4D97-AF65-F5344CB8AC3E}">
        <p14:creationId xmlns:p14="http://schemas.microsoft.com/office/powerpoint/2010/main" val="1327827083"/>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FEAFC71-79ED-E899-9106-7142963554D4}"/>
              </a:ext>
            </a:extLst>
          </p:cNvPr>
          <p:cNvSpPr>
            <a:spLocks noGrp="1"/>
          </p:cNvSpPr>
          <p:nvPr>
            <p:ph type="title"/>
          </p:nvPr>
        </p:nvSpPr>
        <p:spPr/>
        <p:txBody>
          <a:bodyPr/>
          <a:lstStyle/>
          <a:p>
            <a:r>
              <a:rPr lang="en-US" sz="4000" dirty="0"/>
              <a:t>Shortest  Job First (SJF) Scheduling</a:t>
            </a:r>
            <a:endParaRPr lang="en-US" dirty="0"/>
          </a:p>
        </p:txBody>
      </p:sp>
      <p:sp>
        <p:nvSpPr>
          <p:cNvPr id="8" name="Content Placeholder 7">
            <a:extLst>
              <a:ext uri="{FF2B5EF4-FFF2-40B4-BE49-F238E27FC236}">
                <a16:creationId xmlns:a16="http://schemas.microsoft.com/office/drawing/2014/main" id="{4DED81B0-E4C1-97C2-139F-B748DB8D627D}"/>
              </a:ext>
            </a:extLst>
          </p:cNvPr>
          <p:cNvSpPr>
            <a:spLocks noGrp="1"/>
          </p:cNvSpPr>
          <p:nvPr>
            <p:ph idx="1"/>
          </p:nvPr>
        </p:nvSpPr>
        <p:spPr/>
        <p:txBody>
          <a:bodyPr/>
          <a:lstStyle/>
          <a:p>
            <a:r>
              <a:rPr lang="en-US" dirty="0"/>
              <a:t>The SJF algorithm considers with each process the length of the next process’s burst</a:t>
            </a:r>
          </a:p>
          <a:p>
            <a:r>
              <a:rPr lang="en-US" dirty="0"/>
              <a:t>The next process with the least burst will go first</a:t>
            </a:r>
          </a:p>
          <a:p>
            <a:r>
              <a:rPr lang="en-US" dirty="0"/>
              <a:t>If two processes have the same length then FCFS will be used to determine which process goes first</a:t>
            </a:r>
          </a:p>
          <a:p>
            <a:r>
              <a:rPr lang="en-US" dirty="0"/>
              <a:t>Sometimes referred to as Shortest Next CPU Burst Algorithm</a:t>
            </a:r>
          </a:p>
        </p:txBody>
      </p:sp>
      <p:sp>
        <p:nvSpPr>
          <p:cNvPr id="3" name="Slide Number Placeholder 2">
            <a:extLst>
              <a:ext uri="{FF2B5EF4-FFF2-40B4-BE49-F238E27FC236}">
                <a16:creationId xmlns:a16="http://schemas.microsoft.com/office/drawing/2014/main" id="{C89989E9-87DE-D4E0-85CA-9D9B2AB7D57E}"/>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4662658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FF805-3296-CD94-EF58-2C9E3A541C14}"/>
              </a:ext>
            </a:extLst>
          </p:cNvPr>
          <p:cNvSpPr>
            <a:spLocks noGrp="1"/>
          </p:cNvSpPr>
          <p:nvPr>
            <p:ph type="title"/>
          </p:nvPr>
        </p:nvSpPr>
        <p:spPr/>
        <p:txBody>
          <a:bodyPr/>
          <a:lstStyle/>
          <a:p>
            <a:r>
              <a:rPr lang="en-US" sz="4000" dirty="0"/>
              <a:t>Shortest  Job First (SJF) Scheduling</a:t>
            </a:r>
            <a:endParaRPr lang="en-US" dirty="0"/>
          </a:p>
        </p:txBody>
      </p:sp>
      <p:sp>
        <p:nvSpPr>
          <p:cNvPr id="3" name="Content Placeholder 2">
            <a:extLst>
              <a:ext uri="{FF2B5EF4-FFF2-40B4-BE49-F238E27FC236}">
                <a16:creationId xmlns:a16="http://schemas.microsoft.com/office/drawing/2014/main" id="{5C248EF2-5079-E943-4BD9-9E886D180B59}"/>
              </a:ext>
            </a:extLst>
          </p:cNvPr>
          <p:cNvSpPr>
            <a:spLocks noGrp="1"/>
          </p:cNvSpPr>
          <p:nvPr>
            <p:ph idx="1"/>
          </p:nvPr>
        </p:nvSpPr>
        <p:spPr/>
        <p:txBody>
          <a:bodyPr/>
          <a:lstStyle/>
          <a:p>
            <a:r>
              <a:rPr lang="en-US" dirty="0"/>
              <a:t>Can be preemptive or </a:t>
            </a:r>
            <a:r>
              <a:rPr lang="en-US" dirty="0" err="1"/>
              <a:t>nonpreemptive</a:t>
            </a:r>
            <a:endParaRPr lang="en-US" dirty="0"/>
          </a:p>
          <a:p>
            <a:r>
              <a:rPr lang="en-US" dirty="0" err="1"/>
              <a:t>Nonpreemptive</a:t>
            </a:r>
            <a:r>
              <a:rPr lang="en-US" dirty="0"/>
              <a:t>: the process using the CPU has the CPU resources until it terminates, then the next process can initiate</a:t>
            </a:r>
          </a:p>
          <a:p>
            <a:r>
              <a:rPr lang="en-US" dirty="0"/>
              <a:t>Preemptive: if one process is using the CPU, another process can take the CPU (preempt) the first process based on some conditions</a:t>
            </a:r>
          </a:p>
        </p:txBody>
      </p:sp>
      <p:sp>
        <p:nvSpPr>
          <p:cNvPr id="8" name="Slide Number Placeholder 7">
            <a:extLst>
              <a:ext uri="{FF2B5EF4-FFF2-40B4-BE49-F238E27FC236}">
                <a16:creationId xmlns:a16="http://schemas.microsoft.com/office/drawing/2014/main" id="{331BC54B-94DA-C505-A8CD-FE1BC9AC912D}"/>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34650056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92752-F588-C538-3D6A-A06153095154}"/>
              </a:ext>
            </a:extLst>
          </p:cNvPr>
          <p:cNvSpPr>
            <a:spLocks noGrp="1"/>
          </p:cNvSpPr>
          <p:nvPr>
            <p:ph type="title"/>
          </p:nvPr>
        </p:nvSpPr>
        <p:spPr/>
        <p:txBody>
          <a:bodyPr/>
          <a:lstStyle/>
          <a:p>
            <a:r>
              <a:rPr lang="en-US" sz="4000" dirty="0"/>
              <a:t>Shortest  Job First (SJF) Scheduling (</a:t>
            </a:r>
            <a:r>
              <a:rPr lang="en-US" sz="4000" dirty="0" err="1"/>
              <a:t>Nonpreemptive</a:t>
            </a:r>
            <a:r>
              <a:rPr lang="en-US" sz="4000" dirty="0"/>
              <a:t>)</a:t>
            </a:r>
            <a:endParaRPr lang="en-US" dirty="0"/>
          </a:p>
        </p:txBody>
      </p:sp>
      <p:graphicFrame>
        <p:nvGraphicFramePr>
          <p:cNvPr id="7" name="Table 7">
            <a:extLst>
              <a:ext uri="{FF2B5EF4-FFF2-40B4-BE49-F238E27FC236}">
                <a16:creationId xmlns:a16="http://schemas.microsoft.com/office/drawing/2014/main" id="{90DCC17F-0CD8-9AE6-304E-92319075AC2E}"/>
              </a:ext>
            </a:extLst>
          </p:cNvPr>
          <p:cNvGraphicFramePr>
            <a:graphicFrameLocks noGrp="1"/>
          </p:cNvGraphicFramePr>
          <p:nvPr>
            <p:ph idx="1"/>
            <p:extLst>
              <p:ext uri="{D42A27DB-BD31-4B8C-83A1-F6EECF244321}">
                <p14:modId xmlns:p14="http://schemas.microsoft.com/office/powerpoint/2010/main" val="3955442429"/>
              </p:ext>
            </p:extLst>
          </p:nvPr>
        </p:nvGraphicFramePr>
        <p:xfrm>
          <a:off x="982133" y="2133600"/>
          <a:ext cx="7704136" cy="2286000"/>
        </p:xfrm>
        <a:graphic>
          <a:graphicData uri="http://schemas.openxmlformats.org/drawingml/2006/table">
            <a:tbl>
              <a:tblPr firstRow="1" bandRow="1">
                <a:tableStyleId>{93296810-A885-4BE3-A3E7-6D5BEEA58F35}</a:tableStyleId>
              </a:tblPr>
              <a:tblGrid>
                <a:gridCol w="3852068">
                  <a:extLst>
                    <a:ext uri="{9D8B030D-6E8A-4147-A177-3AD203B41FA5}">
                      <a16:colId xmlns:a16="http://schemas.microsoft.com/office/drawing/2014/main" val="577606282"/>
                    </a:ext>
                  </a:extLst>
                </a:gridCol>
                <a:gridCol w="3852068">
                  <a:extLst>
                    <a:ext uri="{9D8B030D-6E8A-4147-A177-3AD203B41FA5}">
                      <a16:colId xmlns:a16="http://schemas.microsoft.com/office/drawing/2014/main" val="9014496"/>
                    </a:ext>
                  </a:extLst>
                </a:gridCol>
              </a:tblGrid>
              <a:tr h="370840">
                <a:tc>
                  <a:txBody>
                    <a:bodyPr/>
                    <a:lstStyle/>
                    <a:p>
                      <a:r>
                        <a:rPr lang="en-US" sz="2400" dirty="0">
                          <a:solidFill>
                            <a:schemeClr val="tx2"/>
                          </a:solidFill>
                        </a:rPr>
                        <a:t>Process 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solidFill>
                            <a:schemeClr val="tx2"/>
                          </a:solidFill>
                        </a:rPr>
                        <a:t>Burst Time in </a:t>
                      </a:r>
                      <a:r>
                        <a:rPr lang="en-US" sz="2400" dirty="0" err="1">
                          <a:solidFill>
                            <a:schemeClr val="tx2"/>
                          </a:solidFill>
                        </a:rPr>
                        <a:t>ms</a:t>
                      </a:r>
                      <a:endParaRPr lang="en-US" sz="2400" dirty="0">
                        <a:solidFill>
                          <a:schemeClr val="tx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0244038"/>
                  </a:ext>
                </a:extLst>
              </a:tr>
              <a:tr h="370840">
                <a:tc>
                  <a:txBody>
                    <a:bodyPr/>
                    <a:lstStyle/>
                    <a:p>
                      <a:r>
                        <a:rPr lang="en-US" sz="2400" b="1" dirty="0"/>
                        <a:t>P1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1036217"/>
                  </a:ext>
                </a:extLst>
              </a:tr>
              <a:tr h="370840">
                <a:tc>
                  <a:txBody>
                    <a:bodyPr/>
                    <a:lstStyle/>
                    <a:p>
                      <a:r>
                        <a:rPr lang="en-US" sz="2400" b="1" dirty="0"/>
                        <a:t>P2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4121141"/>
                  </a:ext>
                </a:extLst>
              </a:tr>
              <a:tr h="370840">
                <a:tc>
                  <a:txBody>
                    <a:bodyPr/>
                    <a:lstStyle/>
                    <a:p>
                      <a:r>
                        <a:rPr lang="en-US" sz="2400" b="1" dirty="0"/>
                        <a:t>P3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2441538"/>
                  </a:ext>
                </a:extLst>
              </a:tr>
              <a:tr h="370840">
                <a:tc>
                  <a:txBody>
                    <a:bodyPr/>
                    <a:lstStyle/>
                    <a:p>
                      <a:r>
                        <a:rPr lang="en-US" sz="2400" b="1" dirty="0"/>
                        <a:t>P4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6684699"/>
                  </a:ext>
                </a:extLst>
              </a:tr>
            </a:tbl>
          </a:graphicData>
        </a:graphic>
      </p:graphicFrame>
      <p:grpSp>
        <p:nvGrpSpPr>
          <p:cNvPr id="33" name="Group 32">
            <a:extLst>
              <a:ext uri="{FF2B5EF4-FFF2-40B4-BE49-F238E27FC236}">
                <a16:creationId xmlns:a16="http://schemas.microsoft.com/office/drawing/2014/main" id="{132D3410-771B-BF20-2EDF-83551D1B883C}"/>
              </a:ext>
            </a:extLst>
          </p:cNvPr>
          <p:cNvGrpSpPr/>
          <p:nvPr/>
        </p:nvGrpSpPr>
        <p:grpSpPr>
          <a:xfrm>
            <a:off x="1289080" y="4520231"/>
            <a:ext cx="7201749" cy="1347169"/>
            <a:chOff x="1289080" y="4520231"/>
            <a:chExt cx="7201749" cy="1347169"/>
          </a:xfrm>
        </p:grpSpPr>
        <p:sp>
          <p:nvSpPr>
            <p:cNvPr id="8" name="Rectangle 7">
              <a:extLst>
                <a:ext uri="{FF2B5EF4-FFF2-40B4-BE49-F238E27FC236}">
                  <a16:creationId xmlns:a16="http://schemas.microsoft.com/office/drawing/2014/main" id="{A82C5433-73DC-E40A-4BC9-F492EED6D7A4}"/>
                </a:ext>
              </a:extLst>
            </p:cNvPr>
            <p:cNvSpPr/>
            <p:nvPr/>
          </p:nvSpPr>
          <p:spPr>
            <a:xfrm>
              <a:off x="1524000" y="5029200"/>
              <a:ext cx="6677802" cy="83820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2"/>
                  </a:solidFill>
                </a:rPr>
                <a:t>P4</a:t>
              </a:r>
            </a:p>
          </p:txBody>
        </p:sp>
        <p:sp>
          <p:nvSpPr>
            <p:cNvPr id="9" name="TextBox 8">
              <a:extLst>
                <a:ext uri="{FF2B5EF4-FFF2-40B4-BE49-F238E27FC236}">
                  <a16:creationId xmlns:a16="http://schemas.microsoft.com/office/drawing/2014/main" id="{5AA15746-4B56-F880-267C-7D7AEDCB35D6}"/>
                </a:ext>
              </a:extLst>
            </p:cNvPr>
            <p:cNvSpPr txBox="1"/>
            <p:nvPr/>
          </p:nvSpPr>
          <p:spPr>
            <a:xfrm>
              <a:off x="2670353" y="5167424"/>
              <a:ext cx="609600" cy="523220"/>
            </a:xfrm>
            <a:prstGeom prst="rect">
              <a:avLst/>
            </a:prstGeom>
            <a:noFill/>
          </p:spPr>
          <p:txBody>
            <a:bodyPr wrap="square" rtlCol="0">
              <a:spAutoFit/>
            </a:bodyPr>
            <a:lstStyle/>
            <a:p>
              <a:r>
                <a:rPr lang="en-US" sz="2800" b="1" dirty="0">
                  <a:solidFill>
                    <a:schemeClr val="tx2"/>
                  </a:solidFill>
                </a:rPr>
                <a:t>P1</a:t>
              </a:r>
            </a:p>
          </p:txBody>
        </p:sp>
        <p:sp>
          <p:nvSpPr>
            <p:cNvPr id="11" name="TextBox 10">
              <a:extLst>
                <a:ext uri="{FF2B5EF4-FFF2-40B4-BE49-F238E27FC236}">
                  <a16:creationId xmlns:a16="http://schemas.microsoft.com/office/drawing/2014/main" id="{A14E501B-E800-435F-156B-6507196DCD4A}"/>
                </a:ext>
              </a:extLst>
            </p:cNvPr>
            <p:cNvSpPr txBox="1"/>
            <p:nvPr/>
          </p:nvSpPr>
          <p:spPr>
            <a:xfrm>
              <a:off x="4203896" y="5167424"/>
              <a:ext cx="609600" cy="523220"/>
            </a:xfrm>
            <a:prstGeom prst="rect">
              <a:avLst/>
            </a:prstGeom>
            <a:noFill/>
          </p:spPr>
          <p:txBody>
            <a:bodyPr wrap="square" rtlCol="0">
              <a:spAutoFit/>
            </a:bodyPr>
            <a:lstStyle/>
            <a:p>
              <a:r>
                <a:rPr lang="en-US" sz="2800" b="1" dirty="0">
                  <a:solidFill>
                    <a:schemeClr val="tx2"/>
                  </a:solidFill>
                </a:rPr>
                <a:t>P3</a:t>
              </a:r>
            </a:p>
          </p:txBody>
        </p:sp>
        <p:sp>
          <p:nvSpPr>
            <p:cNvPr id="13" name="TextBox 12">
              <a:extLst>
                <a:ext uri="{FF2B5EF4-FFF2-40B4-BE49-F238E27FC236}">
                  <a16:creationId xmlns:a16="http://schemas.microsoft.com/office/drawing/2014/main" id="{1CF1E1E6-90C1-58DE-288A-700DF810E0AC}"/>
                </a:ext>
              </a:extLst>
            </p:cNvPr>
            <p:cNvSpPr txBox="1"/>
            <p:nvPr/>
          </p:nvSpPr>
          <p:spPr>
            <a:xfrm>
              <a:off x="6615501" y="5167424"/>
              <a:ext cx="609600" cy="523220"/>
            </a:xfrm>
            <a:prstGeom prst="rect">
              <a:avLst/>
            </a:prstGeom>
            <a:noFill/>
          </p:spPr>
          <p:txBody>
            <a:bodyPr wrap="square" rtlCol="0">
              <a:spAutoFit/>
            </a:bodyPr>
            <a:lstStyle/>
            <a:p>
              <a:r>
                <a:rPr lang="en-US" sz="2800" b="1" dirty="0">
                  <a:solidFill>
                    <a:schemeClr val="tx2"/>
                  </a:solidFill>
                </a:rPr>
                <a:t>P2</a:t>
              </a:r>
            </a:p>
          </p:txBody>
        </p:sp>
        <p:cxnSp>
          <p:nvCxnSpPr>
            <p:cNvPr id="15" name="Straight Connector 14">
              <a:extLst>
                <a:ext uri="{FF2B5EF4-FFF2-40B4-BE49-F238E27FC236}">
                  <a16:creationId xmlns:a16="http://schemas.microsoft.com/office/drawing/2014/main" id="{3CE30518-B3CF-1465-621E-94F952109B90}"/>
                </a:ext>
              </a:extLst>
            </p:cNvPr>
            <p:cNvCxnSpPr/>
            <p:nvPr/>
          </p:nvCxnSpPr>
          <p:spPr>
            <a:xfrm>
              <a:off x="2286000" y="5029200"/>
              <a:ext cx="0" cy="838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FD48B52-5343-A27F-CBD5-50F588472DF6}"/>
                </a:ext>
              </a:extLst>
            </p:cNvPr>
            <p:cNvCxnSpPr/>
            <p:nvPr/>
          </p:nvCxnSpPr>
          <p:spPr>
            <a:xfrm>
              <a:off x="3505200" y="5029200"/>
              <a:ext cx="0" cy="838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8B30D70-5573-0E29-8F49-91BF777BA5BD}"/>
                </a:ext>
              </a:extLst>
            </p:cNvPr>
            <p:cNvCxnSpPr/>
            <p:nvPr/>
          </p:nvCxnSpPr>
          <p:spPr>
            <a:xfrm>
              <a:off x="5638800" y="5029200"/>
              <a:ext cx="0" cy="838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E1EB315-1727-AC7E-D678-9B875147EB59}"/>
                </a:ext>
              </a:extLst>
            </p:cNvPr>
            <p:cNvSpPr txBox="1"/>
            <p:nvPr/>
          </p:nvSpPr>
          <p:spPr>
            <a:xfrm>
              <a:off x="1289080" y="4613395"/>
              <a:ext cx="457200" cy="523220"/>
            </a:xfrm>
            <a:prstGeom prst="rect">
              <a:avLst/>
            </a:prstGeom>
            <a:noFill/>
          </p:spPr>
          <p:txBody>
            <a:bodyPr wrap="square" rtlCol="0">
              <a:spAutoFit/>
            </a:bodyPr>
            <a:lstStyle/>
            <a:p>
              <a:r>
                <a:rPr lang="en-US" sz="2800" b="1" dirty="0"/>
                <a:t>0</a:t>
              </a:r>
            </a:p>
          </p:txBody>
        </p:sp>
        <p:sp>
          <p:nvSpPr>
            <p:cNvPr id="22" name="TextBox 21">
              <a:extLst>
                <a:ext uri="{FF2B5EF4-FFF2-40B4-BE49-F238E27FC236}">
                  <a16:creationId xmlns:a16="http://schemas.microsoft.com/office/drawing/2014/main" id="{07B74933-0EFC-4A44-0765-7B1A3215776F}"/>
                </a:ext>
              </a:extLst>
            </p:cNvPr>
            <p:cNvSpPr txBox="1"/>
            <p:nvPr/>
          </p:nvSpPr>
          <p:spPr>
            <a:xfrm>
              <a:off x="2127279" y="4520231"/>
              <a:ext cx="457200" cy="523220"/>
            </a:xfrm>
            <a:prstGeom prst="rect">
              <a:avLst/>
            </a:prstGeom>
            <a:noFill/>
          </p:spPr>
          <p:txBody>
            <a:bodyPr wrap="square" rtlCol="0">
              <a:spAutoFit/>
            </a:bodyPr>
            <a:lstStyle/>
            <a:p>
              <a:r>
                <a:rPr lang="en-US" sz="2800" b="1" dirty="0"/>
                <a:t>4</a:t>
              </a:r>
            </a:p>
          </p:txBody>
        </p:sp>
        <p:sp>
          <p:nvSpPr>
            <p:cNvPr id="24" name="TextBox 23">
              <a:extLst>
                <a:ext uri="{FF2B5EF4-FFF2-40B4-BE49-F238E27FC236}">
                  <a16:creationId xmlns:a16="http://schemas.microsoft.com/office/drawing/2014/main" id="{781211F3-AC53-F84D-7CBA-0609DE1D41C4}"/>
                </a:ext>
              </a:extLst>
            </p:cNvPr>
            <p:cNvSpPr txBox="1"/>
            <p:nvPr/>
          </p:nvSpPr>
          <p:spPr>
            <a:xfrm>
              <a:off x="3276600" y="4534481"/>
              <a:ext cx="603278" cy="523220"/>
            </a:xfrm>
            <a:prstGeom prst="rect">
              <a:avLst/>
            </a:prstGeom>
            <a:noFill/>
          </p:spPr>
          <p:txBody>
            <a:bodyPr wrap="square" rtlCol="0">
              <a:spAutoFit/>
            </a:bodyPr>
            <a:lstStyle/>
            <a:p>
              <a:r>
                <a:rPr lang="en-US" sz="2800" b="1" dirty="0"/>
                <a:t>11</a:t>
              </a:r>
            </a:p>
          </p:txBody>
        </p:sp>
        <p:sp>
          <p:nvSpPr>
            <p:cNvPr id="26" name="TextBox 25">
              <a:extLst>
                <a:ext uri="{FF2B5EF4-FFF2-40B4-BE49-F238E27FC236}">
                  <a16:creationId xmlns:a16="http://schemas.microsoft.com/office/drawing/2014/main" id="{A150D2DA-A73F-D55E-0B3D-A98E282E2BC1}"/>
                </a:ext>
              </a:extLst>
            </p:cNvPr>
            <p:cNvSpPr txBox="1"/>
            <p:nvPr/>
          </p:nvSpPr>
          <p:spPr>
            <a:xfrm>
              <a:off x="7779674" y="4573795"/>
              <a:ext cx="711155" cy="523220"/>
            </a:xfrm>
            <a:prstGeom prst="rect">
              <a:avLst/>
            </a:prstGeom>
            <a:noFill/>
          </p:spPr>
          <p:txBody>
            <a:bodyPr wrap="square" rtlCol="0">
              <a:spAutoFit/>
            </a:bodyPr>
            <a:lstStyle/>
            <a:p>
              <a:r>
                <a:rPr lang="en-US" sz="2800" b="1" dirty="0"/>
                <a:t>28</a:t>
              </a:r>
            </a:p>
          </p:txBody>
        </p:sp>
        <p:sp>
          <p:nvSpPr>
            <p:cNvPr id="30" name="TextBox 29">
              <a:extLst>
                <a:ext uri="{FF2B5EF4-FFF2-40B4-BE49-F238E27FC236}">
                  <a16:creationId xmlns:a16="http://schemas.microsoft.com/office/drawing/2014/main" id="{D6E2138F-16BD-F841-47D6-3CED9AD492C8}"/>
                </a:ext>
              </a:extLst>
            </p:cNvPr>
            <p:cNvSpPr txBox="1"/>
            <p:nvPr/>
          </p:nvSpPr>
          <p:spPr>
            <a:xfrm>
              <a:off x="5351844" y="4523410"/>
              <a:ext cx="603278" cy="523220"/>
            </a:xfrm>
            <a:prstGeom prst="rect">
              <a:avLst/>
            </a:prstGeom>
            <a:noFill/>
          </p:spPr>
          <p:txBody>
            <a:bodyPr wrap="square" rtlCol="0">
              <a:spAutoFit/>
            </a:bodyPr>
            <a:lstStyle/>
            <a:p>
              <a:r>
                <a:rPr lang="en-US" sz="2800" b="1" dirty="0"/>
                <a:t>19</a:t>
              </a:r>
            </a:p>
          </p:txBody>
        </p:sp>
      </p:grpSp>
      <p:sp>
        <p:nvSpPr>
          <p:cNvPr id="32" name="TextBox 31">
            <a:extLst>
              <a:ext uri="{FF2B5EF4-FFF2-40B4-BE49-F238E27FC236}">
                <a16:creationId xmlns:a16="http://schemas.microsoft.com/office/drawing/2014/main" id="{28EC3AD8-2BD8-C489-0D24-959C0EA4B880}"/>
              </a:ext>
            </a:extLst>
          </p:cNvPr>
          <p:cNvSpPr txBox="1"/>
          <p:nvPr/>
        </p:nvSpPr>
        <p:spPr>
          <a:xfrm>
            <a:off x="1447167" y="6011633"/>
            <a:ext cx="7134999" cy="461665"/>
          </a:xfrm>
          <a:prstGeom prst="rect">
            <a:avLst/>
          </a:prstGeom>
          <a:noFill/>
        </p:spPr>
        <p:txBody>
          <a:bodyPr wrap="square">
            <a:spAutoFit/>
          </a:bodyPr>
          <a:lstStyle/>
          <a:p>
            <a:r>
              <a:rPr lang="en-US" sz="2400" b="1" dirty="0"/>
              <a:t>Average waiting time 0+4+11+19= 34/4 = 8.5 </a:t>
            </a:r>
            <a:r>
              <a:rPr lang="en-US" sz="2400" b="1" dirty="0" err="1"/>
              <a:t>ms</a:t>
            </a:r>
            <a:endParaRPr lang="en-US" sz="2400" b="1" dirty="0"/>
          </a:p>
        </p:txBody>
      </p:sp>
      <p:sp>
        <p:nvSpPr>
          <p:cNvPr id="5" name="Slide Number Placeholder 4">
            <a:extLst>
              <a:ext uri="{FF2B5EF4-FFF2-40B4-BE49-F238E27FC236}">
                <a16:creationId xmlns:a16="http://schemas.microsoft.com/office/drawing/2014/main" id="{FB96B2F4-517C-00D8-77E0-594D0F82BA77}"/>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37182813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651B1-287C-0609-EE8E-E59791C7DD3F}"/>
              </a:ext>
            </a:extLst>
          </p:cNvPr>
          <p:cNvSpPr>
            <a:spLocks noGrp="1"/>
          </p:cNvSpPr>
          <p:nvPr>
            <p:ph type="title"/>
          </p:nvPr>
        </p:nvSpPr>
        <p:spPr/>
        <p:txBody>
          <a:bodyPr/>
          <a:lstStyle/>
          <a:p>
            <a:r>
              <a:rPr lang="en-US" sz="4000" dirty="0"/>
              <a:t>Shortest  Job First (SJF) Scheduling (Preemptive)</a:t>
            </a:r>
            <a:endParaRPr lang="en-US" dirty="0"/>
          </a:p>
        </p:txBody>
      </p:sp>
      <p:graphicFrame>
        <p:nvGraphicFramePr>
          <p:cNvPr id="7" name="Table 7">
            <a:extLst>
              <a:ext uri="{FF2B5EF4-FFF2-40B4-BE49-F238E27FC236}">
                <a16:creationId xmlns:a16="http://schemas.microsoft.com/office/drawing/2014/main" id="{2A120941-43D6-D34F-602F-F3A0BB50D00A}"/>
              </a:ext>
            </a:extLst>
          </p:cNvPr>
          <p:cNvGraphicFramePr>
            <a:graphicFrameLocks noGrp="1"/>
          </p:cNvGraphicFramePr>
          <p:nvPr>
            <p:ph idx="1"/>
            <p:extLst>
              <p:ext uri="{D42A27DB-BD31-4B8C-83A1-F6EECF244321}">
                <p14:modId xmlns:p14="http://schemas.microsoft.com/office/powerpoint/2010/main" val="476281132"/>
              </p:ext>
            </p:extLst>
          </p:nvPr>
        </p:nvGraphicFramePr>
        <p:xfrm>
          <a:off x="1363397" y="2286000"/>
          <a:ext cx="6942138" cy="2286000"/>
        </p:xfrm>
        <a:graphic>
          <a:graphicData uri="http://schemas.openxmlformats.org/drawingml/2006/table">
            <a:tbl>
              <a:tblPr firstRow="1" bandRow="1">
                <a:tableStyleId>{93296810-A885-4BE3-A3E7-6D5BEEA58F35}</a:tableStyleId>
              </a:tblPr>
              <a:tblGrid>
                <a:gridCol w="2314046">
                  <a:extLst>
                    <a:ext uri="{9D8B030D-6E8A-4147-A177-3AD203B41FA5}">
                      <a16:colId xmlns:a16="http://schemas.microsoft.com/office/drawing/2014/main" val="3946433313"/>
                    </a:ext>
                  </a:extLst>
                </a:gridCol>
                <a:gridCol w="1808691">
                  <a:extLst>
                    <a:ext uri="{9D8B030D-6E8A-4147-A177-3AD203B41FA5}">
                      <a16:colId xmlns:a16="http://schemas.microsoft.com/office/drawing/2014/main" val="2742797416"/>
                    </a:ext>
                  </a:extLst>
                </a:gridCol>
                <a:gridCol w="2819401">
                  <a:extLst>
                    <a:ext uri="{9D8B030D-6E8A-4147-A177-3AD203B41FA5}">
                      <a16:colId xmlns:a16="http://schemas.microsoft.com/office/drawing/2014/main" val="4114900123"/>
                    </a:ext>
                  </a:extLst>
                </a:gridCol>
              </a:tblGrid>
              <a:tr h="370840">
                <a:tc>
                  <a:txBody>
                    <a:bodyPr/>
                    <a:lstStyle/>
                    <a:p>
                      <a:r>
                        <a:rPr lang="en-US" sz="2400" b="1" dirty="0">
                          <a:solidFill>
                            <a:schemeClr val="tx2"/>
                          </a:solidFill>
                        </a:rPr>
                        <a:t>Process ID</a:t>
                      </a:r>
                    </a:p>
                  </a:txBody>
                  <a:tcPr/>
                </a:tc>
                <a:tc>
                  <a:txBody>
                    <a:bodyPr/>
                    <a:lstStyle/>
                    <a:p>
                      <a:r>
                        <a:rPr lang="en-US" sz="2400" b="1" dirty="0">
                          <a:solidFill>
                            <a:schemeClr val="tx2"/>
                          </a:solidFill>
                        </a:rPr>
                        <a:t>Arrival Time</a:t>
                      </a:r>
                    </a:p>
                  </a:txBody>
                  <a:tcPr/>
                </a:tc>
                <a:tc>
                  <a:txBody>
                    <a:bodyPr/>
                    <a:lstStyle/>
                    <a:p>
                      <a:r>
                        <a:rPr lang="en-US" sz="2400" b="1" dirty="0">
                          <a:solidFill>
                            <a:schemeClr val="tx2"/>
                          </a:solidFill>
                        </a:rPr>
                        <a:t>Burst Time in </a:t>
                      </a:r>
                      <a:r>
                        <a:rPr lang="en-US" sz="2400" b="1" dirty="0" err="1">
                          <a:solidFill>
                            <a:schemeClr val="tx2"/>
                          </a:solidFill>
                        </a:rPr>
                        <a:t>ms</a:t>
                      </a:r>
                      <a:endParaRPr lang="en-US" sz="2400" b="1" dirty="0">
                        <a:solidFill>
                          <a:schemeClr val="tx2"/>
                        </a:solidFill>
                      </a:endParaRPr>
                    </a:p>
                  </a:txBody>
                  <a:tcPr/>
                </a:tc>
                <a:extLst>
                  <a:ext uri="{0D108BD9-81ED-4DB2-BD59-A6C34878D82A}">
                    <a16:rowId xmlns:a16="http://schemas.microsoft.com/office/drawing/2014/main" val="2123233360"/>
                  </a:ext>
                </a:extLst>
              </a:tr>
              <a:tr h="370840">
                <a:tc>
                  <a:txBody>
                    <a:bodyPr/>
                    <a:lstStyle/>
                    <a:p>
                      <a:r>
                        <a:rPr lang="en-US" sz="2400" b="1" dirty="0">
                          <a:solidFill>
                            <a:schemeClr val="tx2"/>
                          </a:solidFill>
                        </a:rPr>
                        <a:t>P1</a:t>
                      </a:r>
                    </a:p>
                  </a:txBody>
                  <a:tcPr/>
                </a:tc>
                <a:tc>
                  <a:txBody>
                    <a:bodyPr/>
                    <a:lstStyle/>
                    <a:p>
                      <a:r>
                        <a:rPr lang="en-US" sz="2400" b="1" dirty="0">
                          <a:solidFill>
                            <a:schemeClr val="tx2"/>
                          </a:solidFill>
                        </a:rPr>
                        <a:t>0</a:t>
                      </a:r>
                    </a:p>
                  </a:txBody>
                  <a:tcPr/>
                </a:tc>
                <a:tc>
                  <a:txBody>
                    <a:bodyPr/>
                    <a:lstStyle/>
                    <a:p>
                      <a:r>
                        <a:rPr lang="en-US" sz="2400" b="1" dirty="0">
                          <a:solidFill>
                            <a:schemeClr val="tx2"/>
                          </a:solidFill>
                        </a:rPr>
                        <a:t>9   </a:t>
                      </a:r>
                    </a:p>
                  </a:txBody>
                  <a:tcPr/>
                </a:tc>
                <a:extLst>
                  <a:ext uri="{0D108BD9-81ED-4DB2-BD59-A6C34878D82A}">
                    <a16:rowId xmlns:a16="http://schemas.microsoft.com/office/drawing/2014/main" val="11422496"/>
                  </a:ext>
                </a:extLst>
              </a:tr>
              <a:tr h="370840">
                <a:tc>
                  <a:txBody>
                    <a:bodyPr/>
                    <a:lstStyle/>
                    <a:p>
                      <a:r>
                        <a:rPr lang="en-US" sz="2400" b="1" dirty="0">
                          <a:solidFill>
                            <a:schemeClr val="tx2"/>
                          </a:solidFill>
                        </a:rPr>
                        <a:t>P2</a:t>
                      </a:r>
                    </a:p>
                  </a:txBody>
                  <a:tcPr/>
                </a:tc>
                <a:tc>
                  <a:txBody>
                    <a:bodyPr/>
                    <a:lstStyle/>
                    <a:p>
                      <a:r>
                        <a:rPr lang="en-US" sz="2400" b="1" dirty="0">
                          <a:solidFill>
                            <a:schemeClr val="tx2"/>
                          </a:solidFill>
                        </a:rPr>
                        <a:t>1</a:t>
                      </a:r>
                    </a:p>
                  </a:txBody>
                  <a:tcPr/>
                </a:tc>
                <a:tc>
                  <a:txBody>
                    <a:bodyPr/>
                    <a:lstStyle/>
                    <a:p>
                      <a:r>
                        <a:rPr lang="en-US" sz="2400" b="1" dirty="0">
                          <a:solidFill>
                            <a:schemeClr val="tx2"/>
                          </a:solidFill>
                        </a:rPr>
                        <a:t>5</a:t>
                      </a:r>
                    </a:p>
                  </a:txBody>
                  <a:tcPr/>
                </a:tc>
                <a:extLst>
                  <a:ext uri="{0D108BD9-81ED-4DB2-BD59-A6C34878D82A}">
                    <a16:rowId xmlns:a16="http://schemas.microsoft.com/office/drawing/2014/main" val="794559914"/>
                  </a:ext>
                </a:extLst>
              </a:tr>
              <a:tr h="370840">
                <a:tc>
                  <a:txBody>
                    <a:bodyPr/>
                    <a:lstStyle/>
                    <a:p>
                      <a:r>
                        <a:rPr lang="en-US" sz="2400" b="1" dirty="0">
                          <a:solidFill>
                            <a:schemeClr val="tx2"/>
                          </a:solidFill>
                        </a:rPr>
                        <a:t>P3</a:t>
                      </a:r>
                    </a:p>
                  </a:txBody>
                  <a:tcPr/>
                </a:tc>
                <a:tc>
                  <a:txBody>
                    <a:bodyPr/>
                    <a:lstStyle/>
                    <a:p>
                      <a:r>
                        <a:rPr lang="en-US" sz="2400" b="1" dirty="0">
                          <a:solidFill>
                            <a:schemeClr val="tx2"/>
                          </a:solidFill>
                        </a:rPr>
                        <a:t>2</a:t>
                      </a:r>
                    </a:p>
                  </a:txBody>
                  <a:tcPr/>
                </a:tc>
                <a:tc>
                  <a:txBody>
                    <a:bodyPr/>
                    <a:lstStyle/>
                    <a:p>
                      <a:r>
                        <a:rPr lang="en-US" sz="2400" b="1" dirty="0">
                          <a:solidFill>
                            <a:schemeClr val="tx2"/>
                          </a:solidFill>
                        </a:rPr>
                        <a:t>10</a:t>
                      </a:r>
                    </a:p>
                  </a:txBody>
                  <a:tcPr/>
                </a:tc>
                <a:extLst>
                  <a:ext uri="{0D108BD9-81ED-4DB2-BD59-A6C34878D82A}">
                    <a16:rowId xmlns:a16="http://schemas.microsoft.com/office/drawing/2014/main" val="1657809223"/>
                  </a:ext>
                </a:extLst>
              </a:tr>
              <a:tr h="370840">
                <a:tc>
                  <a:txBody>
                    <a:bodyPr/>
                    <a:lstStyle/>
                    <a:p>
                      <a:r>
                        <a:rPr lang="en-US" sz="2400" b="1" dirty="0">
                          <a:solidFill>
                            <a:schemeClr val="tx2"/>
                          </a:solidFill>
                        </a:rPr>
                        <a:t>P4</a:t>
                      </a:r>
                    </a:p>
                  </a:txBody>
                  <a:tcPr/>
                </a:tc>
                <a:tc>
                  <a:txBody>
                    <a:bodyPr/>
                    <a:lstStyle/>
                    <a:p>
                      <a:r>
                        <a:rPr lang="en-US" sz="2400" b="1" dirty="0">
                          <a:solidFill>
                            <a:schemeClr val="tx2"/>
                          </a:solidFill>
                        </a:rPr>
                        <a:t>3</a:t>
                      </a:r>
                    </a:p>
                  </a:txBody>
                  <a:tcPr/>
                </a:tc>
                <a:tc>
                  <a:txBody>
                    <a:bodyPr/>
                    <a:lstStyle/>
                    <a:p>
                      <a:r>
                        <a:rPr lang="en-US" sz="2400" b="1" dirty="0">
                          <a:solidFill>
                            <a:schemeClr val="tx2"/>
                          </a:solidFill>
                        </a:rPr>
                        <a:t>6</a:t>
                      </a:r>
                    </a:p>
                  </a:txBody>
                  <a:tcPr/>
                </a:tc>
                <a:extLst>
                  <a:ext uri="{0D108BD9-81ED-4DB2-BD59-A6C34878D82A}">
                    <a16:rowId xmlns:a16="http://schemas.microsoft.com/office/drawing/2014/main" val="1988007742"/>
                  </a:ext>
                </a:extLst>
              </a:tr>
            </a:tbl>
          </a:graphicData>
        </a:graphic>
      </p:graphicFrame>
      <p:grpSp>
        <p:nvGrpSpPr>
          <p:cNvPr id="39" name="Group 38">
            <a:extLst>
              <a:ext uri="{FF2B5EF4-FFF2-40B4-BE49-F238E27FC236}">
                <a16:creationId xmlns:a16="http://schemas.microsoft.com/office/drawing/2014/main" id="{2C6DE160-B13A-927D-2696-46B107B1E2E3}"/>
              </a:ext>
            </a:extLst>
          </p:cNvPr>
          <p:cNvGrpSpPr/>
          <p:nvPr/>
        </p:nvGrpSpPr>
        <p:grpSpPr>
          <a:xfrm>
            <a:off x="1271134" y="5143026"/>
            <a:ext cx="7201749" cy="1347169"/>
            <a:chOff x="1271134" y="5143026"/>
            <a:chExt cx="7201749" cy="1347169"/>
          </a:xfrm>
        </p:grpSpPr>
        <p:sp>
          <p:nvSpPr>
            <p:cNvPr id="9" name="Rectangle 8">
              <a:extLst>
                <a:ext uri="{FF2B5EF4-FFF2-40B4-BE49-F238E27FC236}">
                  <a16:creationId xmlns:a16="http://schemas.microsoft.com/office/drawing/2014/main" id="{5D468708-8480-583F-2D84-CF97FAE96652}"/>
                </a:ext>
              </a:extLst>
            </p:cNvPr>
            <p:cNvSpPr/>
            <p:nvPr/>
          </p:nvSpPr>
          <p:spPr>
            <a:xfrm>
              <a:off x="1506054" y="5651995"/>
              <a:ext cx="6677802" cy="8382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2"/>
                  </a:solidFill>
                </a:rPr>
                <a:t>P1</a:t>
              </a:r>
            </a:p>
          </p:txBody>
        </p:sp>
        <p:sp>
          <p:nvSpPr>
            <p:cNvPr id="10" name="TextBox 9">
              <a:extLst>
                <a:ext uri="{FF2B5EF4-FFF2-40B4-BE49-F238E27FC236}">
                  <a16:creationId xmlns:a16="http://schemas.microsoft.com/office/drawing/2014/main" id="{6E290166-D120-0621-EB96-BE92D9A539B6}"/>
                </a:ext>
              </a:extLst>
            </p:cNvPr>
            <p:cNvSpPr txBox="1"/>
            <p:nvPr/>
          </p:nvSpPr>
          <p:spPr>
            <a:xfrm>
              <a:off x="2652407" y="5790219"/>
              <a:ext cx="609600" cy="523220"/>
            </a:xfrm>
            <a:prstGeom prst="rect">
              <a:avLst/>
            </a:prstGeom>
            <a:noFill/>
          </p:spPr>
          <p:txBody>
            <a:bodyPr wrap="square" rtlCol="0">
              <a:spAutoFit/>
            </a:bodyPr>
            <a:lstStyle/>
            <a:p>
              <a:r>
                <a:rPr lang="en-US" sz="2800" b="1" dirty="0">
                  <a:solidFill>
                    <a:schemeClr val="tx2"/>
                  </a:solidFill>
                </a:rPr>
                <a:t>P2</a:t>
              </a:r>
            </a:p>
          </p:txBody>
        </p:sp>
        <p:sp>
          <p:nvSpPr>
            <p:cNvPr id="11" name="TextBox 10">
              <a:extLst>
                <a:ext uri="{FF2B5EF4-FFF2-40B4-BE49-F238E27FC236}">
                  <a16:creationId xmlns:a16="http://schemas.microsoft.com/office/drawing/2014/main" id="{009A4952-AA48-04D1-501D-9245644116ED}"/>
                </a:ext>
              </a:extLst>
            </p:cNvPr>
            <p:cNvSpPr txBox="1"/>
            <p:nvPr/>
          </p:nvSpPr>
          <p:spPr>
            <a:xfrm>
              <a:off x="4185950" y="5790219"/>
              <a:ext cx="609600" cy="523220"/>
            </a:xfrm>
            <a:prstGeom prst="rect">
              <a:avLst/>
            </a:prstGeom>
            <a:noFill/>
          </p:spPr>
          <p:txBody>
            <a:bodyPr wrap="square" rtlCol="0">
              <a:spAutoFit/>
            </a:bodyPr>
            <a:lstStyle/>
            <a:p>
              <a:r>
                <a:rPr lang="en-US" sz="2800" b="1" dirty="0">
                  <a:solidFill>
                    <a:schemeClr val="tx2"/>
                  </a:solidFill>
                </a:rPr>
                <a:t>P4</a:t>
              </a:r>
            </a:p>
          </p:txBody>
        </p:sp>
        <p:sp>
          <p:nvSpPr>
            <p:cNvPr id="12" name="TextBox 11">
              <a:extLst>
                <a:ext uri="{FF2B5EF4-FFF2-40B4-BE49-F238E27FC236}">
                  <a16:creationId xmlns:a16="http://schemas.microsoft.com/office/drawing/2014/main" id="{A8099070-E406-0FDB-7069-F77F63E0E264}"/>
                </a:ext>
              </a:extLst>
            </p:cNvPr>
            <p:cNvSpPr txBox="1"/>
            <p:nvPr/>
          </p:nvSpPr>
          <p:spPr>
            <a:xfrm>
              <a:off x="6597555" y="5790219"/>
              <a:ext cx="609600" cy="523220"/>
            </a:xfrm>
            <a:prstGeom prst="rect">
              <a:avLst/>
            </a:prstGeom>
            <a:noFill/>
          </p:spPr>
          <p:txBody>
            <a:bodyPr wrap="square" rtlCol="0">
              <a:spAutoFit/>
            </a:bodyPr>
            <a:lstStyle/>
            <a:p>
              <a:r>
                <a:rPr lang="en-US" sz="2800" b="1" dirty="0">
                  <a:solidFill>
                    <a:schemeClr val="tx2"/>
                  </a:solidFill>
                </a:rPr>
                <a:t>P3</a:t>
              </a:r>
            </a:p>
          </p:txBody>
        </p:sp>
        <p:cxnSp>
          <p:nvCxnSpPr>
            <p:cNvPr id="13" name="Straight Connector 12">
              <a:extLst>
                <a:ext uri="{FF2B5EF4-FFF2-40B4-BE49-F238E27FC236}">
                  <a16:creationId xmlns:a16="http://schemas.microsoft.com/office/drawing/2014/main" id="{2EE1C097-F033-CBA9-7B6E-1745D727C3BC}"/>
                </a:ext>
              </a:extLst>
            </p:cNvPr>
            <p:cNvCxnSpPr/>
            <p:nvPr/>
          </p:nvCxnSpPr>
          <p:spPr>
            <a:xfrm>
              <a:off x="2268054" y="5651995"/>
              <a:ext cx="0" cy="838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3EC6776-7B39-11C4-7275-FD897EA740E4}"/>
                </a:ext>
              </a:extLst>
            </p:cNvPr>
            <p:cNvCxnSpPr/>
            <p:nvPr/>
          </p:nvCxnSpPr>
          <p:spPr>
            <a:xfrm>
              <a:off x="3487254" y="5651995"/>
              <a:ext cx="0" cy="838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7D84B3D-68F5-7A82-6CE8-DEE58CC063E2}"/>
                </a:ext>
              </a:extLst>
            </p:cNvPr>
            <p:cNvCxnSpPr/>
            <p:nvPr/>
          </p:nvCxnSpPr>
          <p:spPr>
            <a:xfrm>
              <a:off x="5176164" y="5651995"/>
              <a:ext cx="0" cy="838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C285EDF-59C7-8E16-8D3B-243F413E502F}"/>
                </a:ext>
              </a:extLst>
            </p:cNvPr>
            <p:cNvSpPr txBox="1"/>
            <p:nvPr/>
          </p:nvSpPr>
          <p:spPr>
            <a:xfrm>
              <a:off x="1271134" y="5236190"/>
              <a:ext cx="457200" cy="523220"/>
            </a:xfrm>
            <a:prstGeom prst="rect">
              <a:avLst/>
            </a:prstGeom>
            <a:noFill/>
          </p:spPr>
          <p:txBody>
            <a:bodyPr wrap="square" rtlCol="0">
              <a:spAutoFit/>
            </a:bodyPr>
            <a:lstStyle/>
            <a:p>
              <a:r>
                <a:rPr lang="en-US" sz="2800" b="1" dirty="0"/>
                <a:t>0</a:t>
              </a:r>
            </a:p>
          </p:txBody>
        </p:sp>
        <p:sp>
          <p:nvSpPr>
            <p:cNvPr id="17" name="TextBox 16">
              <a:extLst>
                <a:ext uri="{FF2B5EF4-FFF2-40B4-BE49-F238E27FC236}">
                  <a16:creationId xmlns:a16="http://schemas.microsoft.com/office/drawing/2014/main" id="{B99AD159-F2E5-9E14-6CC2-B882EB1192B3}"/>
                </a:ext>
              </a:extLst>
            </p:cNvPr>
            <p:cNvSpPr txBox="1"/>
            <p:nvPr/>
          </p:nvSpPr>
          <p:spPr>
            <a:xfrm>
              <a:off x="2109333" y="5143026"/>
              <a:ext cx="457200" cy="523220"/>
            </a:xfrm>
            <a:prstGeom prst="rect">
              <a:avLst/>
            </a:prstGeom>
            <a:noFill/>
          </p:spPr>
          <p:txBody>
            <a:bodyPr wrap="square" rtlCol="0">
              <a:spAutoFit/>
            </a:bodyPr>
            <a:lstStyle/>
            <a:p>
              <a:r>
                <a:rPr lang="en-US" sz="2800" b="1" dirty="0"/>
                <a:t>1</a:t>
              </a:r>
            </a:p>
          </p:txBody>
        </p:sp>
        <p:sp>
          <p:nvSpPr>
            <p:cNvPr id="18" name="TextBox 17">
              <a:extLst>
                <a:ext uri="{FF2B5EF4-FFF2-40B4-BE49-F238E27FC236}">
                  <a16:creationId xmlns:a16="http://schemas.microsoft.com/office/drawing/2014/main" id="{66297962-0160-1556-9915-809E3E09084B}"/>
                </a:ext>
              </a:extLst>
            </p:cNvPr>
            <p:cNvSpPr txBox="1"/>
            <p:nvPr/>
          </p:nvSpPr>
          <p:spPr>
            <a:xfrm>
              <a:off x="3258654" y="5157276"/>
              <a:ext cx="603278" cy="523220"/>
            </a:xfrm>
            <a:prstGeom prst="rect">
              <a:avLst/>
            </a:prstGeom>
            <a:noFill/>
          </p:spPr>
          <p:txBody>
            <a:bodyPr wrap="square" rtlCol="0">
              <a:spAutoFit/>
            </a:bodyPr>
            <a:lstStyle/>
            <a:p>
              <a:r>
                <a:rPr lang="en-US" sz="2800" b="1" dirty="0"/>
                <a:t>6</a:t>
              </a:r>
            </a:p>
          </p:txBody>
        </p:sp>
        <p:sp>
          <p:nvSpPr>
            <p:cNvPr id="19" name="TextBox 18">
              <a:extLst>
                <a:ext uri="{FF2B5EF4-FFF2-40B4-BE49-F238E27FC236}">
                  <a16:creationId xmlns:a16="http://schemas.microsoft.com/office/drawing/2014/main" id="{6F57C357-BB2F-438C-2C80-2C8E648306F3}"/>
                </a:ext>
              </a:extLst>
            </p:cNvPr>
            <p:cNvSpPr txBox="1"/>
            <p:nvPr/>
          </p:nvSpPr>
          <p:spPr>
            <a:xfrm>
              <a:off x="7761728" y="5196590"/>
              <a:ext cx="711155" cy="523220"/>
            </a:xfrm>
            <a:prstGeom prst="rect">
              <a:avLst/>
            </a:prstGeom>
            <a:noFill/>
          </p:spPr>
          <p:txBody>
            <a:bodyPr wrap="square" rtlCol="0">
              <a:spAutoFit/>
            </a:bodyPr>
            <a:lstStyle/>
            <a:p>
              <a:r>
                <a:rPr lang="en-US" sz="2800" b="1" dirty="0"/>
                <a:t>30</a:t>
              </a:r>
            </a:p>
          </p:txBody>
        </p:sp>
        <p:sp>
          <p:nvSpPr>
            <p:cNvPr id="20" name="TextBox 19">
              <a:extLst>
                <a:ext uri="{FF2B5EF4-FFF2-40B4-BE49-F238E27FC236}">
                  <a16:creationId xmlns:a16="http://schemas.microsoft.com/office/drawing/2014/main" id="{150097B7-0C66-5D38-11FE-09C26D55108E}"/>
                </a:ext>
              </a:extLst>
            </p:cNvPr>
            <p:cNvSpPr txBox="1"/>
            <p:nvPr/>
          </p:nvSpPr>
          <p:spPr>
            <a:xfrm>
              <a:off x="4859705" y="5143026"/>
              <a:ext cx="603278" cy="523220"/>
            </a:xfrm>
            <a:prstGeom prst="rect">
              <a:avLst/>
            </a:prstGeom>
            <a:noFill/>
          </p:spPr>
          <p:txBody>
            <a:bodyPr wrap="square" rtlCol="0">
              <a:spAutoFit/>
            </a:bodyPr>
            <a:lstStyle/>
            <a:p>
              <a:r>
                <a:rPr lang="en-US" sz="2800" b="1" dirty="0"/>
                <a:t>12</a:t>
              </a:r>
            </a:p>
          </p:txBody>
        </p:sp>
      </p:grpSp>
      <p:grpSp>
        <p:nvGrpSpPr>
          <p:cNvPr id="27" name="Group 26">
            <a:extLst>
              <a:ext uri="{FF2B5EF4-FFF2-40B4-BE49-F238E27FC236}">
                <a16:creationId xmlns:a16="http://schemas.microsoft.com/office/drawing/2014/main" id="{1EE6246E-B812-3737-9B3B-5C9EAF06E3DF}"/>
              </a:ext>
            </a:extLst>
          </p:cNvPr>
          <p:cNvGrpSpPr/>
          <p:nvPr/>
        </p:nvGrpSpPr>
        <p:grpSpPr>
          <a:xfrm>
            <a:off x="1409401" y="2739598"/>
            <a:ext cx="5980932" cy="692814"/>
            <a:chOff x="1409401" y="2739598"/>
            <a:chExt cx="5980932" cy="692814"/>
          </a:xfrm>
        </p:grpSpPr>
        <p:grpSp>
          <p:nvGrpSpPr>
            <p:cNvPr id="24" name="Group 23">
              <a:extLst>
                <a:ext uri="{FF2B5EF4-FFF2-40B4-BE49-F238E27FC236}">
                  <a16:creationId xmlns:a16="http://schemas.microsoft.com/office/drawing/2014/main" id="{DDC60311-EC04-F562-729F-A3AD90A46EED}"/>
                </a:ext>
              </a:extLst>
            </p:cNvPr>
            <p:cNvGrpSpPr/>
            <p:nvPr/>
          </p:nvGrpSpPr>
          <p:grpSpPr>
            <a:xfrm>
              <a:off x="5410200" y="2739598"/>
              <a:ext cx="1438168" cy="461665"/>
              <a:chOff x="5410200" y="2739598"/>
              <a:chExt cx="1438168" cy="461665"/>
            </a:xfrm>
          </p:grpSpPr>
          <p:cxnSp>
            <p:nvCxnSpPr>
              <p:cNvPr id="22" name="Straight Connector 21">
                <a:extLst>
                  <a:ext uri="{FF2B5EF4-FFF2-40B4-BE49-F238E27FC236}">
                    <a16:creationId xmlns:a16="http://schemas.microsoft.com/office/drawing/2014/main" id="{B7644E9E-AEFF-1577-14CE-7968C85907D3}"/>
                  </a:ext>
                </a:extLst>
              </p:cNvPr>
              <p:cNvCxnSpPr/>
              <p:nvPr/>
            </p:nvCxnSpPr>
            <p:spPr>
              <a:xfrm>
                <a:off x="5410200" y="2895600"/>
                <a:ext cx="533400" cy="30480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F6177E0-A61B-E0F7-6868-A46D7C1CD0FA}"/>
                  </a:ext>
                </a:extLst>
              </p:cNvPr>
              <p:cNvSpPr txBox="1"/>
              <p:nvPr/>
            </p:nvSpPr>
            <p:spPr>
              <a:xfrm>
                <a:off x="6086368" y="2739598"/>
                <a:ext cx="762000" cy="461665"/>
              </a:xfrm>
              <a:prstGeom prst="rect">
                <a:avLst/>
              </a:prstGeom>
              <a:noFill/>
            </p:spPr>
            <p:txBody>
              <a:bodyPr wrap="square" rtlCol="0">
                <a:spAutoFit/>
              </a:bodyPr>
              <a:lstStyle/>
              <a:p>
                <a:r>
                  <a:rPr lang="en-US" sz="2400" b="1" dirty="0"/>
                  <a:t>= 8</a:t>
                </a:r>
              </a:p>
            </p:txBody>
          </p:sp>
        </p:grpSp>
        <p:cxnSp>
          <p:nvCxnSpPr>
            <p:cNvPr id="26" name="Straight Connector 25">
              <a:extLst>
                <a:ext uri="{FF2B5EF4-FFF2-40B4-BE49-F238E27FC236}">
                  <a16:creationId xmlns:a16="http://schemas.microsoft.com/office/drawing/2014/main" id="{32DAA771-2824-8B1B-1932-AF4854A46010}"/>
                </a:ext>
              </a:extLst>
            </p:cNvPr>
            <p:cNvCxnSpPr/>
            <p:nvPr/>
          </p:nvCxnSpPr>
          <p:spPr>
            <a:xfrm>
              <a:off x="1409401" y="3432412"/>
              <a:ext cx="598093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29" name="Straight Connector 28">
            <a:extLst>
              <a:ext uri="{FF2B5EF4-FFF2-40B4-BE49-F238E27FC236}">
                <a16:creationId xmlns:a16="http://schemas.microsoft.com/office/drawing/2014/main" id="{D8FB993A-432E-05D7-3436-F421C6D164CA}"/>
              </a:ext>
            </a:extLst>
          </p:cNvPr>
          <p:cNvCxnSpPr/>
          <p:nvPr/>
        </p:nvCxnSpPr>
        <p:spPr>
          <a:xfrm>
            <a:off x="6324600" y="5649349"/>
            <a:ext cx="0" cy="8239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4FB5C9CD-75CF-95E5-8EF0-AD2B79A6F2F5}"/>
              </a:ext>
            </a:extLst>
          </p:cNvPr>
          <p:cNvSpPr txBox="1"/>
          <p:nvPr/>
        </p:nvSpPr>
        <p:spPr>
          <a:xfrm>
            <a:off x="5410200" y="5722590"/>
            <a:ext cx="609600" cy="523220"/>
          </a:xfrm>
          <a:prstGeom prst="rect">
            <a:avLst/>
          </a:prstGeom>
          <a:noFill/>
        </p:spPr>
        <p:txBody>
          <a:bodyPr wrap="square" rtlCol="0">
            <a:spAutoFit/>
          </a:bodyPr>
          <a:lstStyle/>
          <a:p>
            <a:r>
              <a:rPr lang="en-US" sz="2800" b="1" dirty="0">
                <a:solidFill>
                  <a:schemeClr val="tx2"/>
                </a:solidFill>
              </a:rPr>
              <a:t>P1</a:t>
            </a:r>
          </a:p>
        </p:txBody>
      </p:sp>
      <p:sp>
        <p:nvSpPr>
          <p:cNvPr id="35" name="TextBox 34">
            <a:extLst>
              <a:ext uri="{FF2B5EF4-FFF2-40B4-BE49-F238E27FC236}">
                <a16:creationId xmlns:a16="http://schemas.microsoft.com/office/drawing/2014/main" id="{D4D2C6D1-181B-D679-C308-F26E91BA38D0}"/>
              </a:ext>
            </a:extLst>
          </p:cNvPr>
          <p:cNvSpPr txBox="1"/>
          <p:nvPr/>
        </p:nvSpPr>
        <p:spPr>
          <a:xfrm>
            <a:off x="6139410" y="5130950"/>
            <a:ext cx="603278" cy="523220"/>
          </a:xfrm>
          <a:prstGeom prst="rect">
            <a:avLst/>
          </a:prstGeom>
          <a:noFill/>
        </p:spPr>
        <p:txBody>
          <a:bodyPr wrap="square" rtlCol="0">
            <a:spAutoFit/>
          </a:bodyPr>
          <a:lstStyle/>
          <a:p>
            <a:r>
              <a:rPr lang="en-US" sz="2800" b="1" dirty="0"/>
              <a:t>20</a:t>
            </a:r>
          </a:p>
        </p:txBody>
      </p:sp>
      <p:cxnSp>
        <p:nvCxnSpPr>
          <p:cNvPr id="36" name="Straight Connector 35">
            <a:extLst>
              <a:ext uri="{FF2B5EF4-FFF2-40B4-BE49-F238E27FC236}">
                <a16:creationId xmlns:a16="http://schemas.microsoft.com/office/drawing/2014/main" id="{DE806B14-5473-DECD-77D7-65B8CA370A3E}"/>
              </a:ext>
            </a:extLst>
          </p:cNvPr>
          <p:cNvCxnSpPr/>
          <p:nvPr/>
        </p:nvCxnSpPr>
        <p:spPr>
          <a:xfrm>
            <a:off x="1409401" y="4343400"/>
            <a:ext cx="598093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A2FB2DF-4C2E-2049-AE8D-C33A26B6EC7B}"/>
              </a:ext>
            </a:extLst>
          </p:cNvPr>
          <p:cNvCxnSpPr/>
          <p:nvPr/>
        </p:nvCxnSpPr>
        <p:spPr>
          <a:xfrm>
            <a:off x="1409401" y="2970430"/>
            <a:ext cx="598093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9A897A0-6021-38DD-2CA7-B60D4EB22B8C}"/>
              </a:ext>
            </a:extLst>
          </p:cNvPr>
          <p:cNvCxnSpPr/>
          <p:nvPr/>
        </p:nvCxnSpPr>
        <p:spPr>
          <a:xfrm>
            <a:off x="1462741" y="3886200"/>
            <a:ext cx="598093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E8769B42-392C-3E35-492A-863FDD79B82C}"/>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2445510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anim calcmode="lin" valueType="num">
                                      <p:cBhvr additive="base">
                                        <p:cTn id="13" dur="500" fill="hold"/>
                                        <p:tgtEl>
                                          <p:spTgt spid="36"/>
                                        </p:tgtEl>
                                        <p:attrNameLst>
                                          <p:attrName>ppt_x</p:attrName>
                                        </p:attrNameLst>
                                      </p:cBhvr>
                                      <p:tavLst>
                                        <p:tav tm="0">
                                          <p:val>
                                            <p:strVal val="#ppt_x"/>
                                          </p:val>
                                        </p:tav>
                                        <p:tav tm="100000">
                                          <p:val>
                                            <p:strVal val="#ppt_x"/>
                                          </p:val>
                                        </p:tav>
                                      </p:tavLst>
                                    </p:anim>
                                    <p:anim calcmode="lin" valueType="num">
                                      <p:cBhvr additive="base">
                                        <p:cTn id="1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anim calcmode="lin" valueType="num">
                                      <p:cBhvr additive="base">
                                        <p:cTn id="19" dur="500" fill="hold"/>
                                        <p:tgtEl>
                                          <p:spTgt spid="37"/>
                                        </p:tgtEl>
                                        <p:attrNameLst>
                                          <p:attrName>ppt_x</p:attrName>
                                        </p:attrNameLst>
                                      </p:cBhvr>
                                      <p:tavLst>
                                        <p:tav tm="0">
                                          <p:val>
                                            <p:strVal val="#ppt_x"/>
                                          </p:val>
                                        </p:tav>
                                        <p:tav tm="100000">
                                          <p:val>
                                            <p:strVal val="#ppt_x"/>
                                          </p:val>
                                        </p:tav>
                                      </p:tavLst>
                                    </p:anim>
                                    <p:anim calcmode="lin" valueType="num">
                                      <p:cBhvr additive="base">
                                        <p:cTn id="20"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8"/>
                                        </p:tgtEl>
                                        <p:attrNameLst>
                                          <p:attrName>style.visibility</p:attrName>
                                        </p:attrNameLst>
                                      </p:cBhvr>
                                      <p:to>
                                        <p:strVal val="visible"/>
                                      </p:to>
                                    </p:set>
                                    <p:anim calcmode="lin" valueType="num">
                                      <p:cBhvr additive="base">
                                        <p:cTn id="25" dur="500" fill="hold"/>
                                        <p:tgtEl>
                                          <p:spTgt spid="38"/>
                                        </p:tgtEl>
                                        <p:attrNameLst>
                                          <p:attrName>ppt_x</p:attrName>
                                        </p:attrNameLst>
                                      </p:cBhvr>
                                      <p:tavLst>
                                        <p:tav tm="0">
                                          <p:val>
                                            <p:strVal val="#ppt_x"/>
                                          </p:val>
                                        </p:tav>
                                        <p:tav tm="100000">
                                          <p:val>
                                            <p:strVal val="#ppt_x"/>
                                          </p:val>
                                        </p:tav>
                                      </p:tavLst>
                                    </p:anim>
                                    <p:anim calcmode="lin" valueType="num">
                                      <p:cBhvr additive="base">
                                        <p:cTn id="26"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1B863-ED82-A6B3-4B9B-C9C2E0278843}"/>
              </a:ext>
            </a:extLst>
          </p:cNvPr>
          <p:cNvSpPr>
            <a:spLocks noGrp="1"/>
          </p:cNvSpPr>
          <p:nvPr>
            <p:ph type="title"/>
          </p:nvPr>
        </p:nvSpPr>
        <p:spPr>
          <a:xfrm>
            <a:off x="982133" y="79902"/>
            <a:ext cx="7704667" cy="609599"/>
          </a:xfrm>
        </p:spPr>
        <p:txBody>
          <a:bodyPr>
            <a:normAutofit fontScale="90000"/>
          </a:bodyPr>
          <a:lstStyle/>
          <a:p>
            <a:r>
              <a:rPr lang="en-US" dirty="0"/>
              <a:t>Calculate Average Waiting Time</a:t>
            </a:r>
          </a:p>
        </p:txBody>
      </p:sp>
      <p:sp>
        <p:nvSpPr>
          <p:cNvPr id="3" name="Content Placeholder 2">
            <a:extLst>
              <a:ext uri="{FF2B5EF4-FFF2-40B4-BE49-F238E27FC236}">
                <a16:creationId xmlns:a16="http://schemas.microsoft.com/office/drawing/2014/main" id="{F182976F-7681-E0B9-883C-FC277C297363}"/>
              </a:ext>
            </a:extLst>
          </p:cNvPr>
          <p:cNvSpPr>
            <a:spLocks noGrp="1"/>
          </p:cNvSpPr>
          <p:nvPr>
            <p:ph idx="1"/>
          </p:nvPr>
        </p:nvSpPr>
        <p:spPr>
          <a:xfrm>
            <a:off x="982133" y="3429000"/>
            <a:ext cx="7704667" cy="2570816"/>
          </a:xfrm>
        </p:spPr>
        <p:txBody>
          <a:bodyPr>
            <a:normAutofit fontScale="77500" lnSpcReduction="20000"/>
          </a:bodyPr>
          <a:lstStyle/>
          <a:p>
            <a:pPr marL="0" indent="0">
              <a:buNone/>
            </a:pPr>
            <a:r>
              <a:rPr lang="en-US" sz="2800" b="1" dirty="0"/>
              <a:t>Waiting time = total waiting time - # of </a:t>
            </a:r>
            <a:r>
              <a:rPr lang="en-US" sz="2800" b="1" dirty="0" err="1"/>
              <a:t>ms</a:t>
            </a:r>
            <a:r>
              <a:rPr lang="en-US" sz="2800" b="1" dirty="0"/>
              <a:t> process executed-arrival time</a:t>
            </a:r>
          </a:p>
          <a:p>
            <a:pPr marL="0" indent="0">
              <a:buNone/>
            </a:pPr>
            <a:r>
              <a:rPr lang="en-US" dirty="0"/>
              <a:t>P1 waiting time = 12 – 1 – 0 = 11 </a:t>
            </a:r>
            <a:r>
              <a:rPr lang="en-US" dirty="0" err="1"/>
              <a:t>ms</a:t>
            </a:r>
            <a:endParaRPr lang="en-US" dirty="0"/>
          </a:p>
          <a:p>
            <a:pPr marL="0" indent="0">
              <a:buNone/>
            </a:pPr>
            <a:r>
              <a:rPr lang="en-US" dirty="0"/>
              <a:t>P2 waiting time = 1 – 0 – 1 = 0 </a:t>
            </a:r>
            <a:r>
              <a:rPr lang="en-US" dirty="0" err="1"/>
              <a:t>ms</a:t>
            </a:r>
            <a:endParaRPr lang="en-US" dirty="0"/>
          </a:p>
          <a:p>
            <a:pPr marL="0" indent="0">
              <a:buNone/>
            </a:pPr>
            <a:r>
              <a:rPr lang="en-US" dirty="0"/>
              <a:t>P3 waiting time = 20 – 0 – 2 = 18 </a:t>
            </a:r>
            <a:r>
              <a:rPr lang="en-US" dirty="0" err="1"/>
              <a:t>ms</a:t>
            </a:r>
            <a:endParaRPr lang="en-US" dirty="0"/>
          </a:p>
          <a:p>
            <a:pPr marL="0" indent="0">
              <a:buNone/>
            </a:pPr>
            <a:r>
              <a:rPr lang="en-US" dirty="0"/>
              <a:t>P4 waiting time = 6 – 0 – 3 = 3 </a:t>
            </a:r>
            <a:r>
              <a:rPr lang="en-US" dirty="0" err="1"/>
              <a:t>ms</a:t>
            </a:r>
            <a:endParaRPr lang="en-US" dirty="0"/>
          </a:p>
          <a:p>
            <a:pPr marL="0" indent="0">
              <a:buNone/>
            </a:pPr>
            <a:r>
              <a:rPr lang="en-US" dirty="0"/>
              <a:t>Avg waiting time = 11 + 0 + 18 + 3 = 32/4 = 8 </a:t>
            </a:r>
            <a:r>
              <a:rPr lang="en-US" dirty="0" err="1"/>
              <a:t>ms</a:t>
            </a:r>
            <a:endParaRPr lang="en-US" dirty="0"/>
          </a:p>
          <a:p>
            <a:pPr marL="0" indent="0">
              <a:buNone/>
            </a:pPr>
            <a:endParaRPr lang="en-US" dirty="0"/>
          </a:p>
          <a:p>
            <a:pPr marL="0" indent="0">
              <a:buNone/>
            </a:pPr>
            <a:endParaRPr lang="en-US" dirty="0"/>
          </a:p>
          <a:p>
            <a:pPr marL="0" indent="0">
              <a:buNone/>
            </a:pPr>
            <a:endParaRPr lang="en-US" dirty="0"/>
          </a:p>
        </p:txBody>
      </p:sp>
      <p:pic>
        <p:nvPicPr>
          <p:cNvPr id="8" name="Picture 7">
            <a:extLst>
              <a:ext uri="{FF2B5EF4-FFF2-40B4-BE49-F238E27FC236}">
                <a16:creationId xmlns:a16="http://schemas.microsoft.com/office/drawing/2014/main" id="{7AE92E33-168F-5CFE-BE47-E6646E317E5E}"/>
              </a:ext>
            </a:extLst>
          </p:cNvPr>
          <p:cNvPicPr>
            <a:picLocks noChangeAspect="1"/>
          </p:cNvPicPr>
          <p:nvPr/>
        </p:nvPicPr>
        <p:blipFill>
          <a:blip r:embed="rId3"/>
          <a:stretch>
            <a:fillRect/>
          </a:stretch>
        </p:blipFill>
        <p:spPr>
          <a:xfrm>
            <a:off x="1221277" y="665618"/>
            <a:ext cx="6131671" cy="2174200"/>
          </a:xfrm>
          <a:prstGeom prst="rect">
            <a:avLst/>
          </a:prstGeom>
        </p:spPr>
      </p:pic>
      <p:grpSp>
        <p:nvGrpSpPr>
          <p:cNvPr id="22" name="Group 21">
            <a:extLst>
              <a:ext uri="{FF2B5EF4-FFF2-40B4-BE49-F238E27FC236}">
                <a16:creationId xmlns:a16="http://schemas.microsoft.com/office/drawing/2014/main" id="{E7E641C1-EDC0-6EF9-AFF9-15D60399B113}"/>
              </a:ext>
            </a:extLst>
          </p:cNvPr>
          <p:cNvGrpSpPr/>
          <p:nvPr/>
        </p:nvGrpSpPr>
        <p:grpSpPr>
          <a:xfrm>
            <a:off x="1972647" y="5437797"/>
            <a:ext cx="6987833" cy="1232395"/>
            <a:chOff x="1271134" y="5143026"/>
            <a:chExt cx="7201749" cy="1347169"/>
          </a:xfrm>
        </p:grpSpPr>
        <p:sp>
          <p:nvSpPr>
            <p:cNvPr id="23" name="Rectangle 22">
              <a:extLst>
                <a:ext uri="{FF2B5EF4-FFF2-40B4-BE49-F238E27FC236}">
                  <a16:creationId xmlns:a16="http://schemas.microsoft.com/office/drawing/2014/main" id="{4CFB7F25-6311-0B70-51B8-2500A8942C4D}"/>
                </a:ext>
              </a:extLst>
            </p:cNvPr>
            <p:cNvSpPr/>
            <p:nvPr/>
          </p:nvSpPr>
          <p:spPr>
            <a:xfrm>
              <a:off x="1506054" y="5651995"/>
              <a:ext cx="6677802" cy="8382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2"/>
                  </a:solidFill>
                </a:rPr>
                <a:t>P1</a:t>
              </a:r>
            </a:p>
          </p:txBody>
        </p:sp>
        <p:sp>
          <p:nvSpPr>
            <p:cNvPr id="24" name="TextBox 23">
              <a:extLst>
                <a:ext uri="{FF2B5EF4-FFF2-40B4-BE49-F238E27FC236}">
                  <a16:creationId xmlns:a16="http://schemas.microsoft.com/office/drawing/2014/main" id="{10A114D1-344B-BB8A-0337-6CD0D62E9B84}"/>
                </a:ext>
              </a:extLst>
            </p:cNvPr>
            <p:cNvSpPr txBox="1"/>
            <p:nvPr/>
          </p:nvSpPr>
          <p:spPr>
            <a:xfrm>
              <a:off x="2652407" y="5790219"/>
              <a:ext cx="609600" cy="523220"/>
            </a:xfrm>
            <a:prstGeom prst="rect">
              <a:avLst/>
            </a:prstGeom>
            <a:noFill/>
          </p:spPr>
          <p:txBody>
            <a:bodyPr wrap="square" rtlCol="0">
              <a:spAutoFit/>
            </a:bodyPr>
            <a:lstStyle/>
            <a:p>
              <a:r>
                <a:rPr lang="en-US" sz="2800" b="1" dirty="0">
                  <a:solidFill>
                    <a:schemeClr val="tx2"/>
                  </a:solidFill>
                </a:rPr>
                <a:t>P2</a:t>
              </a:r>
            </a:p>
          </p:txBody>
        </p:sp>
        <p:sp>
          <p:nvSpPr>
            <p:cNvPr id="25" name="TextBox 24">
              <a:extLst>
                <a:ext uri="{FF2B5EF4-FFF2-40B4-BE49-F238E27FC236}">
                  <a16:creationId xmlns:a16="http://schemas.microsoft.com/office/drawing/2014/main" id="{68696ED8-4FE8-F711-CFB8-CDC2352AEF02}"/>
                </a:ext>
              </a:extLst>
            </p:cNvPr>
            <p:cNvSpPr txBox="1"/>
            <p:nvPr/>
          </p:nvSpPr>
          <p:spPr>
            <a:xfrm>
              <a:off x="4185950" y="5790219"/>
              <a:ext cx="609600" cy="523220"/>
            </a:xfrm>
            <a:prstGeom prst="rect">
              <a:avLst/>
            </a:prstGeom>
            <a:noFill/>
          </p:spPr>
          <p:txBody>
            <a:bodyPr wrap="square" rtlCol="0">
              <a:spAutoFit/>
            </a:bodyPr>
            <a:lstStyle/>
            <a:p>
              <a:r>
                <a:rPr lang="en-US" sz="2800" b="1" dirty="0">
                  <a:solidFill>
                    <a:schemeClr val="tx2"/>
                  </a:solidFill>
                </a:rPr>
                <a:t>P4</a:t>
              </a:r>
            </a:p>
          </p:txBody>
        </p:sp>
        <p:sp>
          <p:nvSpPr>
            <p:cNvPr id="26" name="TextBox 25">
              <a:extLst>
                <a:ext uri="{FF2B5EF4-FFF2-40B4-BE49-F238E27FC236}">
                  <a16:creationId xmlns:a16="http://schemas.microsoft.com/office/drawing/2014/main" id="{B35E30EF-DDA4-7946-023E-0253E6E122DE}"/>
                </a:ext>
              </a:extLst>
            </p:cNvPr>
            <p:cNvSpPr txBox="1"/>
            <p:nvPr/>
          </p:nvSpPr>
          <p:spPr>
            <a:xfrm>
              <a:off x="6597555" y="5790219"/>
              <a:ext cx="609600" cy="523220"/>
            </a:xfrm>
            <a:prstGeom prst="rect">
              <a:avLst/>
            </a:prstGeom>
            <a:noFill/>
          </p:spPr>
          <p:txBody>
            <a:bodyPr wrap="square" rtlCol="0">
              <a:spAutoFit/>
            </a:bodyPr>
            <a:lstStyle/>
            <a:p>
              <a:r>
                <a:rPr lang="en-US" sz="2800" b="1" dirty="0">
                  <a:solidFill>
                    <a:schemeClr val="tx2"/>
                  </a:solidFill>
                </a:rPr>
                <a:t>P3</a:t>
              </a:r>
            </a:p>
          </p:txBody>
        </p:sp>
        <p:cxnSp>
          <p:nvCxnSpPr>
            <p:cNvPr id="27" name="Straight Connector 26">
              <a:extLst>
                <a:ext uri="{FF2B5EF4-FFF2-40B4-BE49-F238E27FC236}">
                  <a16:creationId xmlns:a16="http://schemas.microsoft.com/office/drawing/2014/main" id="{FE9C653C-6129-9500-90FA-D4212F35525C}"/>
                </a:ext>
              </a:extLst>
            </p:cNvPr>
            <p:cNvCxnSpPr/>
            <p:nvPr/>
          </p:nvCxnSpPr>
          <p:spPr>
            <a:xfrm>
              <a:off x="2268054" y="5651995"/>
              <a:ext cx="0" cy="838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8E36D94-D31F-6059-9DC0-74CD55FBF48C}"/>
                </a:ext>
              </a:extLst>
            </p:cNvPr>
            <p:cNvCxnSpPr/>
            <p:nvPr/>
          </p:nvCxnSpPr>
          <p:spPr>
            <a:xfrm>
              <a:off x="3487254" y="5651995"/>
              <a:ext cx="0" cy="838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95A5C69-9B02-0DE0-2840-A4FC8913EE2D}"/>
                </a:ext>
              </a:extLst>
            </p:cNvPr>
            <p:cNvCxnSpPr/>
            <p:nvPr/>
          </p:nvCxnSpPr>
          <p:spPr>
            <a:xfrm>
              <a:off x="5176164" y="5651995"/>
              <a:ext cx="0" cy="838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1FFF0DE-3B6A-9095-0C74-996F4812ADDD}"/>
                </a:ext>
              </a:extLst>
            </p:cNvPr>
            <p:cNvSpPr txBox="1"/>
            <p:nvPr/>
          </p:nvSpPr>
          <p:spPr>
            <a:xfrm>
              <a:off x="1271134" y="5236190"/>
              <a:ext cx="457200" cy="523220"/>
            </a:xfrm>
            <a:prstGeom prst="rect">
              <a:avLst/>
            </a:prstGeom>
            <a:noFill/>
          </p:spPr>
          <p:txBody>
            <a:bodyPr wrap="square" rtlCol="0">
              <a:spAutoFit/>
            </a:bodyPr>
            <a:lstStyle/>
            <a:p>
              <a:r>
                <a:rPr lang="en-US" sz="2800" b="1" dirty="0"/>
                <a:t>0</a:t>
              </a:r>
            </a:p>
          </p:txBody>
        </p:sp>
        <p:sp>
          <p:nvSpPr>
            <p:cNvPr id="31" name="TextBox 30">
              <a:extLst>
                <a:ext uri="{FF2B5EF4-FFF2-40B4-BE49-F238E27FC236}">
                  <a16:creationId xmlns:a16="http://schemas.microsoft.com/office/drawing/2014/main" id="{37D77C29-5D9E-0B15-DA04-A30FB4DDF74F}"/>
                </a:ext>
              </a:extLst>
            </p:cNvPr>
            <p:cNvSpPr txBox="1"/>
            <p:nvPr/>
          </p:nvSpPr>
          <p:spPr>
            <a:xfrm>
              <a:off x="2109333" y="5143026"/>
              <a:ext cx="457200" cy="523220"/>
            </a:xfrm>
            <a:prstGeom prst="rect">
              <a:avLst/>
            </a:prstGeom>
            <a:noFill/>
          </p:spPr>
          <p:txBody>
            <a:bodyPr wrap="square" rtlCol="0">
              <a:spAutoFit/>
            </a:bodyPr>
            <a:lstStyle/>
            <a:p>
              <a:r>
                <a:rPr lang="en-US" sz="2800" b="1" dirty="0"/>
                <a:t>1</a:t>
              </a:r>
            </a:p>
          </p:txBody>
        </p:sp>
        <p:sp>
          <p:nvSpPr>
            <p:cNvPr id="32" name="TextBox 31">
              <a:extLst>
                <a:ext uri="{FF2B5EF4-FFF2-40B4-BE49-F238E27FC236}">
                  <a16:creationId xmlns:a16="http://schemas.microsoft.com/office/drawing/2014/main" id="{9FA9668A-12D5-FB2B-1BDC-1304C4EE5890}"/>
                </a:ext>
              </a:extLst>
            </p:cNvPr>
            <p:cNvSpPr txBox="1"/>
            <p:nvPr/>
          </p:nvSpPr>
          <p:spPr>
            <a:xfrm>
              <a:off x="3258654" y="5157276"/>
              <a:ext cx="603278" cy="523220"/>
            </a:xfrm>
            <a:prstGeom prst="rect">
              <a:avLst/>
            </a:prstGeom>
            <a:noFill/>
          </p:spPr>
          <p:txBody>
            <a:bodyPr wrap="square" rtlCol="0">
              <a:spAutoFit/>
            </a:bodyPr>
            <a:lstStyle/>
            <a:p>
              <a:r>
                <a:rPr lang="en-US" sz="2800" b="1" dirty="0"/>
                <a:t>6</a:t>
              </a:r>
            </a:p>
          </p:txBody>
        </p:sp>
        <p:sp>
          <p:nvSpPr>
            <p:cNvPr id="33" name="TextBox 32">
              <a:extLst>
                <a:ext uri="{FF2B5EF4-FFF2-40B4-BE49-F238E27FC236}">
                  <a16:creationId xmlns:a16="http://schemas.microsoft.com/office/drawing/2014/main" id="{C0E4841A-D1AA-9BDF-3854-0BBF2835D40D}"/>
                </a:ext>
              </a:extLst>
            </p:cNvPr>
            <p:cNvSpPr txBox="1"/>
            <p:nvPr/>
          </p:nvSpPr>
          <p:spPr>
            <a:xfrm>
              <a:off x="7761728" y="5196590"/>
              <a:ext cx="711155" cy="523220"/>
            </a:xfrm>
            <a:prstGeom prst="rect">
              <a:avLst/>
            </a:prstGeom>
            <a:noFill/>
          </p:spPr>
          <p:txBody>
            <a:bodyPr wrap="square" rtlCol="0">
              <a:spAutoFit/>
            </a:bodyPr>
            <a:lstStyle/>
            <a:p>
              <a:r>
                <a:rPr lang="en-US" sz="2800" b="1" dirty="0"/>
                <a:t>30</a:t>
              </a:r>
            </a:p>
          </p:txBody>
        </p:sp>
        <p:sp>
          <p:nvSpPr>
            <p:cNvPr id="34" name="TextBox 33">
              <a:extLst>
                <a:ext uri="{FF2B5EF4-FFF2-40B4-BE49-F238E27FC236}">
                  <a16:creationId xmlns:a16="http://schemas.microsoft.com/office/drawing/2014/main" id="{CB6D58E1-CD4A-D1C2-5D00-0494F8E95F73}"/>
                </a:ext>
              </a:extLst>
            </p:cNvPr>
            <p:cNvSpPr txBox="1"/>
            <p:nvPr/>
          </p:nvSpPr>
          <p:spPr>
            <a:xfrm>
              <a:off x="4859705" y="5143026"/>
              <a:ext cx="603278" cy="523220"/>
            </a:xfrm>
            <a:prstGeom prst="rect">
              <a:avLst/>
            </a:prstGeom>
            <a:noFill/>
          </p:spPr>
          <p:txBody>
            <a:bodyPr wrap="square" rtlCol="0">
              <a:spAutoFit/>
            </a:bodyPr>
            <a:lstStyle/>
            <a:p>
              <a:r>
                <a:rPr lang="en-US" sz="2800" b="1" dirty="0"/>
                <a:t>12</a:t>
              </a:r>
            </a:p>
          </p:txBody>
        </p:sp>
      </p:grpSp>
      <p:cxnSp>
        <p:nvCxnSpPr>
          <p:cNvPr id="36" name="Straight Connector 35">
            <a:extLst>
              <a:ext uri="{FF2B5EF4-FFF2-40B4-BE49-F238E27FC236}">
                <a16:creationId xmlns:a16="http://schemas.microsoft.com/office/drawing/2014/main" id="{B51D718E-0AE5-62A9-6BB6-7C8DE2C39576}"/>
              </a:ext>
            </a:extLst>
          </p:cNvPr>
          <p:cNvCxnSpPr/>
          <p:nvPr/>
        </p:nvCxnSpPr>
        <p:spPr>
          <a:xfrm>
            <a:off x="6629400" y="5929477"/>
            <a:ext cx="0" cy="74071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304B9AE-79FC-D2F5-BC25-105B23F99014}"/>
              </a:ext>
            </a:extLst>
          </p:cNvPr>
          <p:cNvSpPr txBox="1"/>
          <p:nvPr/>
        </p:nvSpPr>
        <p:spPr>
          <a:xfrm>
            <a:off x="5835248" y="5994654"/>
            <a:ext cx="591493" cy="523220"/>
          </a:xfrm>
          <a:prstGeom prst="rect">
            <a:avLst/>
          </a:prstGeom>
          <a:noFill/>
        </p:spPr>
        <p:txBody>
          <a:bodyPr wrap="square" rtlCol="0">
            <a:spAutoFit/>
          </a:bodyPr>
          <a:lstStyle/>
          <a:p>
            <a:r>
              <a:rPr lang="en-US" sz="2800" b="1" dirty="0">
                <a:solidFill>
                  <a:schemeClr val="tx2"/>
                </a:solidFill>
              </a:rPr>
              <a:t>P1</a:t>
            </a:r>
          </a:p>
        </p:txBody>
      </p:sp>
      <p:sp>
        <p:nvSpPr>
          <p:cNvPr id="40" name="TextBox 39">
            <a:extLst>
              <a:ext uri="{FF2B5EF4-FFF2-40B4-BE49-F238E27FC236}">
                <a16:creationId xmlns:a16="http://schemas.microsoft.com/office/drawing/2014/main" id="{99D659D2-22D9-1F7B-EA29-1BB6028C3771}"/>
              </a:ext>
            </a:extLst>
          </p:cNvPr>
          <p:cNvSpPr txBox="1"/>
          <p:nvPr/>
        </p:nvSpPr>
        <p:spPr>
          <a:xfrm>
            <a:off x="6409894" y="5439862"/>
            <a:ext cx="585359" cy="523220"/>
          </a:xfrm>
          <a:prstGeom prst="rect">
            <a:avLst/>
          </a:prstGeom>
          <a:noFill/>
        </p:spPr>
        <p:txBody>
          <a:bodyPr wrap="square" rtlCol="0">
            <a:spAutoFit/>
          </a:bodyPr>
          <a:lstStyle/>
          <a:p>
            <a:r>
              <a:rPr lang="en-US" sz="2800" b="1" dirty="0"/>
              <a:t>20</a:t>
            </a:r>
          </a:p>
        </p:txBody>
      </p:sp>
      <p:sp>
        <p:nvSpPr>
          <p:cNvPr id="9" name="Slide Number Placeholder 8">
            <a:extLst>
              <a:ext uri="{FF2B5EF4-FFF2-40B4-BE49-F238E27FC236}">
                <a16:creationId xmlns:a16="http://schemas.microsoft.com/office/drawing/2014/main" id="{764FA382-E942-30E1-5D70-3F1ACF4CF1B5}"/>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3564878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066799"/>
          </a:xfrm>
        </p:spPr>
        <p:txBody>
          <a:bodyPr>
            <a:normAutofit/>
          </a:bodyPr>
          <a:lstStyle/>
          <a:p>
            <a:r>
              <a:rPr lang="en-US" sz="4000" dirty="0">
                <a:ln>
                  <a:noFill/>
                </a:ln>
                <a:effectLst/>
              </a:rPr>
              <a:t>Shortest Job First (SJF)</a:t>
            </a:r>
          </a:p>
        </p:txBody>
      </p:sp>
      <p:sp>
        <p:nvSpPr>
          <p:cNvPr id="31" name="Content Placeholder 5"/>
          <p:cNvSpPr>
            <a:spLocks noGrp="1"/>
          </p:cNvSpPr>
          <p:nvPr>
            <p:ph sz="quarter" idx="1"/>
          </p:nvPr>
        </p:nvSpPr>
        <p:spPr>
          <a:xfrm>
            <a:off x="906941" y="1600200"/>
            <a:ext cx="8229600" cy="5029200"/>
          </a:xfrm>
        </p:spPr>
        <p:txBody>
          <a:bodyPr>
            <a:normAutofit/>
          </a:bodyPr>
          <a:lstStyle/>
          <a:p>
            <a:pPr marL="274320" lvl="1">
              <a:spcBef>
                <a:spcPts val="600"/>
              </a:spcBef>
              <a:buClr>
                <a:schemeClr val="accent1"/>
              </a:buClr>
              <a:buSzPct val="100000"/>
              <a:buFont typeface="Arial" pitchFamily="34" charset="0"/>
              <a:buChar char="•"/>
            </a:pPr>
            <a:r>
              <a:rPr lang="en-US" sz="2400" dirty="0">
                <a:solidFill>
                  <a:srgbClr val="000000"/>
                </a:solidFill>
              </a:rPr>
              <a:t>CPU schedules the task with the shortest </a:t>
            </a:r>
            <a:r>
              <a:rPr lang="en-US" dirty="0">
                <a:solidFill>
                  <a:srgbClr val="000000"/>
                </a:solidFill>
              </a:rPr>
              <a:t>remaining </a:t>
            </a:r>
            <a:r>
              <a:rPr lang="en-US" sz="2400" dirty="0">
                <a:solidFill>
                  <a:srgbClr val="000000"/>
                </a:solidFill>
              </a:rPr>
              <a:t>time</a:t>
            </a:r>
            <a:endParaRPr lang="en-US" dirty="0">
              <a:solidFill>
                <a:srgbClr val="000000"/>
              </a:solidFill>
            </a:endParaRPr>
          </a:p>
          <a:p>
            <a:pPr>
              <a:buNone/>
            </a:pPr>
            <a:endParaRPr lang="en-US" sz="2400" dirty="0">
              <a:solidFill>
                <a:srgbClr val="000000"/>
              </a:solidFill>
            </a:endParaRPr>
          </a:p>
          <a:p>
            <a:pPr lvl="2"/>
            <a:endParaRPr lang="en-US" dirty="0">
              <a:solidFill>
                <a:srgbClr val="000000"/>
              </a:solidFill>
            </a:endParaRPr>
          </a:p>
          <a:p>
            <a:endParaRPr lang="en-US" dirty="0">
              <a:solidFill>
                <a:srgbClr val="000000"/>
              </a:solidFill>
            </a:endParaRPr>
          </a:p>
        </p:txBody>
      </p:sp>
      <p:sp>
        <p:nvSpPr>
          <p:cNvPr id="8" name="Rectangle 38"/>
          <p:cNvSpPr>
            <a:spLocks noChangeArrowheads="1"/>
          </p:cNvSpPr>
          <p:nvPr/>
        </p:nvSpPr>
        <p:spPr bwMode="auto">
          <a:xfrm>
            <a:off x="2753436" y="1423916"/>
            <a:ext cx="6694487" cy="1752600"/>
          </a:xfrm>
          <a:prstGeom prst="rect">
            <a:avLst/>
          </a:prstGeom>
          <a:noFill/>
          <a:ln w="9525">
            <a:noFill/>
            <a:miter lim="800000"/>
            <a:headEnd/>
            <a:tailEnd/>
          </a:ln>
        </p:spPr>
        <p:txBody>
          <a:bodyPr lIns="86486" tIns="43243" rIns="86486" bIns="43243"/>
          <a:lstStyle/>
          <a:p>
            <a:pPr marL="323850" indent="-323850" defTabSz="865188">
              <a:spcBef>
                <a:spcPct val="20000"/>
              </a:spcBef>
              <a:tabLst>
                <a:tab pos="1516063" algn="ctr"/>
                <a:tab pos="3078163" algn="ctr"/>
                <a:tab pos="4865688" algn="ctr"/>
              </a:tabLst>
            </a:pPr>
            <a:r>
              <a:rPr lang="en-US" sz="2300" dirty="0">
                <a:solidFill>
                  <a:schemeClr val="accent2"/>
                </a:solidFill>
                <a:latin typeface="Arial Narrow" pitchFamily="34" charset="0"/>
              </a:rPr>
              <a:t>		</a:t>
            </a:r>
            <a:r>
              <a:rPr lang="en-US" u="sng" dirty="0"/>
              <a:t>Process</a:t>
            </a:r>
            <a:r>
              <a:rPr lang="en-US" dirty="0"/>
              <a:t>	</a:t>
            </a:r>
            <a:r>
              <a:rPr lang="en-US" u="sng" dirty="0"/>
              <a:t>Arrival Time</a:t>
            </a:r>
            <a:r>
              <a:rPr lang="en-US" dirty="0"/>
              <a:t>	</a:t>
            </a:r>
            <a:r>
              <a:rPr lang="en-US" u="sng" dirty="0"/>
              <a:t>Burst Time</a:t>
            </a:r>
            <a:endParaRPr lang="en-US" dirty="0"/>
          </a:p>
          <a:p>
            <a:pPr marL="323850" indent="-323850" defTabSz="865188">
              <a:spcBef>
                <a:spcPct val="20000"/>
              </a:spcBef>
              <a:tabLst>
                <a:tab pos="1516063" algn="ctr"/>
                <a:tab pos="3078163" algn="ctr"/>
                <a:tab pos="4865688" algn="ctr"/>
              </a:tabLst>
            </a:pPr>
            <a:r>
              <a:rPr lang="en-US" dirty="0"/>
              <a:t>		</a:t>
            </a:r>
            <a:r>
              <a:rPr lang="en-US" i="1" dirty="0">
                <a:solidFill>
                  <a:srgbClr val="FF0000"/>
                </a:solidFill>
              </a:rPr>
              <a:t>P</a:t>
            </a:r>
            <a:r>
              <a:rPr lang="en-US" i="1" baseline="-25000" dirty="0">
                <a:solidFill>
                  <a:srgbClr val="FF0000"/>
                </a:solidFill>
              </a:rPr>
              <a:t>1</a:t>
            </a:r>
            <a:r>
              <a:rPr lang="en-US" dirty="0"/>
              <a:t>	0	8</a:t>
            </a:r>
          </a:p>
          <a:p>
            <a:pPr marL="323850" indent="-323850" defTabSz="865188">
              <a:spcBef>
                <a:spcPct val="20000"/>
              </a:spcBef>
              <a:tabLst>
                <a:tab pos="1516063" algn="ctr"/>
                <a:tab pos="3078163" algn="ctr"/>
                <a:tab pos="4865688" algn="ctr"/>
              </a:tabLst>
            </a:pPr>
            <a:r>
              <a:rPr lang="en-US" dirty="0"/>
              <a:t>		 </a:t>
            </a:r>
            <a:r>
              <a:rPr lang="en-US" i="1" dirty="0">
                <a:solidFill>
                  <a:srgbClr val="00B050"/>
                </a:solidFill>
              </a:rPr>
              <a:t>P</a:t>
            </a:r>
            <a:r>
              <a:rPr lang="en-US" i="1" baseline="-25000" dirty="0">
                <a:solidFill>
                  <a:srgbClr val="00B050"/>
                </a:solidFill>
              </a:rPr>
              <a:t>2</a:t>
            </a:r>
            <a:r>
              <a:rPr lang="en-US" i="1" baseline="-25000" dirty="0"/>
              <a:t>	</a:t>
            </a:r>
            <a:r>
              <a:rPr lang="en-US" dirty="0"/>
              <a:t>1	4</a:t>
            </a:r>
          </a:p>
          <a:p>
            <a:pPr marL="323850" indent="-323850" defTabSz="865188">
              <a:spcBef>
                <a:spcPct val="20000"/>
              </a:spcBef>
              <a:tabLst>
                <a:tab pos="1516063" algn="ctr"/>
                <a:tab pos="3078163" algn="ctr"/>
                <a:tab pos="4865688" algn="ctr"/>
              </a:tabLst>
            </a:pPr>
            <a:r>
              <a:rPr lang="en-US" dirty="0"/>
              <a:t>		 </a:t>
            </a:r>
            <a:r>
              <a:rPr lang="en-US" i="1" dirty="0">
                <a:solidFill>
                  <a:srgbClr val="0070C0"/>
                </a:solidFill>
              </a:rPr>
              <a:t>P</a:t>
            </a:r>
            <a:r>
              <a:rPr lang="en-US" i="1" baseline="-25000" dirty="0">
                <a:solidFill>
                  <a:srgbClr val="0070C0"/>
                </a:solidFill>
              </a:rPr>
              <a:t>3</a:t>
            </a:r>
            <a:r>
              <a:rPr lang="en-US" dirty="0"/>
              <a:t>	2	9</a:t>
            </a:r>
          </a:p>
          <a:p>
            <a:pPr marL="323850" indent="-323850" defTabSz="865188">
              <a:spcBef>
                <a:spcPct val="20000"/>
              </a:spcBef>
              <a:tabLst>
                <a:tab pos="1516063" algn="ctr"/>
                <a:tab pos="3078163" algn="ctr"/>
                <a:tab pos="4865688" algn="ctr"/>
              </a:tabLst>
            </a:pPr>
            <a:r>
              <a:rPr lang="en-US" dirty="0"/>
              <a:t>		 </a:t>
            </a:r>
            <a:r>
              <a:rPr lang="en-US" i="1" dirty="0">
                <a:solidFill>
                  <a:srgbClr val="7030A0"/>
                </a:solidFill>
              </a:rPr>
              <a:t>P</a:t>
            </a:r>
            <a:r>
              <a:rPr lang="en-US" i="1" baseline="-25000" dirty="0">
                <a:solidFill>
                  <a:srgbClr val="7030A0"/>
                </a:solidFill>
              </a:rPr>
              <a:t>4</a:t>
            </a:r>
            <a:r>
              <a:rPr lang="en-US" dirty="0"/>
              <a:t>	3	5</a:t>
            </a:r>
          </a:p>
        </p:txBody>
      </p:sp>
      <p:grpSp>
        <p:nvGrpSpPr>
          <p:cNvPr id="9" name="Group 8"/>
          <p:cNvGrpSpPr/>
          <p:nvPr/>
        </p:nvGrpSpPr>
        <p:grpSpPr>
          <a:xfrm>
            <a:off x="120294" y="3810000"/>
            <a:ext cx="7603315" cy="1066800"/>
            <a:chOff x="120294" y="3810000"/>
            <a:chExt cx="7603315" cy="1066800"/>
          </a:xfrm>
        </p:grpSpPr>
        <p:sp>
          <p:nvSpPr>
            <p:cNvPr id="34" name="TextBox 33"/>
            <p:cNvSpPr txBox="1"/>
            <p:nvPr/>
          </p:nvSpPr>
          <p:spPr>
            <a:xfrm>
              <a:off x="1219200" y="4230469"/>
              <a:ext cx="6504409" cy="646331"/>
            </a:xfrm>
            <a:prstGeom prst="rect">
              <a:avLst/>
            </a:prstGeom>
            <a:noFill/>
          </p:spPr>
          <p:txBody>
            <a:bodyPr wrap="none" rtlCol="0">
              <a:spAutoFit/>
            </a:bodyPr>
            <a:lstStyle/>
            <a:p>
              <a:r>
                <a:rPr lang="en-US" dirty="0"/>
                <a:t>Average turnaround time = ((8-0)+(12-1)+(26-2)+(17-3)) / 4 = 14.25 </a:t>
              </a:r>
            </a:p>
            <a:p>
              <a:r>
                <a:rPr lang="en-US" dirty="0"/>
                <a:t>Average response time = (0+(8-1)+(17-2)+(12-3)) /4 = 7.75</a:t>
              </a:r>
            </a:p>
          </p:txBody>
        </p:sp>
        <p:grpSp>
          <p:nvGrpSpPr>
            <p:cNvPr id="7" name="Group 6"/>
            <p:cNvGrpSpPr/>
            <p:nvPr/>
          </p:nvGrpSpPr>
          <p:grpSpPr>
            <a:xfrm>
              <a:off x="120294" y="3810000"/>
              <a:ext cx="7118706" cy="536377"/>
              <a:chOff x="120294" y="3810000"/>
              <a:chExt cx="7118706" cy="536377"/>
            </a:xfrm>
          </p:grpSpPr>
          <p:sp>
            <p:nvSpPr>
              <p:cNvPr id="20" name="Text Box 15"/>
              <p:cNvSpPr txBox="1">
                <a:spLocks noChangeArrowheads="1"/>
              </p:cNvSpPr>
              <p:nvPr/>
            </p:nvSpPr>
            <p:spPr bwMode="auto">
              <a:xfrm>
                <a:off x="6858000" y="4038600"/>
                <a:ext cx="381000" cy="304800"/>
              </a:xfrm>
              <a:prstGeom prst="rect">
                <a:avLst/>
              </a:prstGeom>
              <a:noFill/>
              <a:ln w="9525">
                <a:noFill/>
                <a:miter lim="800000"/>
                <a:headEnd/>
                <a:tailEnd/>
              </a:ln>
              <a:effectLst/>
            </p:spPr>
            <p:txBody>
              <a:bodyPr wrap="none">
                <a:spAutoFit/>
              </a:bodyPr>
              <a:lstStyle/>
              <a:p>
                <a:r>
                  <a:rPr lang="en-US" sz="1400" b="1" dirty="0"/>
                  <a:t>26</a:t>
                </a:r>
              </a:p>
            </p:txBody>
          </p:sp>
          <p:sp>
            <p:nvSpPr>
              <p:cNvPr id="16" name="Text Box 11"/>
              <p:cNvSpPr txBox="1">
                <a:spLocks noChangeArrowheads="1"/>
              </p:cNvSpPr>
              <p:nvPr/>
            </p:nvSpPr>
            <p:spPr bwMode="auto">
              <a:xfrm>
                <a:off x="1752600" y="4038600"/>
                <a:ext cx="282575" cy="304800"/>
              </a:xfrm>
              <a:prstGeom prst="rect">
                <a:avLst/>
              </a:prstGeom>
              <a:noFill/>
              <a:ln w="9525">
                <a:noFill/>
                <a:miter lim="800000"/>
                <a:headEnd/>
                <a:tailEnd/>
              </a:ln>
              <a:effectLst/>
            </p:spPr>
            <p:txBody>
              <a:bodyPr wrap="none">
                <a:spAutoFit/>
              </a:bodyPr>
              <a:lstStyle/>
              <a:p>
                <a:r>
                  <a:rPr lang="en-US" sz="1400" b="1" dirty="0"/>
                  <a:t>0</a:t>
                </a:r>
              </a:p>
            </p:txBody>
          </p:sp>
          <p:sp>
            <p:nvSpPr>
              <p:cNvPr id="17" name="Text Box 12"/>
              <p:cNvSpPr txBox="1">
                <a:spLocks noChangeArrowheads="1"/>
              </p:cNvSpPr>
              <p:nvPr/>
            </p:nvSpPr>
            <p:spPr bwMode="auto">
              <a:xfrm>
                <a:off x="3276600" y="4038600"/>
                <a:ext cx="282575" cy="304800"/>
              </a:xfrm>
              <a:prstGeom prst="rect">
                <a:avLst/>
              </a:prstGeom>
              <a:noFill/>
              <a:ln w="9525">
                <a:noFill/>
                <a:miter lim="800000"/>
                <a:headEnd/>
                <a:tailEnd/>
              </a:ln>
              <a:effectLst/>
            </p:spPr>
            <p:txBody>
              <a:bodyPr wrap="none">
                <a:spAutoFit/>
              </a:bodyPr>
              <a:lstStyle/>
              <a:p>
                <a:r>
                  <a:rPr lang="en-US" sz="1400" b="1" dirty="0"/>
                  <a:t>8</a:t>
                </a:r>
              </a:p>
            </p:txBody>
          </p:sp>
          <p:sp>
            <p:nvSpPr>
              <p:cNvPr id="18" name="Text Box 13"/>
              <p:cNvSpPr txBox="1">
                <a:spLocks noChangeArrowheads="1"/>
              </p:cNvSpPr>
              <p:nvPr/>
            </p:nvSpPr>
            <p:spPr bwMode="auto">
              <a:xfrm>
                <a:off x="4038600" y="4038600"/>
                <a:ext cx="381000" cy="304800"/>
              </a:xfrm>
              <a:prstGeom prst="rect">
                <a:avLst/>
              </a:prstGeom>
              <a:noFill/>
              <a:ln w="9525">
                <a:noFill/>
                <a:miter lim="800000"/>
                <a:headEnd/>
                <a:tailEnd/>
              </a:ln>
              <a:effectLst/>
            </p:spPr>
            <p:txBody>
              <a:bodyPr wrap="none">
                <a:spAutoFit/>
              </a:bodyPr>
              <a:lstStyle/>
              <a:p>
                <a:r>
                  <a:rPr lang="en-US" sz="1400" b="1" dirty="0"/>
                  <a:t>12</a:t>
                </a:r>
              </a:p>
            </p:txBody>
          </p:sp>
          <p:sp>
            <p:nvSpPr>
              <p:cNvPr id="19" name="Text Box 14"/>
              <p:cNvSpPr txBox="1">
                <a:spLocks noChangeArrowheads="1"/>
              </p:cNvSpPr>
              <p:nvPr/>
            </p:nvSpPr>
            <p:spPr bwMode="auto">
              <a:xfrm>
                <a:off x="5181600" y="4038600"/>
                <a:ext cx="367408" cy="307777"/>
              </a:xfrm>
              <a:prstGeom prst="rect">
                <a:avLst/>
              </a:prstGeom>
              <a:noFill/>
              <a:ln w="9525">
                <a:noFill/>
                <a:miter lim="800000"/>
                <a:headEnd/>
                <a:tailEnd/>
              </a:ln>
              <a:effectLst/>
            </p:spPr>
            <p:txBody>
              <a:bodyPr wrap="none">
                <a:spAutoFit/>
              </a:bodyPr>
              <a:lstStyle/>
              <a:p>
                <a:r>
                  <a:rPr lang="en-US" sz="1400" b="1" dirty="0"/>
                  <a:t>17</a:t>
                </a:r>
              </a:p>
            </p:txBody>
          </p:sp>
          <p:sp>
            <p:nvSpPr>
              <p:cNvPr id="26" name="Rectangle 25"/>
              <p:cNvSpPr/>
              <p:nvPr/>
            </p:nvSpPr>
            <p:spPr>
              <a:xfrm>
                <a:off x="1905000" y="3810000"/>
                <a:ext cx="1524000" cy="3048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1</a:t>
                </a:r>
                <a:endParaRPr lang="en-US" b="1" dirty="0">
                  <a:solidFill>
                    <a:schemeClr val="bg1"/>
                  </a:solidFill>
                </a:endParaRPr>
              </a:p>
            </p:txBody>
          </p:sp>
          <p:sp>
            <p:nvSpPr>
              <p:cNvPr id="27" name="Rectangle 26"/>
              <p:cNvSpPr/>
              <p:nvPr/>
            </p:nvSpPr>
            <p:spPr>
              <a:xfrm>
                <a:off x="3429000" y="3810000"/>
                <a:ext cx="762000" cy="3048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2</a:t>
                </a:r>
                <a:endParaRPr lang="en-US" b="1" dirty="0">
                  <a:solidFill>
                    <a:schemeClr val="bg1"/>
                  </a:solidFill>
                </a:endParaRPr>
              </a:p>
            </p:txBody>
          </p:sp>
          <p:sp>
            <p:nvSpPr>
              <p:cNvPr id="28" name="Rectangle 27"/>
              <p:cNvSpPr/>
              <p:nvPr/>
            </p:nvSpPr>
            <p:spPr>
              <a:xfrm>
                <a:off x="5334000" y="3810000"/>
                <a:ext cx="1676400" cy="304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3</a:t>
                </a:r>
                <a:endParaRPr lang="en-US" b="1" dirty="0">
                  <a:solidFill>
                    <a:schemeClr val="bg1"/>
                  </a:solidFill>
                </a:endParaRPr>
              </a:p>
            </p:txBody>
          </p:sp>
          <p:sp>
            <p:nvSpPr>
              <p:cNvPr id="29" name="Rectangle 28"/>
              <p:cNvSpPr/>
              <p:nvPr/>
            </p:nvSpPr>
            <p:spPr>
              <a:xfrm>
                <a:off x="4191000" y="3810000"/>
                <a:ext cx="1143000" cy="3048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4</a:t>
                </a:r>
                <a:endParaRPr lang="en-US" b="1" dirty="0">
                  <a:solidFill>
                    <a:schemeClr val="bg1"/>
                  </a:solidFill>
                </a:endParaRPr>
              </a:p>
            </p:txBody>
          </p:sp>
          <p:sp>
            <p:nvSpPr>
              <p:cNvPr id="33" name="TextBox 32"/>
              <p:cNvSpPr txBox="1"/>
              <p:nvPr/>
            </p:nvSpPr>
            <p:spPr>
              <a:xfrm>
                <a:off x="120294" y="3810000"/>
                <a:ext cx="1727845" cy="369332"/>
              </a:xfrm>
              <a:prstGeom prst="rect">
                <a:avLst/>
              </a:prstGeom>
              <a:noFill/>
            </p:spPr>
            <p:txBody>
              <a:bodyPr wrap="none" rtlCol="0">
                <a:spAutoFit/>
              </a:bodyPr>
              <a:lstStyle/>
              <a:p>
                <a:r>
                  <a:rPr lang="en-US" b="1" dirty="0"/>
                  <a:t>non-preemptive</a:t>
                </a:r>
              </a:p>
            </p:txBody>
          </p:sp>
        </p:grpSp>
      </p:grpSp>
      <p:grpSp>
        <p:nvGrpSpPr>
          <p:cNvPr id="6" name="Group 5"/>
          <p:cNvGrpSpPr/>
          <p:nvPr/>
        </p:nvGrpSpPr>
        <p:grpSpPr>
          <a:xfrm>
            <a:off x="152400" y="4953000"/>
            <a:ext cx="7279463" cy="1219200"/>
            <a:chOff x="152400" y="4953000"/>
            <a:chExt cx="7279463" cy="1219200"/>
          </a:xfrm>
        </p:grpSpPr>
        <p:sp>
          <p:nvSpPr>
            <p:cNvPr id="35" name="Text Box 15"/>
            <p:cNvSpPr txBox="1">
              <a:spLocks noChangeArrowheads="1"/>
            </p:cNvSpPr>
            <p:nvPr/>
          </p:nvSpPr>
          <p:spPr bwMode="auto">
            <a:xfrm>
              <a:off x="7010400" y="5334000"/>
              <a:ext cx="381000" cy="304800"/>
            </a:xfrm>
            <a:prstGeom prst="rect">
              <a:avLst/>
            </a:prstGeom>
            <a:noFill/>
            <a:ln w="9525">
              <a:noFill/>
              <a:miter lim="800000"/>
              <a:headEnd/>
              <a:tailEnd/>
            </a:ln>
            <a:effectLst/>
          </p:spPr>
          <p:txBody>
            <a:bodyPr wrap="none">
              <a:spAutoFit/>
            </a:bodyPr>
            <a:lstStyle/>
            <a:p>
              <a:r>
                <a:rPr lang="en-US" sz="1400" b="1" dirty="0"/>
                <a:t>26</a:t>
              </a:r>
            </a:p>
          </p:txBody>
        </p:sp>
        <p:sp>
          <p:nvSpPr>
            <p:cNvPr id="36" name="Text Box 11"/>
            <p:cNvSpPr txBox="1">
              <a:spLocks noChangeArrowheads="1"/>
            </p:cNvSpPr>
            <p:nvPr/>
          </p:nvSpPr>
          <p:spPr bwMode="auto">
            <a:xfrm>
              <a:off x="1752600" y="5334000"/>
              <a:ext cx="282575" cy="304800"/>
            </a:xfrm>
            <a:prstGeom prst="rect">
              <a:avLst/>
            </a:prstGeom>
            <a:noFill/>
            <a:ln w="9525">
              <a:noFill/>
              <a:miter lim="800000"/>
              <a:headEnd/>
              <a:tailEnd/>
            </a:ln>
            <a:effectLst/>
          </p:spPr>
          <p:txBody>
            <a:bodyPr wrap="none">
              <a:spAutoFit/>
            </a:bodyPr>
            <a:lstStyle/>
            <a:p>
              <a:r>
                <a:rPr lang="en-US" sz="1400" b="1" dirty="0"/>
                <a:t>0</a:t>
              </a:r>
            </a:p>
          </p:txBody>
        </p:sp>
        <p:sp>
          <p:nvSpPr>
            <p:cNvPr id="37" name="Text Box 12"/>
            <p:cNvSpPr txBox="1">
              <a:spLocks noChangeArrowheads="1"/>
            </p:cNvSpPr>
            <p:nvPr/>
          </p:nvSpPr>
          <p:spPr bwMode="auto">
            <a:xfrm>
              <a:off x="2895600" y="5334000"/>
              <a:ext cx="276038" cy="307777"/>
            </a:xfrm>
            <a:prstGeom prst="rect">
              <a:avLst/>
            </a:prstGeom>
            <a:noFill/>
            <a:ln w="9525">
              <a:noFill/>
              <a:miter lim="800000"/>
              <a:headEnd/>
              <a:tailEnd/>
            </a:ln>
            <a:effectLst/>
          </p:spPr>
          <p:txBody>
            <a:bodyPr wrap="none">
              <a:spAutoFit/>
            </a:bodyPr>
            <a:lstStyle/>
            <a:p>
              <a:r>
                <a:rPr lang="en-US" sz="1400" b="1" dirty="0"/>
                <a:t>5</a:t>
              </a:r>
            </a:p>
          </p:txBody>
        </p:sp>
        <p:sp>
          <p:nvSpPr>
            <p:cNvPr id="38" name="Text Box 13"/>
            <p:cNvSpPr txBox="1">
              <a:spLocks noChangeArrowheads="1"/>
            </p:cNvSpPr>
            <p:nvPr/>
          </p:nvSpPr>
          <p:spPr bwMode="auto">
            <a:xfrm>
              <a:off x="3962400" y="5334000"/>
              <a:ext cx="367408" cy="307777"/>
            </a:xfrm>
            <a:prstGeom prst="rect">
              <a:avLst/>
            </a:prstGeom>
            <a:noFill/>
            <a:ln w="9525">
              <a:noFill/>
              <a:miter lim="800000"/>
              <a:headEnd/>
              <a:tailEnd/>
            </a:ln>
            <a:effectLst/>
          </p:spPr>
          <p:txBody>
            <a:bodyPr wrap="none">
              <a:spAutoFit/>
            </a:bodyPr>
            <a:lstStyle/>
            <a:p>
              <a:r>
                <a:rPr lang="en-US" sz="1400" b="1" dirty="0"/>
                <a:t>10</a:t>
              </a:r>
            </a:p>
          </p:txBody>
        </p:sp>
        <p:sp>
          <p:nvSpPr>
            <p:cNvPr id="39" name="Text Box 14"/>
            <p:cNvSpPr txBox="1">
              <a:spLocks noChangeArrowheads="1"/>
            </p:cNvSpPr>
            <p:nvPr/>
          </p:nvSpPr>
          <p:spPr bwMode="auto">
            <a:xfrm>
              <a:off x="5334000" y="5334000"/>
              <a:ext cx="367408" cy="307777"/>
            </a:xfrm>
            <a:prstGeom prst="rect">
              <a:avLst/>
            </a:prstGeom>
            <a:noFill/>
            <a:ln w="9525">
              <a:noFill/>
              <a:miter lim="800000"/>
              <a:headEnd/>
              <a:tailEnd/>
            </a:ln>
            <a:effectLst/>
          </p:spPr>
          <p:txBody>
            <a:bodyPr wrap="none">
              <a:spAutoFit/>
            </a:bodyPr>
            <a:lstStyle/>
            <a:p>
              <a:r>
                <a:rPr lang="en-US" sz="1400" b="1" dirty="0"/>
                <a:t>17</a:t>
              </a:r>
            </a:p>
          </p:txBody>
        </p:sp>
        <p:sp>
          <p:nvSpPr>
            <p:cNvPr id="45" name="TextBox 44"/>
            <p:cNvSpPr txBox="1"/>
            <p:nvPr/>
          </p:nvSpPr>
          <p:spPr>
            <a:xfrm>
              <a:off x="1219200" y="5525869"/>
              <a:ext cx="6212663" cy="646331"/>
            </a:xfrm>
            <a:prstGeom prst="rect">
              <a:avLst/>
            </a:prstGeom>
            <a:noFill/>
          </p:spPr>
          <p:txBody>
            <a:bodyPr wrap="none" rtlCol="0">
              <a:spAutoFit/>
            </a:bodyPr>
            <a:lstStyle/>
            <a:p>
              <a:r>
                <a:rPr lang="en-US" dirty="0"/>
                <a:t>Average turnaround time = ((17-0)+(5-1)+(10-3)+(26-2)) / 4 = 13 </a:t>
              </a:r>
            </a:p>
            <a:p>
              <a:r>
                <a:rPr lang="en-US" dirty="0"/>
                <a:t>Average response time = (0+(1-1)+(5-3)+(17-2)) /4 = 4.25</a:t>
              </a:r>
            </a:p>
          </p:txBody>
        </p:sp>
        <p:sp>
          <p:nvSpPr>
            <p:cNvPr id="40" name="TextBox 39"/>
            <p:cNvSpPr txBox="1"/>
            <p:nvPr/>
          </p:nvSpPr>
          <p:spPr>
            <a:xfrm>
              <a:off x="152400" y="4953000"/>
              <a:ext cx="1286763" cy="369332"/>
            </a:xfrm>
            <a:prstGeom prst="rect">
              <a:avLst/>
            </a:prstGeom>
            <a:noFill/>
          </p:spPr>
          <p:txBody>
            <a:bodyPr wrap="none" rtlCol="0">
              <a:spAutoFit/>
            </a:bodyPr>
            <a:lstStyle/>
            <a:p>
              <a:r>
                <a:rPr lang="en-US" b="1" dirty="0"/>
                <a:t>preemptive</a:t>
              </a:r>
            </a:p>
          </p:txBody>
        </p:sp>
        <p:grpSp>
          <p:nvGrpSpPr>
            <p:cNvPr id="47" name="Group 46"/>
            <p:cNvGrpSpPr/>
            <p:nvPr/>
          </p:nvGrpSpPr>
          <p:grpSpPr>
            <a:xfrm>
              <a:off x="1905000" y="5029200"/>
              <a:ext cx="5257800" cy="304800"/>
              <a:chOff x="1524000" y="5029200"/>
              <a:chExt cx="5257800" cy="304800"/>
            </a:xfrm>
          </p:grpSpPr>
          <p:sp>
            <p:nvSpPr>
              <p:cNvPr id="41" name="Rectangle 40"/>
              <p:cNvSpPr/>
              <p:nvPr/>
            </p:nvSpPr>
            <p:spPr>
              <a:xfrm>
                <a:off x="3810000" y="5029200"/>
                <a:ext cx="1295400" cy="3048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1</a:t>
                </a:r>
                <a:endParaRPr lang="en-US" b="1" dirty="0">
                  <a:solidFill>
                    <a:schemeClr val="bg1"/>
                  </a:solidFill>
                </a:endParaRPr>
              </a:p>
            </p:txBody>
          </p:sp>
          <p:sp>
            <p:nvSpPr>
              <p:cNvPr id="42" name="Rectangle 41"/>
              <p:cNvSpPr/>
              <p:nvPr/>
            </p:nvSpPr>
            <p:spPr>
              <a:xfrm>
                <a:off x="1905000" y="5029200"/>
                <a:ext cx="762000" cy="3048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2</a:t>
                </a:r>
                <a:endParaRPr lang="en-US" b="1" dirty="0">
                  <a:solidFill>
                    <a:schemeClr val="bg1"/>
                  </a:solidFill>
                </a:endParaRPr>
              </a:p>
            </p:txBody>
          </p:sp>
          <p:sp>
            <p:nvSpPr>
              <p:cNvPr id="43" name="Rectangle 42"/>
              <p:cNvSpPr/>
              <p:nvPr/>
            </p:nvSpPr>
            <p:spPr>
              <a:xfrm>
                <a:off x="5105400" y="5029200"/>
                <a:ext cx="1676400" cy="304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3</a:t>
                </a:r>
                <a:endParaRPr lang="en-US" b="1" dirty="0">
                  <a:solidFill>
                    <a:schemeClr val="bg1"/>
                  </a:solidFill>
                </a:endParaRPr>
              </a:p>
            </p:txBody>
          </p:sp>
          <p:sp>
            <p:nvSpPr>
              <p:cNvPr id="44" name="Rectangle 43"/>
              <p:cNvSpPr/>
              <p:nvPr/>
            </p:nvSpPr>
            <p:spPr>
              <a:xfrm>
                <a:off x="2667000" y="5029200"/>
                <a:ext cx="1143000" cy="3048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4</a:t>
                </a:r>
                <a:endParaRPr lang="en-US" b="1" dirty="0">
                  <a:solidFill>
                    <a:schemeClr val="bg1"/>
                  </a:solidFill>
                </a:endParaRPr>
              </a:p>
            </p:txBody>
          </p:sp>
          <p:sp>
            <p:nvSpPr>
              <p:cNvPr id="46" name="Rectangle 45"/>
              <p:cNvSpPr/>
              <p:nvPr/>
            </p:nvSpPr>
            <p:spPr>
              <a:xfrm>
                <a:off x="1524000" y="5029200"/>
                <a:ext cx="381000" cy="3048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i="1" dirty="0">
                    <a:solidFill>
                      <a:schemeClr val="bg1"/>
                    </a:solidFill>
                  </a:rPr>
                  <a:t>P</a:t>
                </a:r>
                <a:r>
                  <a:rPr lang="en-US" b="1" i="1" baseline="-25000" dirty="0">
                    <a:solidFill>
                      <a:schemeClr val="bg1"/>
                    </a:solidFill>
                  </a:rPr>
                  <a:t>1</a:t>
                </a:r>
                <a:endParaRPr lang="en-US" b="1" dirty="0">
                  <a:solidFill>
                    <a:schemeClr val="bg1"/>
                  </a:solidFill>
                </a:endParaRPr>
              </a:p>
            </p:txBody>
          </p:sp>
        </p:grpSp>
        <p:sp>
          <p:nvSpPr>
            <p:cNvPr id="48" name="Text Box 12"/>
            <p:cNvSpPr txBox="1">
              <a:spLocks noChangeArrowheads="1"/>
            </p:cNvSpPr>
            <p:nvPr/>
          </p:nvSpPr>
          <p:spPr bwMode="auto">
            <a:xfrm>
              <a:off x="2162362" y="5331023"/>
              <a:ext cx="276038" cy="307777"/>
            </a:xfrm>
            <a:prstGeom prst="rect">
              <a:avLst/>
            </a:prstGeom>
            <a:noFill/>
            <a:ln w="9525">
              <a:noFill/>
              <a:miter lim="800000"/>
              <a:headEnd/>
              <a:tailEnd/>
            </a:ln>
            <a:effectLst/>
          </p:spPr>
          <p:txBody>
            <a:bodyPr wrap="none">
              <a:spAutoFit/>
            </a:bodyPr>
            <a:lstStyle/>
            <a:p>
              <a:r>
                <a:rPr lang="en-US" sz="1400" b="1" dirty="0"/>
                <a:t>1</a:t>
              </a:r>
            </a:p>
          </p:txBody>
        </p:sp>
      </p:grpSp>
      <p:sp>
        <p:nvSpPr>
          <p:cNvPr id="10" name="Slide Number Placeholder 9">
            <a:extLst>
              <a:ext uri="{FF2B5EF4-FFF2-40B4-BE49-F238E27FC236}">
                <a16:creationId xmlns:a16="http://schemas.microsoft.com/office/drawing/2014/main" id="{32107BF3-0DCD-44AC-7697-24F3E2F6DD9E}"/>
              </a:ext>
            </a:extLst>
          </p:cNvPr>
          <p:cNvSpPr>
            <a:spLocks noGrp="1"/>
          </p:cNvSpPr>
          <p:nvPr>
            <p:ph type="sldNum" sz="quarter" idx="12"/>
          </p:nvPr>
        </p:nvSpPr>
        <p:spPr/>
        <p:txBody>
          <a:bodyPr/>
          <a:lstStyle/>
          <a:p>
            <a:r>
              <a:rPr lang="en-US"/>
              <a:t>CS4500/5500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2F268-4F5D-55C3-50AB-08ACBE45FE42}"/>
              </a:ext>
            </a:extLst>
          </p:cNvPr>
          <p:cNvSpPr>
            <a:spLocks noGrp="1"/>
          </p:cNvSpPr>
          <p:nvPr>
            <p:ph type="title"/>
          </p:nvPr>
        </p:nvSpPr>
        <p:spPr/>
        <p:txBody>
          <a:bodyPr/>
          <a:lstStyle/>
          <a:p>
            <a:r>
              <a:rPr lang="en-US" dirty="0"/>
              <a:t>Disadvantages</a:t>
            </a:r>
          </a:p>
        </p:txBody>
      </p:sp>
      <p:sp>
        <p:nvSpPr>
          <p:cNvPr id="3" name="Content Placeholder 2">
            <a:extLst>
              <a:ext uri="{FF2B5EF4-FFF2-40B4-BE49-F238E27FC236}">
                <a16:creationId xmlns:a16="http://schemas.microsoft.com/office/drawing/2014/main" id="{BE1B3369-6E8D-02DD-905C-7E89C5330815}"/>
              </a:ext>
            </a:extLst>
          </p:cNvPr>
          <p:cNvSpPr>
            <a:spLocks noGrp="1"/>
          </p:cNvSpPr>
          <p:nvPr>
            <p:ph idx="1"/>
          </p:nvPr>
        </p:nvSpPr>
        <p:spPr/>
        <p:txBody>
          <a:bodyPr/>
          <a:lstStyle/>
          <a:p>
            <a:r>
              <a:rPr lang="en-US" dirty="0"/>
              <a:t>Difficult to determine the burst of the next process</a:t>
            </a:r>
          </a:p>
          <a:p>
            <a:r>
              <a:rPr lang="en-US" dirty="0"/>
              <a:t>Optimal algorithm but is not great for short-term CPU scheduling</a:t>
            </a:r>
          </a:p>
          <a:p>
            <a:r>
              <a:rPr lang="en-US" dirty="0"/>
              <a:t>May be able to estimate the burst of the next process by assuming the next process has the same burst as the first process</a:t>
            </a:r>
          </a:p>
        </p:txBody>
      </p:sp>
      <p:sp>
        <p:nvSpPr>
          <p:cNvPr id="8" name="Slide Number Placeholder 7">
            <a:extLst>
              <a:ext uri="{FF2B5EF4-FFF2-40B4-BE49-F238E27FC236}">
                <a16:creationId xmlns:a16="http://schemas.microsoft.com/office/drawing/2014/main" id="{C5727AF4-D630-8A36-64C5-ADAEA94E0D1D}"/>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2797514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8874C-83CC-01E4-C655-EA5A71020501}"/>
              </a:ext>
            </a:extLst>
          </p:cNvPr>
          <p:cNvSpPr>
            <a:spLocks noGrp="1"/>
          </p:cNvSpPr>
          <p:nvPr>
            <p:ph type="title"/>
          </p:nvPr>
        </p:nvSpPr>
        <p:spPr>
          <a:xfrm>
            <a:off x="982133" y="457201"/>
            <a:ext cx="7704667" cy="914399"/>
          </a:xfrm>
        </p:spPr>
        <p:txBody>
          <a:bodyPr vert="horz" lIns="91440" tIns="45720" rIns="91440" bIns="45720" rtlCol="0" anchor="b">
            <a:normAutofit fontScale="90000"/>
          </a:bodyPr>
          <a:lstStyle/>
          <a:p>
            <a:pPr algn="r"/>
            <a:r>
              <a:rPr lang="en-US" sz="6000" dirty="0"/>
              <a:t>Question</a:t>
            </a:r>
          </a:p>
        </p:txBody>
      </p:sp>
      <p:sp>
        <p:nvSpPr>
          <p:cNvPr id="7" name="Content Placeholder 6">
            <a:extLst>
              <a:ext uri="{FF2B5EF4-FFF2-40B4-BE49-F238E27FC236}">
                <a16:creationId xmlns:a16="http://schemas.microsoft.com/office/drawing/2014/main" id="{2CBE474A-7437-428F-2CE0-321191B45B2E}"/>
              </a:ext>
            </a:extLst>
          </p:cNvPr>
          <p:cNvSpPr>
            <a:spLocks noGrp="1"/>
          </p:cNvSpPr>
          <p:nvPr>
            <p:ph idx="1"/>
          </p:nvPr>
        </p:nvSpPr>
        <p:spPr>
          <a:xfrm>
            <a:off x="2887133" y="1651531"/>
            <a:ext cx="5799667" cy="1628776"/>
          </a:xfrm>
        </p:spPr>
        <p:txBody>
          <a:bodyPr>
            <a:normAutofit lnSpcReduction="10000"/>
          </a:bodyPr>
          <a:lstStyle/>
          <a:p>
            <a:r>
              <a:rPr lang="en-US" dirty="0"/>
              <a:t>How many milliseconds difference between SJB (</a:t>
            </a:r>
            <a:r>
              <a:rPr lang="en-US" dirty="0" err="1"/>
              <a:t>nonpreemptive</a:t>
            </a:r>
            <a:r>
              <a:rPr lang="en-US" dirty="0"/>
              <a:t>) and FCFS using the same table (assuming they arrive in order)?</a:t>
            </a:r>
          </a:p>
          <a:p>
            <a:pPr marL="0" indent="0">
              <a:buNone/>
            </a:pPr>
            <a:endParaRPr lang="en-US" dirty="0"/>
          </a:p>
        </p:txBody>
      </p:sp>
      <p:pic>
        <p:nvPicPr>
          <p:cNvPr id="8" name="Picture 7" descr="3D black question marks with one yellow question mark">
            <a:extLst>
              <a:ext uri="{FF2B5EF4-FFF2-40B4-BE49-F238E27FC236}">
                <a16:creationId xmlns:a16="http://schemas.microsoft.com/office/drawing/2014/main" id="{3ACDD073-EB4E-C0E5-3BF6-158F7B42DA33}"/>
              </a:ext>
            </a:extLst>
          </p:cNvPr>
          <p:cNvPicPr>
            <a:picLocks noChangeAspect="1"/>
          </p:cNvPicPr>
          <p:nvPr/>
        </p:nvPicPr>
        <p:blipFill rotWithShape="1">
          <a:blip r:embed="rId4"/>
          <a:srcRect l="53783" r="24470" b="1"/>
          <a:stretch/>
        </p:blipFill>
        <p:spPr>
          <a:xfrm>
            <a:off x="20" y="10"/>
            <a:ext cx="4086205" cy="6857990"/>
          </a:xfrm>
          <a:custGeom>
            <a:avLst/>
            <a:gdLst/>
            <a:ahLst/>
            <a:cxnLst/>
            <a:rect l="l" t="t" r="r" b="b"/>
            <a:pathLst>
              <a:path w="5448300" h="6858000">
                <a:moveTo>
                  <a:pt x="0" y="0"/>
                </a:moveTo>
                <a:lnTo>
                  <a:pt x="3513666" y="0"/>
                </a:lnTo>
                <a:lnTo>
                  <a:pt x="2861733" y="2548466"/>
                </a:lnTo>
                <a:lnTo>
                  <a:pt x="5448300" y="6853767"/>
                </a:lnTo>
                <a:lnTo>
                  <a:pt x="0" y="6858000"/>
                </a:lnTo>
                <a:lnTo>
                  <a:pt x="0" y="0"/>
                </a:lnTo>
                <a:close/>
              </a:path>
            </a:pathLst>
          </a:custGeom>
          <a:ln w="38100">
            <a:noFill/>
          </a:ln>
          <a:effectLst/>
        </p:spPr>
      </p:pic>
      <p:pic>
        <p:nvPicPr>
          <p:cNvPr id="10" name="Picture 9">
            <a:extLst>
              <a:ext uri="{FF2B5EF4-FFF2-40B4-BE49-F238E27FC236}">
                <a16:creationId xmlns:a16="http://schemas.microsoft.com/office/drawing/2014/main" id="{CF595F59-5DD8-2017-552F-40AFCF83F8DD}"/>
              </a:ext>
            </a:extLst>
          </p:cNvPr>
          <p:cNvPicPr>
            <a:picLocks noChangeAspect="1"/>
          </p:cNvPicPr>
          <p:nvPr/>
        </p:nvPicPr>
        <p:blipFill>
          <a:blip r:embed="rId5"/>
          <a:stretch>
            <a:fillRect/>
          </a:stretch>
        </p:blipFill>
        <p:spPr>
          <a:xfrm>
            <a:off x="3124200" y="3113085"/>
            <a:ext cx="6019780" cy="1784025"/>
          </a:xfrm>
          <a:prstGeom prst="rect">
            <a:avLst/>
          </a:prstGeom>
        </p:spPr>
      </p:pic>
      <p:sp>
        <p:nvSpPr>
          <p:cNvPr id="9" name="Slide Number Placeholder 8">
            <a:extLst>
              <a:ext uri="{FF2B5EF4-FFF2-40B4-BE49-F238E27FC236}">
                <a16:creationId xmlns:a16="http://schemas.microsoft.com/office/drawing/2014/main" id="{897CB2A3-8AAC-815C-EFF2-2BD4200B2774}"/>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42353792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5"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6"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17"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18"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19"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0"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pic>
        <p:nvPicPr>
          <p:cNvPr id="10" name="Picture 9" descr="Robin, bird with a red chest, perched on some twigs">
            <a:extLst>
              <a:ext uri="{FF2B5EF4-FFF2-40B4-BE49-F238E27FC236}">
                <a16:creationId xmlns:a16="http://schemas.microsoft.com/office/drawing/2014/main" id="{A1367BC6-179A-14E5-1F94-D011A0A0C85B}"/>
              </a:ext>
            </a:extLst>
          </p:cNvPr>
          <p:cNvPicPr>
            <a:picLocks noChangeAspect="1"/>
          </p:cNvPicPr>
          <p:nvPr/>
        </p:nvPicPr>
        <p:blipFill rotWithShape="1">
          <a:blip r:embed="rId2">
            <a:alphaModFix amt="35000"/>
          </a:blip>
          <a:srcRect l="7073" r="3926" b="-1"/>
          <a:stretch/>
        </p:blipFill>
        <p:spPr>
          <a:xfrm>
            <a:off x="20" y="10"/>
            <a:ext cx="9143980" cy="6857990"/>
          </a:xfrm>
          <a:prstGeom prst="rect">
            <a:avLst/>
          </a:prstGeom>
        </p:spPr>
      </p:pic>
      <p:sp>
        <p:nvSpPr>
          <p:cNvPr id="7" name="Title 6">
            <a:extLst>
              <a:ext uri="{FF2B5EF4-FFF2-40B4-BE49-F238E27FC236}">
                <a16:creationId xmlns:a16="http://schemas.microsoft.com/office/drawing/2014/main" id="{52FD773F-C6BB-D648-05A9-0B566C68A6C4}"/>
              </a:ext>
            </a:extLst>
          </p:cNvPr>
          <p:cNvSpPr>
            <a:spLocks noGrp="1"/>
          </p:cNvSpPr>
          <p:nvPr>
            <p:ph type="title"/>
          </p:nvPr>
        </p:nvSpPr>
        <p:spPr>
          <a:xfrm>
            <a:off x="2196300" y="1380068"/>
            <a:ext cx="6430967" cy="2616199"/>
          </a:xfrm>
        </p:spPr>
        <p:txBody>
          <a:bodyPr vert="horz" lIns="91440" tIns="45720" rIns="91440" bIns="45720" rtlCol="0" anchor="b">
            <a:normAutofit/>
          </a:bodyPr>
          <a:lstStyle/>
          <a:p>
            <a:r>
              <a:rPr lang="en-US" sz="6000" dirty="0"/>
              <a:t>Round Robin</a:t>
            </a:r>
          </a:p>
        </p:txBody>
      </p:sp>
      <p:sp>
        <p:nvSpPr>
          <p:cNvPr id="8" name="Text Placeholder 7">
            <a:extLst>
              <a:ext uri="{FF2B5EF4-FFF2-40B4-BE49-F238E27FC236}">
                <a16:creationId xmlns:a16="http://schemas.microsoft.com/office/drawing/2014/main" id="{49835DAA-4811-71B5-DC88-1E288B0B0C69}"/>
              </a:ext>
            </a:extLst>
          </p:cNvPr>
          <p:cNvSpPr>
            <a:spLocks noGrp="1"/>
          </p:cNvSpPr>
          <p:nvPr>
            <p:ph type="body" idx="1"/>
          </p:nvPr>
        </p:nvSpPr>
        <p:spPr>
          <a:xfrm>
            <a:off x="3386532" y="3996267"/>
            <a:ext cx="5240734" cy="1388534"/>
          </a:xfrm>
        </p:spPr>
        <p:txBody>
          <a:bodyPr vert="horz" lIns="91440" tIns="45720" rIns="91440" bIns="45720" rtlCol="0" anchor="t">
            <a:normAutofit/>
          </a:bodyPr>
          <a:lstStyle/>
          <a:p>
            <a:endParaRPr lang="en-US" sz="2100"/>
          </a:p>
        </p:txBody>
      </p:sp>
      <p:grpSp>
        <p:nvGrpSpPr>
          <p:cNvPr id="22" name="Group 21">
            <a:extLst>
              <a:ext uri="{FF2B5EF4-FFF2-40B4-BE49-F238E27FC236}">
                <a16:creationId xmlns:a16="http://schemas.microsoft.com/office/drawing/2014/main" id="{0A3EF779-83DD-4EB0-9F4C-7304381A28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23" name="Freeform 6">
              <a:extLst>
                <a:ext uri="{FF2B5EF4-FFF2-40B4-BE49-F238E27FC236}">
                  <a16:creationId xmlns:a16="http://schemas.microsoft.com/office/drawing/2014/main" id="{772C8C0C-10E0-4305-95B6-F0A11F0AD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rgbClr val="30ACEC"/>
            </a:solidFill>
            <a:ln>
              <a:noFill/>
            </a:ln>
          </p:spPr>
          <p:txBody>
            <a:bodyPr/>
            <a:lstStyle/>
            <a:p>
              <a:endParaRPr lang="en-US"/>
            </a:p>
          </p:txBody>
        </p:sp>
        <p:sp>
          <p:nvSpPr>
            <p:cNvPr id="24" name="Freeform 7">
              <a:extLst>
                <a:ext uri="{FF2B5EF4-FFF2-40B4-BE49-F238E27FC236}">
                  <a16:creationId xmlns:a16="http://schemas.microsoft.com/office/drawing/2014/main" id="{ED6F480D-2F2A-4E97-B196-39B35C4BF8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ysClr val="windowText" lastClr="000000">
                <a:lumMod val="65000"/>
                <a:lumOff val="35000"/>
              </a:sysClr>
            </a:solidFill>
            <a:ln>
              <a:noFill/>
            </a:ln>
          </p:spPr>
          <p:txBody>
            <a:bodyPr/>
            <a:lstStyle/>
            <a:p>
              <a:endParaRPr lang="en-US"/>
            </a:p>
          </p:txBody>
        </p:sp>
        <p:sp>
          <p:nvSpPr>
            <p:cNvPr id="25" name="Freeform 9">
              <a:extLst>
                <a:ext uri="{FF2B5EF4-FFF2-40B4-BE49-F238E27FC236}">
                  <a16:creationId xmlns:a16="http://schemas.microsoft.com/office/drawing/2014/main" id="{65ACA5CB-4926-4AA1-8B0D-0A8C294D3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ysClr val="windowText" lastClr="000000">
                <a:lumMod val="85000"/>
                <a:lumOff val="15000"/>
              </a:sysClr>
            </a:solidFill>
            <a:ln>
              <a:noFill/>
            </a:ln>
          </p:spPr>
          <p:txBody>
            <a:bodyPr/>
            <a:lstStyle/>
            <a:p>
              <a:endParaRPr lang="en-US"/>
            </a:p>
          </p:txBody>
        </p:sp>
        <p:sp>
          <p:nvSpPr>
            <p:cNvPr id="26" name="Freeform 10">
              <a:extLst>
                <a:ext uri="{FF2B5EF4-FFF2-40B4-BE49-F238E27FC236}">
                  <a16:creationId xmlns:a16="http://schemas.microsoft.com/office/drawing/2014/main" id="{1FC1EC6E-AED1-4539-B157-052264991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rgbClr val="30ACEC">
                <a:lumMod val="50000"/>
              </a:srgbClr>
            </a:solidFill>
            <a:ln>
              <a:noFill/>
            </a:ln>
          </p:spPr>
          <p:txBody>
            <a:bodyPr/>
            <a:lstStyle/>
            <a:p>
              <a:endParaRPr lang="en-US"/>
            </a:p>
          </p:txBody>
        </p:sp>
        <p:sp>
          <p:nvSpPr>
            <p:cNvPr id="27" name="Freeform 11">
              <a:extLst>
                <a:ext uri="{FF2B5EF4-FFF2-40B4-BE49-F238E27FC236}">
                  <a16:creationId xmlns:a16="http://schemas.microsoft.com/office/drawing/2014/main" id="{F5C22045-92BD-4CA1-A655-5ADD00283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rgbClr val="30ACEC">
                <a:lumMod val="75000"/>
              </a:srgbClr>
            </a:solidFill>
            <a:ln>
              <a:noFill/>
            </a:ln>
          </p:spPr>
          <p:txBody>
            <a:bodyPr/>
            <a:lstStyle/>
            <a:p>
              <a:endParaRPr lang="en-US"/>
            </a:p>
          </p:txBody>
        </p:sp>
        <p:sp>
          <p:nvSpPr>
            <p:cNvPr id="28" name="Freeform 12">
              <a:extLst>
                <a:ext uri="{FF2B5EF4-FFF2-40B4-BE49-F238E27FC236}">
                  <a16:creationId xmlns:a16="http://schemas.microsoft.com/office/drawing/2014/main" id="{F130A56D-449A-4985-94CD-B749D51FF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ysClr val="windowText" lastClr="000000">
                <a:lumMod val="75000"/>
                <a:lumOff val="25000"/>
              </a:sysClr>
            </a:solidFill>
            <a:ln>
              <a:noFill/>
            </a:ln>
          </p:spPr>
          <p:txBody>
            <a:bodyPr/>
            <a:lstStyle/>
            <a:p>
              <a:endParaRPr lang="en-US"/>
            </a:p>
          </p:txBody>
        </p:sp>
      </p:grpSp>
      <p:sp>
        <p:nvSpPr>
          <p:cNvPr id="3" name="Slide Number Placeholder 2">
            <a:extLst>
              <a:ext uri="{FF2B5EF4-FFF2-40B4-BE49-F238E27FC236}">
                <a16:creationId xmlns:a16="http://schemas.microsoft.com/office/drawing/2014/main" id="{11202642-655A-5298-E46F-F67A9D0FCEB3}"/>
              </a:ext>
            </a:extLst>
          </p:cNvPr>
          <p:cNvSpPr>
            <a:spLocks noGrp="1"/>
          </p:cNvSpPr>
          <p:nvPr>
            <p:ph type="sldNum" sz="quarter" idx="12"/>
          </p:nvPr>
        </p:nvSpPr>
        <p:spPr/>
        <p:txBody>
          <a:bodyPr/>
          <a:lstStyle/>
          <a:p>
            <a:pPr algn="ctr"/>
            <a:r>
              <a:rPr lang="en-US"/>
              <a:t>CS4500/5500</a:t>
            </a:r>
            <a:endParaRPr lang="en-US" dirty="0"/>
          </a:p>
        </p:txBody>
      </p:sp>
    </p:spTree>
    <p:extLst>
      <p:ext uri="{BB962C8B-B14F-4D97-AF65-F5344CB8AC3E}">
        <p14:creationId xmlns:p14="http://schemas.microsoft.com/office/powerpoint/2010/main" val="3579435288"/>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5BD3AC6-E701-0E27-1B41-D100616DFCF8}"/>
              </a:ext>
            </a:extLst>
          </p:cNvPr>
          <p:cNvSpPr>
            <a:spLocks noGrp="1"/>
          </p:cNvSpPr>
          <p:nvPr>
            <p:ph type="title"/>
          </p:nvPr>
        </p:nvSpPr>
        <p:spPr/>
        <p:txBody>
          <a:bodyPr/>
          <a:lstStyle/>
          <a:p>
            <a:r>
              <a:rPr lang="en-US" dirty="0"/>
              <a:t>Round Robin Scheduling</a:t>
            </a:r>
          </a:p>
        </p:txBody>
      </p:sp>
      <p:sp>
        <p:nvSpPr>
          <p:cNvPr id="8" name="Content Placeholder 7">
            <a:extLst>
              <a:ext uri="{FF2B5EF4-FFF2-40B4-BE49-F238E27FC236}">
                <a16:creationId xmlns:a16="http://schemas.microsoft.com/office/drawing/2014/main" id="{27453920-9065-9AEA-F947-9B0A8D078B1E}"/>
              </a:ext>
            </a:extLst>
          </p:cNvPr>
          <p:cNvSpPr>
            <a:spLocks noGrp="1"/>
          </p:cNvSpPr>
          <p:nvPr>
            <p:ph idx="1"/>
          </p:nvPr>
        </p:nvSpPr>
        <p:spPr/>
        <p:txBody>
          <a:bodyPr>
            <a:normAutofit fontScale="92500"/>
          </a:bodyPr>
          <a:lstStyle/>
          <a:p>
            <a:r>
              <a:rPr lang="en-US" dirty="0"/>
              <a:t>Designed for time-sharing systems</a:t>
            </a:r>
          </a:p>
          <a:p>
            <a:r>
              <a:rPr lang="en-US" dirty="0"/>
              <a:t>Similar to FCFS but adds preemption</a:t>
            </a:r>
          </a:p>
          <a:p>
            <a:r>
              <a:rPr lang="en-US" dirty="0"/>
              <a:t>A time quantum or time slice is defined as a small measure of time 10 – 100 </a:t>
            </a:r>
            <a:r>
              <a:rPr lang="en-US" dirty="0" err="1"/>
              <a:t>ms</a:t>
            </a:r>
            <a:r>
              <a:rPr lang="en-US" dirty="0"/>
              <a:t> </a:t>
            </a:r>
          </a:p>
          <a:p>
            <a:r>
              <a:rPr lang="en-US" dirty="0"/>
              <a:t>Each process is assigned a time quantum</a:t>
            </a:r>
          </a:p>
          <a:p>
            <a:r>
              <a:rPr lang="en-US" dirty="0"/>
              <a:t>The process can use the CPU for the allotted time</a:t>
            </a:r>
          </a:p>
          <a:p>
            <a:r>
              <a:rPr lang="en-US" dirty="0"/>
              <a:t>Then the next process uses the CPU and so on for round one</a:t>
            </a:r>
          </a:p>
        </p:txBody>
      </p:sp>
      <p:sp>
        <p:nvSpPr>
          <p:cNvPr id="3" name="Slide Number Placeholder 2">
            <a:extLst>
              <a:ext uri="{FF2B5EF4-FFF2-40B4-BE49-F238E27FC236}">
                <a16:creationId xmlns:a16="http://schemas.microsoft.com/office/drawing/2014/main" id="{2C5F8902-7AB1-2B66-380E-3A448E51A817}"/>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4482028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3586E46-9390-6FFD-13DA-B33EA0DEEE57}"/>
              </a:ext>
            </a:extLst>
          </p:cNvPr>
          <p:cNvSpPr>
            <a:spLocks noGrp="1"/>
          </p:cNvSpPr>
          <p:nvPr>
            <p:ph type="title"/>
          </p:nvPr>
        </p:nvSpPr>
        <p:spPr/>
        <p:txBody>
          <a:bodyPr>
            <a:normAutofit/>
          </a:bodyPr>
          <a:lstStyle/>
          <a:p>
            <a:r>
              <a:rPr lang="en-US" dirty="0"/>
              <a:t>Round Robin</a:t>
            </a:r>
          </a:p>
        </p:txBody>
      </p:sp>
      <p:graphicFrame>
        <p:nvGraphicFramePr>
          <p:cNvPr id="11" name="Content Placeholder 10">
            <a:extLst>
              <a:ext uri="{FF2B5EF4-FFF2-40B4-BE49-F238E27FC236}">
                <a16:creationId xmlns:a16="http://schemas.microsoft.com/office/drawing/2014/main" id="{C59A74D2-A995-2D67-BC72-C0E37DF24C6F}"/>
              </a:ext>
            </a:extLst>
          </p:cNvPr>
          <p:cNvGraphicFramePr>
            <a:graphicFrameLocks noGrp="1"/>
          </p:cNvGraphicFramePr>
          <p:nvPr>
            <p:ph idx="1"/>
            <p:extLst>
              <p:ext uri="{D42A27DB-BD31-4B8C-83A1-F6EECF244321}">
                <p14:modId xmlns:p14="http://schemas.microsoft.com/office/powerpoint/2010/main" val="102526732"/>
              </p:ext>
            </p:extLst>
          </p:nvPr>
        </p:nvGraphicFramePr>
        <p:xfrm>
          <a:off x="982663" y="2667000"/>
          <a:ext cx="7704137" cy="33321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Arrow: Bent 11">
            <a:extLst>
              <a:ext uri="{FF2B5EF4-FFF2-40B4-BE49-F238E27FC236}">
                <a16:creationId xmlns:a16="http://schemas.microsoft.com/office/drawing/2014/main" id="{851EC18A-6039-06AC-2EC1-D186F50CF664}"/>
              </a:ext>
            </a:extLst>
          </p:cNvPr>
          <p:cNvSpPr/>
          <p:nvPr/>
        </p:nvSpPr>
        <p:spPr>
          <a:xfrm rot="16200000">
            <a:off x="2401226" y="2062560"/>
            <a:ext cx="1143000" cy="3723481"/>
          </a:xfrm>
          <a:prstGeom prst="bentArrow">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r>
              <a:rPr lang="en-US" b="1" dirty="0">
                <a:solidFill>
                  <a:schemeClr val="tx1"/>
                </a:solidFill>
              </a:rPr>
              <a:t>        CPU Running</a:t>
            </a:r>
          </a:p>
        </p:txBody>
      </p:sp>
      <p:sp>
        <p:nvSpPr>
          <p:cNvPr id="14" name="Arrow: Bent 13">
            <a:extLst>
              <a:ext uri="{FF2B5EF4-FFF2-40B4-BE49-F238E27FC236}">
                <a16:creationId xmlns:a16="http://schemas.microsoft.com/office/drawing/2014/main" id="{A5D53F7D-B8E7-B11D-FB98-F37B6406A57F}"/>
              </a:ext>
            </a:extLst>
          </p:cNvPr>
          <p:cNvSpPr/>
          <p:nvPr/>
        </p:nvSpPr>
        <p:spPr>
          <a:xfrm>
            <a:off x="1234412" y="1790701"/>
            <a:ext cx="3352800" cy="1333500"/>
          </a:xfrm>
          <a:prstGeom prst="bentArrow">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Slide Number Placeholder 2">
            <a:extLst>
              <a:ext uri="{FF2B5EF4-FFF2-40B4-BE49-F238E27FC236}">
                <a16:creationId xmlns:a16="http://schemas.microsoft.com/office/drawing/2014/main" id="{278B2EE0-86BD-0097-CB76-A31C9BF46398}"/>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5944551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0FBD9-6C19-7310-E6E7-8C4CC0EBA763}"/>
              </a:ext>
            </a:extLst>
          </p:cNvPr>
          <p:cNvSpPr>
            <a:spLocks noGrp="1"/>
          </p:cNvSpPr>
          <p:nvPr>
            <p:ph type="title"/>
          </p:nvPr>
        </p:nvSpPr>
        <p:spPr/>
        <p:txBody>
          <a:bodyPr/>
          <a:lstStyle/>
          <a:p>
            <a:r>
              <a:rPr lang="en-US" dirty="0"/>
              <a:t>Round Robin Scheduling</a:t>
            </a:r>
          </a:p>
        </p:txBody>
      </p:sp>
      <p:sp>
        <p:nvSpPr>
          <p:cNvPr id="3" name="Content Placeholder 2">
            <a:extLst>
              <a:ext uri="{FF2B5EF4-FFF2-40B4-BE49-F238E27FC236}">
                <a16:creationId xmlns:a16="http://schemas.microsoft.com/office/drawing/2014/main" id="{12FDDF62-AD38-ECEF-470D-73950719A852}"/>
              </a:ext>
            </a:extLst>
          </p:cNvPr>
          <p:cNvSpPr>
            <a:spLocks noGrp="1"/>
          </p:cNvSpPr>
          <p:nvPr>
            <p:ph idx="1"/>
          </p:nvPr>
        </p:nvSpPr>
        <p:spPr/>
        <p:txBody>
          <a:bodyPr/>
          <a:lstStyle/>
          <a:p>
            <a:r>
              <a:rPr lang="en-US" dirty="0"/>
              <a:t>The queue is initially set up the same as FIFO</a:t>
            </a:r>
          </a:p>
          <a:p>
            <a:r>
              <a:rPr lang="en-US" dirty="0"/>
              <a:t>New processes added to the tail of the queue</a:t>
            </a:r>
          </a:p>
          <a:p>
            <a:r>
              <a:rPr lang="en-US" dirty="0"/>
              <a:t>CPU selects first process in line and sets the timer for one time quantum</a:t>
            </a:r>
          </a:p>
          <a:p>
            <a:r>
              <a:rPr lang="en-US" dirty="0"/>
              <a:t>Processes are selected until all the processes have had their turn with the CPU</a:t>
            </a:r>
          </a:p>
          <a:p>
            <a:endParaRPr lang="en-US" dirty="0"/>
          </a:p>
          <a:p>
            <a:endParaRPr lang="en-US" dirty="0"/>
          </a:p>
        </p:txBody>
      </p:sp>
      <p:sp>
        <p:nvSpPr>
          <p:cNvPr id="8" name="Slide Number Placeholder 7">
            <a:extLst>
              <a:ext uri="{FF2B5EF4-FFF2-40B4-BE49-F238E27FC236}">
                <a16:creationId xmlns:a16="http://schemas.microsoft.com/office/drawing/2014/main" id="{61DBE2FD-4BF4-5D7A-011A-DEBEE4D6968A}"/>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524846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31" name="Group 1030">
            <a:extLst>
              <a:ext uri="{FF2B5EF4-FFF2-40B4-BE49-F238E27FC236}">
                <a16:creationId xmlns:a16="http://schemas.microsoft.com/office/drawing/2014/main" id="{C616B3DC-C165-433D-9187-62DCC0E317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032" name="Freeform 6">
              <a:extLst>
                <a:ext uri="{FF2B5EF4-FFF2-40B4-BE49-F238E27FC236}">
                  <a16:creationId xmlns:a16="http://schemas.microsoft.com/office/drawing/2014/main" id="{97E1BF84-9824-4B0E-98DF-F0F7181DD0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033" name="Freeform 7">
              <a:extLst>
                <a:ext uri="{FF2B5EF4-FFF2-40B4-BE49-F238E27FC236}">
                  <a16:creationId xmlns:a16="http://schemas.microsoft.com/office/drawing/2014/main" id="{A85FA340-7392-4303-9707-A12F45A46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1034" name="Freeform 9">
              <a:extLst>
                <a:ext uri="{FF2B5EF4-FFF2-40B4-BE49-F238E27FC236}">
                  <a16:creationId xmlns:a16="http://schemas.microsoft.com/office/drawing/2014/main" id="{758A9051-2BD9-4868-8B84-344752FA2F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1035" name="Freeform 10">
              <a:extLst>
                <a:ext uri="{FF2B5EF4-FFF2-40B4-BE49-F238E27FC236}">
                  <a16:creationId xmlns:a16="http://schemas.microsoft.com/office/drawing/2014/main" id="{58264C49-3539-4CBD-8F11-1106C8B878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1036" name="Freeform 11">
              <a:extLst>
                <a:ext uri="{FF2B5EF4-FFF2-40B4-BE49-F238E27FC236}">
                  <a16:creationId xmlns:a16="http://schemas.microsoft.com/office/drawing/2014/main" id="{DE862133-5C7E-4B32-9786-0B33BC51A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1037" name="Freeform 12">
              <a:extLst>
                <a:ext uri="{FF2B5EF4-FFF2-40B4-BE49-F238E27FC236}">
                  <a16:creationId xmlns:a16="http://schemas.microsoft.com/office/drawing/2014/main" id="{90925F6C-DF03-4707-9176-6049F049B5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useBgFill="1">
        <p:nvSpPr>
          <p:cNvPr id="1039" name="Rectangle 1038">
            <a:extLst>
              <a:ext uri="{FF2B5EF4-FFF2-40B4-BE49-F238E27FC236}">
                <a16:creationId xmlns:a16="http://schemas.microsoft.com/office/drawing/2014/main" id="{A6073935-E043-4801-AF06-06093A914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AE4BB43A-10DB-E1CC-D592-2785DF7EE61F}"/>
              </a:ext>
            </a:extLst>
          </p:cNvPr>
          <p:cNvSpPr>
            <a:spLocks noGrp="1"/>
          </p:cNvSpPr>
          <p:nvPr>
            <p:ph type="title"/>
          </p:nvPr>
        </p:nvSpPr>
        <p:spPr>
          <a:xfrm>
            <a:off x="7285678" y="648930"/>
            <a:ext cx="1705922" cy="3347337"/>
          </a:xfrm>
        </p:spPr>
        <p:txBody>
          <a:bodyPr vert="horz" lIns="91440" tIns="45720" rIns="91440" bIns="45720" rtlCol="0" anchor="b">
            <a:normAutofit/>
          </a:bodyPr>
          <a:lstStyle/>
          <a:p>
            <a:pPr algn="r"/>
            <a:r>
              <a:rPr lang="en-US" sz="4200" dirty="0"/>
              <a:t>Round Robin</a:t>
            </a:r>
          </a:p>
        </p:txBody>
      </p:sp>
      <p:grpSp>
        <p:nvGrpSpPr>
          <p:cNvPr id="1041" name="Group 1040">
            <a:extLst>
              <a:ext uri="{FF2B5EF4-FFF2-40B4-BE49-F238E27FC236}">
                <a16:creationId xmlns:a16="http://schemas.microsoft.com/office/drawing/2014/main" id="{8AC26FF4-D6F9-4A94-A837-D051A101ED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5036" y="-4763"/>
            <a:ext cx="3761187" cy="6862763"/>
            <a:chOff x="2928938" y="-4763"/>
            <a:chExt cx="5014912" cy="6862763"/>
          </a:xfrm>
        </p:grpSpPr>
        <p:sp>
          <p:nvSpPr>
            <p:cNvPr id="1042" name="Freeform 6">
              <a:extLst>
                <a:ext uri="{FF2B5EF4-FFF2-40B4-BE49-F238E27FC236}">
                  <a16:creationId xmlns:a16="http://schemas.microsoft.com/office/drawing/2014/main" id="{EFFE501B-F9EC-4229-99D6-F39E38A71B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043" name="Freeform 7">
              <a:extLst>
                <a:ext uri="{FF2B5EF4-FFF2-40B4-BE49-F238E27FC236}">
                  <a16:creationId xmlns:a16="http://schemas.microsoft.com/office/drawing/2014/main" id="{B064C6A0-3DE4-4F4A-B650-78A628163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1044" name="Freeform 25">
              <a:extLst>
                <a:ext uri="{FF2B5EF4-FFF2-40B4-BE49-F238E27FC236}">
                  <a16:creationId xmlns:a16="http://schemas.microsoft.com/office/drawing/2014/main" id="{43CD3E83-3D0D-40EE-B1A2-9C989EBF2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1045" name="Freeform 26">
              <a:extLst>
                <a:ext uri="{FF2B5EF4-FFF2-40B4-BE49-F238E27FC236}">
                  <a16:creationId xmlns:a16="http://schemas.microsoft.com/office/drawing/2014/main" id="{71553909-760D-4B98-96A4-F9F48339AF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1046" name="Freeform 27">
              <a:extLst>
                <a:ext uri="{FF2B5EF4-FFF2-40B4-BE49-F238E27FC236}">
                  <a16:creationId xmlns:a16="http://schemas.microsoft.com/office/drawing/2014/main" id="{1F006A6C-F843-49BC-AC84-89BD2AF58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1047" name="Freeform 28">
              <a:extLst>
                <a:ext uri="{FF2B5EF4-FFF2-40B4-BE49-F238E27FC236}">
                  <a16:creationId xmlns:a16="http://schemas.microsoft.com/office/drawing/2014/main" id="{62AEE6F3-16F4-4944-8459-4D5EEA341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1049" name="Rounded Rectangle 16">
            <a:extLst>
              <a:ext uri="{FF2B5EF4-FFF2-40B4-BE49-F238E27FC236}">
                <a16:creationId xmlns:a16="http://schemas.microsoft.com/office/drawing/2014/main" id="{8D6B9972-4A81-4223-9901-0E559A1D5E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2519" y="648931"/>
            <a:ext cx="5140825"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Round Robin | Round Robin Scheduling | Examples | Gate Vidyalay">
            <a:extLst>
              <a:ext uri="{FF2B5EF4-FFF2-40B4-BE49-F238E27FC236}">
                <a16:creationId xmlns:a16="http://schemas.microsoft.com/office/drawing/2014/main" id="{884CE47E-EB5D-6BD5-F0E5-6835B33F4B7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0" y="156683"/>
            <a:ext cx="7212525" cy="595033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F333D69-3FD7-AA7E-918C-309D4ABEF318}"/>
              </a:ext>
            </a:extLst>
          </p:cNvPr>
          <p:cNvSpPr txBox="1"/>
          <p:nvPr/>
        </p:nvSpPr>
        <p:spPr>
          <a:xfrm>
            <a:off x="69594" y="6161783"/>
            <a:ext cx="7229898" cy="523220"/>
          </a:xfrm>
          <a:prstGeom prst="rect">
            <a:avLst/>
          </a:prstGeom>
          <a:noFill/>
        </p:spPr>
        <p:txBody>
          <a:bodyPr wrap="square">
            <a:spAutoFit/>
          </a:bodyPr>
          <a:lstStyle/>
          <a:p>
            <a:pPr>
              <a:spcAft>
                <a:spcPts val="600"/>
              </a:spcAft>
            </a:pPr>
            <a:r>
              <a:rPr lang="en-US" sz="1400" dirty="0"/>
              <a:t>Image retrieved from : https://www.gatevidyalay.com/round-robin-round-robin-scheduling-examples/</a:t>
            </a:r>
            <a:endParaRPr lang="en-US" sz="1400"/>
          </a:p>
        </p:txBody>
      </p:sp>
      <p:sp>
        <p:nvSpPr>
          <p:cNvPr id="4" name="Slide Number Placeholder 3">
            <a:extLst>
              <a:ext uri="{FF2B5EF4-FFF2-40B4-BE49-F238E27FC236}">
                <a16:creationId xmlns:a16="http://schemas.microsoft.com/office/drawing/2014/main" id="{75AD8E1C-2413-D616-84AF-BED14AE57D2F}"/>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21417797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A6FCD-7733-BD88-6628-8AF05EF3D6E7}"/>
              </a:ext>
            </a:extLst>
          </p:cNvPr>
          <p:cNvSpPr>
            <a:spLocks noGrp="1"/>
          </p:cNvSpPr>
          <p:nvPr>
            <p:ph type="title"/>
          </p:nvPr>
        </p:nvSpPr>
        <p:spPr/>
        <p:txBody>
          <a:bodyPr/>
          <a:lstStyle/>
          <a:p>
            <a:r>
              <a:rPr lang="en-US" dirty="0"/>
              <a:t>Burst &lt; time quantum</a:t>
            </a:r>
          </a:p>
        </p:txBody>
      </p:sp>
      <p:sp>
        <p:nvSpPr>
          <p:cNvPr id="3" name="Content Placeholder 2">
            <a:extLst>
              <a:ext uri="{FF2B5EF4-FFF2-40B4-BE49-F238E27FC236}">
                <a16:creationId xmlns:a16="http://schemas.microsoft.com/office/drawing/2014/main" id="{E44D240E-4E12-0598-841F-3C09141EFA58}"/>
              </a:ext>
            </a:extLst>
          </p:cNvPr>
          <p:cNvSpPr>
            <a:spLocks noGrp="1"/>
          </p:cNvSpPr>
          <p:nvPr>
            <p:ph idx="1"/>
          </p:nvPr>
        </p:nvSpPr>
        <p:spPr/>
        <p:txBody>
          <a:bodyPr/>
          <a:lstStyle/>
          <a:p>
            <a:r>
              <a:rPr lang="en-US" dirty="0"/>
              <a:t>The process releases itself from the processor once complete</a:t>
            </a:r>
          </a:p>
          <a:p>
            <a:r>
              <a:rPr lang="en-US" dirty="0"/>
              <a:t>The CPU scheduler moves to next process</a:t>
            </a:r>
          </a:p>
        </p:txBody>
      </p:sp>
      <p:sp>
        <p:nvSpPr>
          <p:cNvPr id="8" name="Slide Number Placeholder 7">
            <a:extLst>
              <a:ext uri="{FF2B5EF4-FFF2-40B4-BE49-F238E27FC236}">
                <a16:creationId xmlns:a16="http://schemas.microsoft.com/office/drawing/2014/main" id="{E8BDA57C-34FB-51FC-F7D3-47844DBE31E9}"/>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8311568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A6FCD-7733-BD88-6628-8AF05EF3D6E7}"/>
              </a:ext>
            </a:extLst>
          </p:cNvPr>
          <p:cNvSpPr>
            <a:spLocks noGrp="1"/>
          </p:cNvSpPr>
          <p:nvPr>
            <p:ph type="title"/>
          </p:nvPr>
        </p:nvSpPr>
        <p:spPr/>
        <p:txBody>
          <a:bodyPr/>
          <a:lstStyle/>
          <a:p>
            <a:r>
              <a:rPr lang="en-US" dirty="0"/>
              <a:t>Burst &gt; time quantum</a:t>
            </a:r>
          </a:p>
        </p:txBody>
      </p:sp>
      <p:sp>
        <p:nvSpPr>
          <p:cNvPr id="3" name="Content Placeholder 2">
            <a:extLst>
              <a:ext uri="{FF2B5EF4-FFF2-40B4-BE49-F238E27FC236}">
                <a16:creationId xmlns:a16="http://schemas.microsoft.com/office/drawing/2014/main" id="{E44D240E-4E12-0598-841F-3C09141EFA58}"/>
              </a:ext>
            </a:extLst>
          </p:cNvPr>
          <p:cNvSpPr>
            <a:spLocks noGrp="1"/>
          </p:cNvSpPr>
          <p:nvPr>
            <p:ph idx="1"/>
          </p:nvPr>
        </p:nvSpPr>
        <p:spPr/>
        <p:txBody>
          <a:bodyPr/>
          <a:lstStyle/>
          <a:p>
            <a:r>
              <a:rPr lang="en-US" dirty="0"/>
              <a:t>The timer expires and the process is interrupted and a context switch places the process at the tail of the queue</a:t>
            </a:r>
          </a:p>
          <a:p>
            <a:r>
              <a:rPr lang="en-US" dirty="0"/>
              <a:t>The CPU scheduler then sees the next process in line</a:t>
            </a:r>
          </a:p>
        </p:txBody>
      </p:sp>
      <p:sp>
        <p:nvSpPr>
          <p:cNvPr id="8" name="Slide Number Placeholder 7">
            <a:extLst>
              <a:ext uri="{FF2B5EF4-FFF2-40B4-BE49-F238E27FC236}">
                <a16:creationId xmlns:a16="http://schemas.microsoft.com/office/drawing/2014/main" id="{20F6AB7E-2216-A922-6C3A-77638F9DB912}"/>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0808777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4B06D-82C0-5F39-5325-E8C7C0BF0F39}"/>
              </a:ext>
            </a:extLst>
          </p:cNvPr>
          <p:cNvSpPr>
            <a:spLocks noGrp="1"/>
          </p:cNvSpPr>
          <p:nvPr>
            <p:ph type="title"/>
          </p:nvPr>
        </p:nvSpPr>
        <p:spPr>
          <a:xfrm>
            <a:off x="872066" y="226368"/>
            <a:ext cx="7704667" cy="1754832"/>
          </a:xfrm>
        </p:spPr>
        <p:txBody>
          <a:bodyPr>
            <a:normAutofit/>
          </a:bodyPr>
          <a:lstStyle/>
          <a:p>
            <a:r>
              <a:rPr lang="en-US" dirty="0"/>
              <a:t>Turnaround, Waiting, and Response Times for Round Robin</a:t>
            </a:r>
          </a:p>
        </p:txBody>
      </p:sp>
      <p:sp>
        <p:nvSpPr>
          <p:cNvPr id="5" name="Content Placeholder 4">
            <a:extLst>
              <a:ext uri="{FF2B5EF4-FFF2-40B4-BE49-F238E27FC236}">
                <a16:creationId xmlns:a16="http://schemas.microsoft.com/office/drawing/2014/main" id="{B1D8A9A0-51E9-EE70-95F8-E6DEF68D86A6}"/>
              </a:ext>
            </a:extLst>
          </p:cNvPr>
          <p:cNvSpPr>
            <a:spLocks noGrp="1"/>
          </p:cNvSpPr>
          <p:nvPr>
            <p:ph idx="1"/>
          </p:nvPr>
        </p:nvSpPr>
        <p:spPr>
          <a:xfrm>
            <a:off x="872066" y="2209800"/>
            <a:ext cx="8077200" cy="3332816"/>
          </a:xfrm>
        </p:spPr>
        <p:txBody>
          <a:bodyPr>
            <a:normAutofit/>
          </a:bodyPr>
          <a:lstStyle/>
          <a:p>
            <a:pPr marL="0" indent="0">
              <a:buNone/>
            </a:pPr>
            <a:r>
              <a:rPr lang="en-US" sz="2800" dirty="0"/>
              <a:t>Formulas:</a:t>
            </a:r>
          </a:p>
          <a:p>
            <a:pPr marL="0" indent="0">
              <a:buNone/>
            </a:pPr>
            <a:r>
              <a:rPr lang="en-US" sz="2800" dirty="0"/>
              <a:t>Turnaround time = Completion Time – Arrival Time</a:t>
            </a:r>
          </a:p>
          <a:p>
            <a:pPr marL="0" indent="0">
              <a:buNone/>
            </a:pPr>
            <a:r>
              <a:rPr lang="en-US" sz="2800" dirty="0"/>
              <a:t>Waiting time = Turnaround time – Burst Time</a:t>
            </a:r>
          </a:p>
          <a:p>
            <a:pPr marL="0" indent="0">
              <a:buNone/>
            </a:pPr>
            <a:r>
              <a:rPr lang="en-US" sz="2800" dirty="0"/>
              <a:t>Response Time = Time process begins – Arrival time</a:t>
            </a:r>
          </a:p>
          <a:p>
            <a:endParaRPr lang="en-US" sz="2800" dirty="0"/>
          </a:p>
        </p:txBody>
      </p:sp>
      <p:sp>
        <p:nvSpPr>
          <p:cNvPr id="6" name="Slide Number Placeholder 5">
            <a:extLst>
              <a:ext uri="{FF2B5EF4-FFF2-40B4-BE49-F238E27FC236}">
                <a16:creationId xmlns:a16="http://schemas.microsoft.com/office/drawing/2014/main" id="{6CC6B01A-BD1C-F87F-C625-2B74CFDC8CE5}"/>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33201445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399867" cy="713689"/>
          </a:xfrm>
        </p:spPr>
        <p:txBody>
          <a:bodyPr>
            <a:normAutofit/>
          </a:bodyPr>
          <a:lstStyle/>
          <a:p>
            <a:r>
              <a:rPr lang="en-US" sz="4000" dirty="0">
                <a:ln>
                  <a:noFill/>
                </a:ln>
                <a:effectLst/>
              </a:rPr>
              <a:t>Round Robin (RR)</a:t>
            </a:r>
          </a:p>
        </p:txBody>
      </p:sp>
      <p:sp>
        <p:nvSpPr>
          <p:cNvPr id="31" name="Content Placeholder 5"/>
          <p:cNvSpPr>
            <a:spLocks noGrp="1"/>
          </p:cNvSpPr>
          <p:nvPr>
            <p:ph sz="quarter" idx="1"/>
          </p:nvPr>
        </p:nvSpPr>
        <p:spPr>
          <a:xfrm>
            <a:off x="457200" y="1219200"/>
            <a:ext cx="8229600" cy="5029200"/>
          </a:xfrm>
        </p:spPr>
        <p:txBody>
          <a:bodyPr>
            <a:normAutofit/>
          </a:bodyPr>
          <a:lstStyle/>
          <a:p>
            <a:pPr marL="274320" lvl="1">
              <a:spcBef>
                <a:spcPts val="600"/>
              </a:spcBef>
              <a:buClr>
                <a:schemeClr val="accent1"/>
              </a:buClr>
              <a:buSzPct val="100000"/>
              <a:buFont typeface="Arial" pitchFamily="34" charset="0"/>
              <a:buChar char="•"/>
            </a:pPr>
            <a:r>
              <a:rPr lang="en-US" sz="2400" dirty="0">
                <a:solidFill>
                  <a:srgbClr val="000000"/>
                </a:solidFill>
              </a:rPr>
              <a:t>Like FCFS, but with limited time slices, preemptive</a:t>
            </a:r>
          </a:p>
          <a:p>
            <a:pPr marL="274320" lvl="1">
              <a:spcBef>
                <a:spcPts val="600"/>
              </a:spcBef>
              <a:buClr>
                <a:schemeClr val="accent1"/>
              </a:buClr>
              <a:buSzPct val="100000"/>
              <a:buFont typeface="Arial" pitchFamily="34" charset="0"/>
              <a:buChar char="•"/>
            </a:pPr>
            <a:r>
              <a:rPr lang="en-US" sz="2400" dirty="0">
                <a:solidFill>
                  <a:srgbClr val="000000"/>
                </a:solidFill>
              </a:rPr>
              <a:t>Average Turnaround = Completion time – arrival time</a:t>
            </a:r>
          </a:p>
          <a:p>
            <a:pPr marL="274320" lvl="1">
              <a:spcBef>
                <a:spcPts val="600"/>
              </a:spcBef>
              <a:buClr>
                <a:schemeClr val="accent1"/>
              </a:buClr>
              <a:buSzPct val="100000"/>
              <a:buFont typeface="Arial" pitchFamily="34" charset="0"/>
              <a:buChar char="•"/>
            </a:pPr>
            <a:r>
              <a:rPr lang="en-US" sz="2400">
                <a:solidFill>
                  <a:srgbClr val="000000"/>
                </a:solidFill>
              </a:rPr>
              <a:t>Average Response Time = Start time – arrival time</a:t>
            </a:r>
            <a:endParaRPr lang="en-US" dirty="0">
              <a:solidFill>
                <a:srgbClr val="000000"/>
              </a:solidFill>
            </a:endParaRPr>
          </a:p>
          <a:p>
            <a:pPr>
              <a:buNone/>
            </a:pPr>
            <a:endParaRPr lang="en-US" sz="2400" dirty="0">
              <a:solidFill>
                <a:srgbClr val="000000"/>
              </a:solidFill>
            </a:endParaRPr>
          </a:p>
          <a:p>
            <a:pPr lvl="2"/>
            <a:endParaRPr lang="en-US" dirty="0">
              <a:solidFill>
                <a:srgbClr val="000000"/>
              </a:solidFill>
            </a:endParaRPr>
          </a:p>
          <a:p>
            <a:endParaRPr lang="en-US" dirty="0">
              <a:solidFill>
                <a:srgbClr val="000000"/>
              </a:solidFill>
            </a:endParaRPr>
          </a:p>
        </p:txBody>
      </p:sp>
      <p:sp>
        <p:nvSpPr>
          <p:cNvPr id="8" name="Rectangle 38"/>
          <p:cNvSpPr>
            <a:spLocks noChangeArrowheads="1"/>
          </p:cNvSpPr>
          <p:nvPr/>
        </p:nvSpPr>
        <p:spPr bwMode="auto">
          <a:xfrm>
            <a:off x="1295997" y="980390"/>
            <a:ext cx="6694487" cy="1752600"/>
          </a:xfrm>
          <a:prstGeom prst="rect">
            <a:avLst/>
          </a:prstGeom>
          <a:noFill/>
          <a:ln w="9525">
            <a:noFill/>
            <a:miter lim="800000"/>
            <a:headEnd/>
            <a:tailEnd/>
          </a:ln>
        </p:spPr>
        <p:txBody>
          <a:bodyPr lIns="86486" tIns="43243" rIns="86486" bIns="43243"/>
          <a:lstStyle/>
          <a:p>
            <a:pPr marL="323850" indent="-323850" defTabSz="865188">
              <a:spcBef>
                <a:spcPct val="20000"/>
              </a:spcBef>
              <a:tabLst>
                <a:tab pos="1516063" algn="ctr"/>
                <a:tab pos="3078163" algn="ctr"/>
                <a:tab pos="4865688" algn="ctr"/>
              </a:tabLst>
            </a:pPr>
            <a:r>
              <a:rPr lang="en-US" sz="2300" dirty="0">
                <a:solidFill>
                  <a:schemeClr val="accent2"/>
                </a:solidFill>
                <a:latin typeface="Arial Narrow" pitchFamily="34" charset="0"/>
              </a:rPr>
              <a:t>		</a:t>
            </a:r>
            <a:r>
              <a:rPr lang="en-US" u="sng" dirty="0"/>
              <a:t>Process</a:t>
            </a:r>
            <a:r>
              <a:rPr lang="en-US" dirty="0"/>
              <a:t>	</a:t>
            </a:r>
            <a:r>
              <a:rPr lang="en-US" u="sng" dirty="0"/>
              <a:t>Arrival Time</a:t>
            </a:r>
            <a:r>
              <a:rPr lang="en-US" dirty="0"/>
              <a:t>	</a:t>
            </a:r>
            <a:r>
              <a:rPr lang="en-US" u="sng" dirty="0"/>
              <a:t>Burst Time</a:t>
            </a:r>
            <a:endParaRPr lang="en-US" dirty="0"/>
          </a:p>
          <a:p>
            <a:pPr marL="323850" indent="-323850" defTabSz="865188">
              <a:spcBef>
                <a:spcPct val="20000"/>
              </a:spcBef>
              <a:tabLst>
                <a:tab pos="1516063" algn="ctr"/>
                <a:tab pos="3078163" algn="ctr"/>
                <a:tab pos="4865688" algn="ctr"/>
              </a:tabLst>
            </a:pPr>
            <a:r>
              <a:rPr lang="en-US" dirty="0"/>
              <a:t>		</a:t>
            </a:r>
            <a:r>
              <a:rPr lang="en-US" i="1" dirty="0">
                <a:solidFill>
                  <a:srgbClr val="FF0000"/>
                </a:solidFill>
              </a:rPr>
              <a:t>P</a:t>
            </a:r>
            <a:r>
              <a:rPr lang="en-US" i="1" baseline="-25000" dirty="0">
                <a:solidFill>
                  <a:srgbClr val="FF0000"/>
                </a:solidFill>
              </a:rPr>
              <a:t>1</a:t>
            </a:r>
            <a:r>
              <a:rPr lang="en-US" dirty="0"/>
              <a:t>	0	8</a:t>
            </a:r>
          </a:p>
          <a:p>
            <a:pPr marL="323850" indent="-323850" defTabSz="865188">
              <a:spcBef>
                <a:spcPct val="20000"/>
              </a:spcBef>
              <a:tabLst>
                <a:tab pos="1516063" algn="ctr"/>
                <a:tab pos="3078163" algn="ctr"/>
                <a:tab pos="4865688" algn="ctr"/>
              </a:tabLst>
            </a:pPr>
            <a:r>
              <a:rPr lang="en-US" dirty="0"/>
              <a:t>		 </a:t>
            </a:r>
            <a:r>
              <a:rPr lang="en-US" i="1" dirty="0">
                <a:solidFill>
                  <a:srgbClr val="00B050"/>
                </a:solidFill>
              </a:rPr>
              <a:t>P</a:t>
            </a:r>
            <a:r>
              <a:rPr lang="en-US" i="1" baseline="-25000" dirty="0">
                <a:solidFill>
                  <a:srgbClr val="00B050"/>
                </a:solidFill>
              </a:rPr>
              <a:t>2</a:t>
            </a:r>
            <a:r>
              <a:rPr lang="en-US" i="1" baseline="-25000" dirty="0"/>
              <a:t>	</a:t>
            </a:r>
            <a:r>
              <a:rPr lang="en-US" dirty="0"/>
              <a:t>1	4</a:t>
            </a:r>
          </a:p>
          <a:p>
            <a:pPr marL="323850" indent="-323850" defTabSz="865188">
              <a:spcBef>
                <a:spcPct val="20000"/>
              </a:spcBef>
              <a:tabLst>
                <a:tab pos="1516063" algn="ctr"/>
                <a:tab pos="3078163" algn="ctr"/>
                <a:tab pos="4865688" algn="ctr"/>
              </a:tabLst>
            </a:pPr>
            <a:r>
              <a:rPr lang="en-US" dirty="0"/>
              <a:t>		 </a:t>
            </a:r>
            <a:r>
              <a:rPr lang="en-US" i="1" dirty="0">
                <a:solidFill>
                  <a:srgbClr val="0070C0"/>
                </a:solidFill>
              </a:rPr>
              <a:t>P</a:t>
            </a:r>
            <a:r>
              <a:rPr lang="en-US" i="1" baseline="-25000" dirty="0">
                <a:solidFill>
                  <a:srgbClr val="0070C0"/>
                </a:solidFill>
              </a:rPr>
              <a:t>3</a:t>
            </a:r>
            <a:r>
              <a:rPr lang="en-US" dirty="0"/>
              <a:t>	2	9</a:t>
            </a:r>
          </a:p>
          <a:p>
            <a:pPr marL="323850" indent="-323850" defTabSz="865188">
              <a:spcBef>
                <a:spcPct val="20000"/>
              </a:spcBef>
              <a:tabLst>
                <a:tab pos="1516063" algn="ctr"/>
                <a:tab pos="3078163" algn="ctr"/>
                <a:tab pos="4865688" algn="ctr"/>
              </a:tabLst>
            </a:pPr>
            <a:r>
              <a:rPr lang="en-US" dirty="0"/>
              <a:t>		 </a:t>
            </a:r>
            <a:r>
              <a:rPr lang="en-US" i="1" dirty="0">
                <a:solidFill>
                  <a:srgbClr val="7030A0"/>
                </a:solidFill>
              </a:rPr>
              <a:t>P</a:t>
            </a:r>
            <a:r>
              <a:rPr lang="en-US" i="1" baseline="-25000" dirty="0">
                <a:solidFill>
                  <a:srgbClr val="7030A0"/>
                </a:solidFill>
              </a:rPr>
              <a:t>4</a:t>
            </a:r>
            <a:r>
              <a:rPr lang="en-US" dirty="0"/>
              <a:t>	3	5</a:t>
            </a:r>
          </a:p>
        </p:txBody>
      </p:sp>
      <p:grpSp>
        <p:nvGrpSpPr>
          <p:cNvPr id="6" name="Group 5"/>
          <p:cNvGrpSpPr/>
          <p:nvPr/>
        </p:nvGrpSpPr>
        <p:grpSpPr>
          <a:xfrm>
            <a:off x="120294" y="3733800"/>
            <a:ext cx="7549861" cy="1143000"/>
            <a:chOff x="120294" y="3733800"/>
            <a:chExt cx="7549861" cy="1143000"/>
          </a:xfrm>
        </p:grpSpPr>
        <p:sp>
          <p:nvSpPr>
            <p:cNvPr id="20" name="Text Box 15"/>
            <p:cNvSpPr txBox="1">
              <a:spLocks noChangeArrowheads="1"/>
            </p:cNvSpPr>
            <p:nvPr/>
          </p:nvSpPr>
          <p:spPr bwMode="auto">
            <a:xfrm>
              <a:off x="6019800" y="4038600"/>
              <a:ext cx="366657" cy="307777"/>
            </a:xfrm>
            <a:prstGeom prst="rect">
              <a:avLst/>
            </a:prstGeom>
            <a:noFill/>
            <a:ln w="9525">
              <a:noFill/>
              <a:miter lim="800000"/>
              <a:headEnd/>
              <a:tailEnd/>
            </a:ln>
            <a:effectLst/>
          </p:spPr>
          <p:txBody>
            <a:bodyPr wrap="none">
              <a:spAutoFit/>
            </a:bodyPr>
            <a:lstStyle/>
            <a:p>
              <a:r>
                <a:rPr lang="en-US" sz="1400" b="1" dirty="0"/>
                <a:t>25</a:t>
              </a:r>
            </a:p>
          </p:txBody>
        </p:sp>
        <p:sp>
          <p:nvSpPr>
            <p:cNvPr id="16" name="Text Box 11"/>
            <p:cNvSpPr txBox="1">
              <a:spLocks noChangeArrowheads="1"/>
            </p:cNvSpPr>
            <p:nvPr/>
          </p:nvSpPr>
          <p:spPr bwMode="auto">
            <a:xfrm>
              <a:off x="990600" y="4038600"/>
              <a:ext cx="282575" cy="304800"/>
            </a:xfrm>
            <a:prstGeom prst="rect">
              <a:avLst/>
            </a:prstGeom>
            <a:noFill/>
            <a:ln w="9525">
              <a:noFill/>
              <a:miter lim="800000"/>
              <a:headEnd/>
              <a:tailEnd/>
            </a:ln>
            <a:effectLst/>
          </p:spPr>
          <p:txBody>
            <a:bodyPr wrap="none">
              <a:spAutoFit/>
            </a:bodyPr>
            <a:lstStyle/>
            <a:p>
              <a:r>
                <a:rPr lang="en-US" sz="1400" b="1" dirty="0"/>
                <a:t>0</a:t>
              </a:r>
            </a:p>
          </p:txBody>
        </p:sp>
        <p:sp>
          <p:nvSpPr>
            <p:cNvPr id="17" name="Text Box 12"/>
            <p:cNvSpPr txBox="1">
              <a:spLocks noChangeArrowheads="1"/>
            </p:cNvSpPr>
            <p:nvPr/>
          </p:nvSpPr>
          <p:spPr bwMode="auto">
            <a:xfrm>
              <a:off x="3276600" y="4038600"/>
              <a:ext cx="367408" cy="307777"/>
            </a:xfrm>
            <a:prstGeom prst="rect">
              <a:avLst/>
            </a:prstGeom>
            <a:noFill/>
            <a:ln w="9525">
              <a:noFill/>
              <a:miter lim="800000"/>
              <a:headEnd/>
              <a:tailEnd/>
            </a:ln>
            <a:effectLst/>
          </p:spPr>
          <p:txBody>
            <a:bodyPr wrap="none">
              <a:spAutoFit/>
            </a:bodyPr>
            <a:lstStyle/>
            <a:p>
              <a:r>
                <a:rPr lang="en-US" sz="1400" b="1" dirty="0"/>
                <a:t>12</a:t>
              </a:r>
            </a:p>
          </p:txBody>
        </p:sp>
        <p:sp>
          <p:nvSpPr>
            <p:cNvPr id="18" name="Text Box 13"/>
            <p:cNvSpPr txBox="1">
              <a:spLocks noChangeArrowheads="1"/>
            </p:cNvSpPr>
            <p:nvPr/>
          </p:nvSpPr>
          <p:spPr bwMode="auto">
            <a:xfrm>
              <a:off x="4038600" y="4038600"/>
              <a:ext cx="367408" cy="307777"/>
            </a:xfrm>
            <a:prstGeom prst="rect">
              <a:avLst/>
            </a:prstGeom>
            <a:noFill/>
            <a:ln w="9525">
              <a:noFill/>
              <a:miter lim="800000"/>
              <a:headEnd/>
              <a:tailEnd/>
            </a:ln>
            <a:effectLst/>
          </p:spPr>
          <p:txBody>
            <a:bodyPr wrap="none">
              <a:spAutoFit/>
            </a:bodyPr>
            <a:lstStyle/>
            <a:p>
              <a:r>
                <a:rPr lang="en-US" sz="1400" b="1" dirty="0"/>
                <a:t>16</a:t>
              </a:r>
            </a:p>
          </p:txBody>
        </p:sp>
        <p:sp>
          <p:nvSpPr>
            <p:cNvPr id="19" name="Text Box 14"/>
            <p:cNvSpPr txBox="1">
              <a:spLocks noChangeArrowheads="1"/>
            </p:cNvSpPr>
            <p:nvPr/>
          </p:nvSpPr>
          <p:spPr bwMode="auto">
            <a:xfrm>
              <a:off x="5562600" y="4038600"/>
              <a:ext cx="367408" cy="307777"/>
            </a:xfrm>
            <a:prstGeom prst="rect">
              <a:avLst/>
            </a:prstGeom>
            <a:noFill/>
            <a:ln w="9525">
              <a:noFill/>
              <a:miter lim="800000"/>
              <a:headEnd/>
              <a:tailEnd/>
            </a:ln>
            <a:effectLst/>
          </p:spPr>
          <p:txBody>
            <a:bodyPr wrap="none">
              <a:spAutoFit/>
            </a:bodyPr>
            <a:lstStyle/>
            <a:p>
              <a:r>
                <a:rPr lang="en-US" sz="1400" b="1" dirty="0"/>
                <a:t>24</a:t>
              </a:r>
            </a:p>
          </p:txBody>
        </p:sp>
        <p:sp>
          <p:nvSpPr>
            <p:cNvPr id="34" name="TextBox 33"/>
            <p:cNvSpPr txBox="1"/>
            <p:nvPr/>
          </p:nvSpPr>
          <p:spPr>
            <a:xfrm>
              <a:off x="1219200" y="4230469"/>
              <a:ext cx="6450955" cy="646331"/>
            </a:xfrm>
            <a:prstGeom prst="rect">
              <a:avLst/>
            </a:prstGeom>
            <a:noFill/>
          </p:spPr>
          <p:txBody>
            <a:bodyPr wrap="none" rtlCol="0">
              <a:spAutoFit/>
            </a:bodyPr>
            <a:lstStyle/>
            <a:p>
              <a:r>
                <a:rPr lang="en-US" dirty="0"/>
                <a:t>Average turnaround time = ((20-0)+(8-1)+(26-2)+(25-3)) / 4 = 18.25 </a:t>
              </a:r>
            </a:p>
            <a:p>
              <a:r>
                <a:rPr lang="en-US" dirty="0"/>
                <a:t>Average response time = (0+(4-1)+(8-2)+(12-3)) /4 = 4.5</a:t>
              </a:r>
            </a:p>
          </p:txBody>
        </p:sp>
        <p:sp>
          <p:nvSpPr>
            <p:cNvPr id="33" name="TextBox 32"/>
            <p:cNvSpPr txBox="1"/>
            <p:nvPr/>
          </p:nvSpPr>
          <p:spPr>
            <a:xfrm>
              <a:off x="120294" y="3810000"/>
              <a:ext cx="540533" cy="369332"/>
            </a:xfrm>
            <a:prstGeom prst="rect">
              <a:avLst/>
            </a:prstGeom>
            <a:noFill/>
          </p:spPr>
          <p:txBody>
            <a:bodyPr wrap="none" rtlCol="0">
              <a:spAutoFit/>
            </a:bodyPr>
            <a:lstStyle/>
            <a:p>
              <a:r>
                <a:rPr lang="en-US" b="1" i="1" dirty="0"/>
                <a:t>q</a:t>
              </a:r>
              <a:r>
                <a:rPr lang="en-US" b="1" dirty="0"/>
                <a:t>=4</a:t>
              </a:r>
            </a:p>
          </p:txBody>
        </p:sp>
        <p:grpSp>
          <p:nvGrpSpPr>
            <p:cNvPr id="60" name="Group 59"/>
            <p:cNvGrpSpPr/>
            <p:nvPr/>
          </p:nvGrpSpPr>
          <p:grpSpPr>
            <a:xfrm>
              <a:off x="1143000" y="3733800"/>
              <a:ext cx="5448300" cy="304800"/>
              <a:chOff x="533400" y="1828800"/>
              <a:chExt cx="5448300" cy="304800"/>
            </a:xfrm>
          </p:grpSpPr>
          <p:sp>
            <p:nvSpPr>
              <p:cNvPr id="49" name="Rectangle 48"/>
              <p:cNvSpPr/>
              <p:nvPr/>
            </p:nvSpPr>
            <p:spPr>
              <a:xfrm>
                <a:off x="533400" y="1828800"/>
                <a:ext cx="838200" cy="3048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1</a:t>
                </a:r>
                <a:endParaRPr lang="en-US" b="1" dirty="0">
                  <a:solidFill>
                    <a:schemeClr val="bg1"/>
                  </a:solidFill>
                </a:endParaRPr>
              </a:p>
            </p:txBody>
          </p:sp>
          <p:sp>
            <p:nvSpPr>
              <p:cNvPr id="50" name="Rectangle 49"/>
              <p:cNvSpPr/>
              <p:nvPr/>
            </p:nvSpPr>
            <p:spPr>
              <a:xfrm>
                <a:off x="1295400" y="1828800"/>
                <a:ext cx="838200" cy="3048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2</a:t>
                </a:r>
                <a:endParaRPr lang="en-US" b="1" dirty="0">
                  <a:solidFill>
                    <a:schemeClr val="bg1"/>
                  </a:solidFill>
                </a:endParaRPr>
              </a:p>
            </p:txBody>
          </p:sp>
          <p:sp>
            <p:nvSpPr>
              <p:cNvPr id="51" name="Rectangle 50"/>
              <p:cNvSpPr/>
              <p:nvPr/>
            </p:nvSpPr>
            <p:spPr>
              <a:xfrm>
                <a:off x="2057400" y="1828800"/>
                <a:ext cx="838200" cy="304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3</a:t>
                </a:r>
                <a:endParaRPr lang="en-US" b="1" dirty="0">
                  <a:solidFill>
                    <a:schemeClr val="bg1"/>
                  </a:solidFill>
                </a:endParaRPr>
              </a:p>
            </p:txBody>
          </p:sp>
          <p:sp>
            <p:nvSpPr>
              <p:cNvPr id="52" name="Rectangle 51"/>
              <p:cNvSpPr/>
              <p:nvPr/>
            </p:nvSpPr>
            <p:spPr>
              <a:xfrm>
                <a:off x="2819400" y="1828800"/>
                <a:ext cx="838200" cy="3048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4</a:t>
                </a:r>
                <a:endParaRPr lang="en-US" b="1" dirty="0">
                  <a:solidFill>
                    <a:schemeClr val="bg1"/>
                  </a:solidFill>
                </a:endParaRPr>
              </a:p>
            </p:txBody>
          </p:sp>
          <p:sp>
            <p:nvSpPr>
              <p:cNvPr id="53" name="Rectangle 52"/>
              <p:cNvSpPr/>
              <p:nvPr/>
            </p:nvSpPr>
            <p:spPr>
              <a:xfrm>
                <a:off x="3581400" y="1828800"/>
                <a:ext cx="838200" cy="3048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1</a:t>
                </a:r>
                <a:endParaRPr lang="en-US" b="1" dirty="0">
                  <a:solidFill>
                    <a:schemeClr val="bg1"/>
                  </a:solidFill>
                </a:endParaRPr>
              </a:p>
            </p:txBody>
          </p:sp>
          <p:sp>
            <p:nvSpPr>
              <p:cNvPr id="54" name="Rectangle 53"/>
              <p:cNvSpPr/>
              <p:nvPr/>
            </p:nvSpPr>
            <p:spPr>
              <a:xfrm>
                <a:off x="4343400" y="1828800"/>
                <a:ext cx="838200" cy="304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3</a:t>
                </a:r>
                <a:endParaRPr lang="en-US" b="1" dirty="0">
                  <a:solidFill>
                    <a:schemeClr val="bg1"/>
                  </a:solidFill>
                </a:endParaRPr>
              </a:p>
            </p:txBody>
          </p:sp>
          <p:sp>
            <p:nvSpPr>
              <p:cNvPr id="58" name="Rectangle 57"/>
              <p:cNvSpPr/>
              <p:nvPr/>
            </p:nvSpPr>
            <p:spPr>
              <a:xfrm>
                <a:off x="5562600" y="1828800"/>
                <a:ext cx="419100" cy="304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i="1" dirty="0">
                    <a:solidFill>
                      <a:schemeClr val="bg1"/>
                    </a:solidFill>
                  </a:rPr>
                  <a:t>P</a:t>
                </a:r>
                <a:r>
                  <a:rPr lang="en-US" b="1" i="1" baseline="-25000" dirty="0">
                    <a:solidFill>
                      <a:schemeClr val="bg1"/>
                    </a:solidFill>
                  </a:rPr>
                  <a:t>3</a:t>
                </a:r>
                <a:endParaRPr lang="en-US" b="1" dirty="0">
                  <a:solidFill>
                    <a:schemeClr val="bg1"/>
                  </a:solidFill>
                </a:endParaRPr>
              </a:p>
            </p:txBody>
          </p:sp>
          <p:sp>
            <p:nvSpPr>
              <p:cNvPr id="59" name="Rectangle 58"/>
              <p:cNvSpPr/>
              <p:nvPr/>
            </p:nvSpPr>
            <p:spPr>
              <a:xfrm>
                <a:off x="5181600" y="1828800"/>
                <a:ext cx="419100" cy="3048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i="1" dirty="0">
                    <a:solidFill>
                      <a:schemeClr val="bg1"/>
                    </a:solidFill>
                  </a:rPr>
                  <a:t>P</a:t>
                </a:r>
                <a:r>
                  <a:rPr lang="en-US" b="1" i="1" baseline="-25000" dirty="0">
                    <a:solidFill>
                      <a:schemeClr val="bg1"/>
                    </a:solidFill>
                  </a:rPr>
                  <a:t>4</a:t>
                </a:r>
                <a:endParaRPr lang="en-US" b="1" dirty="0">
                  <a:solidFill>
                    <a:schemeClr val="bg1"/>
                  </a:solidFill>
                </a:endParaRPr>
              </a:p>
            </p:txBody>
          </p:sp>
        </p:grpSp>
        <p:sp>
          <p:nvSpPr>
            <p:cNvPr id="61" name="Text Box 11"/>
            <p:cNvSpPr txBox="1">
              <a:spLocks noChangeArrowheads="1"/>
            </p:cNvSpPr>
            <p:nvPr/>
          </p:nvSpPr>
          <p:spPr bwMode="auto">
            <a:xfrm>
              <a:off x="1774825" y="4038600"/>
              <a:ext cx="276038" cy="307777"/>
            </a:xfrm>
            <a:prstGeom prst="rect">
              <a:avLst/>
            </a:prstGeom>
            <a:noFill/>
            <a:ln w="9525">
              <a:noFill/>
              <a:miter lim="800000"/>
              <a:headEnd/>
              <a:tailEnd/>
            </a:ln>
            <a:effectLst/>
          </p:spPr>
          <p:txBody>
            <a:bodyPr wrap="none">
              <a:spAutoFit/>
            </a:bodyPr>
            <a:lstStyle/>
            <a:p>
              <a:r>
                <a:rPr lang="en-US" sz="1400" b="1" dirty="0"/>
                <a:t>4</a:t>
              </a:r>
            </a:p>
          </p:txBody>
        </p:sp>
        <p:sp>
          <p:nvSpPr>
            <p:cNvPr id="62" name="Text Box 11"/>
            <p:cNvSpPr txBox="1">
              <a:spLocks noChangeArrowheads="1"/>
            </p:cNvSpPr>
            <p:nvPr/>
          </p:nvSpPr>
          <p:spPr bwMode="auto">
            <a:xfrm>
              <a:off x="2543362" y="4038600"/>
              <a:ext cx="276038" cy="307777"/>
            </a:xfrm>
            <a:prstGeom prst="rect">
              <a:avLst/>
            </a:prstGeom>
            <a:noFill/>
            <a:ln w="9525">
              <a:noFill/>
              <a:miter lim="800000"/>
              <a:headEnd/>
              <a:tailEnd/>
            </a:ln>
            <a:effectLst/>
          </p:spPr>
          <p:txBody>
            <a:bodyPr wrap="none">
              <a:spAutoFit/>
            </a:bodyPr>
            <a:lstStyle/>
            <a:p>
              <a:r>
                <a:rPr lang="en-US" sz="1400" b="1" dirty="0"/>
                <a:t>8</a:t>
              </a:r>
            </a:p>
          </p:txBody>
        </p:sp>
        <p:sp>
          <p:nvSpPr>
            <p:cNvPr id="63" name="Text Box 11"/>
            <p:cNvSpPr txBox="1">
              <a:spLocks noChangeArrowheads="1"/>
            </p:cNvSpPr>
            <p:nvPr/>
          </p:nvSpPr>
          <p:spPr bwMode="auto">
            <a:xfrm>
              <a:off x="4800600" y="4035623"/>
              <a:ext cx="367408" cy="307777"/>
            </a:xfrm>
            <a:prstGeom prst="rect">
              <a:avLst/>
            </a:prstGeom>
            <a:noFill/>
            <a:ln w="9525">
              <a:noFill/>
              <a:miter lim="800000"/>
              <a:headEnd/>
              <a:tailEnd/>
            </a:ln>
            <a:effectLst/>
          </p:spPr>
          <p:txBody>
            <a:bodyPr wrap="none">
              <a:spAutoFit/>
            </a:bodyPr>
            <a:lstStyle/>
            <a:p>
              <a:r>
                <a:rPr lang="en-US" sz="1400" b="1" dirty="0"/>
                <a:t>20</a:t>
              </a:r>
            </a:p>
          </p:txBody>
        </p:sp>
        <p:sp>
          <p:nvSpPr>
            <p:cNvPr id="64" name="Text Box 15"/>
            <p:cNvSpPr txBox="1">
              <a:spLocks noChangeArrowheads="1"/>
            </p:cNvSpPr>
            <p:nvPr/>
          </p:nvSpPr>
          <p:spPr bwMode="auto">
            <a:xfrm>
              <a:off x="6400800" y="4038600"/>
              <a:ext cx="366657" cy="307777"/>
            </a:xfrm>
            <a:prstGeom prst="rect">
              <a:avLst/>
            </a:prstGeom>
            <a:noFill/>
            <a:ln w="9525">
              <a:noFill/>
              <a:miter lim="800000"/>
              <a:headEnd/>
              <a:tailEnd/>
            </a:ln>
            <a:effectLst/>
          </p:spPr>
          <p:txBody>
            <a:bodyPr wrap="none">
              <a:spAutoFit/>
            </a:bodyPr>
            <a:lstStyle/>
            <a:p>
              <a:r>
                <a:rPr lang="en-US" sz="1400" b="1" dirty="0"/>
                <a:t>26</a:t>
              </a:r>
            </a:p>
          </p:txBody>
        </p:sp>
      </p:grpSp>
      <p:sp>
        <p:nvSpPr>
          <p:cNvPr id="35" name="Text Box 15"/>
          <p:cNvSpPr txBox="1">
            <a:spLocks noChangeArrowheads="1"/>
          </p:cNvSpPr>
          <p:nvPr/>
        </p:nvSpPr>
        <p:spPr bwMode="auto">
          <a:xfrm>
            <a:off x="7010400" y="5334000"/>
            <a:ext cx="381000" cy="304800"/>
          </a:xfrm>
          <a:prstGeom prst="rect">
            <a:avLst/>
          </a:prstGeom>
          <a:noFill/>
          <a:ln w="9525">
            <a:noFill/>
            <a:miter lim="800000"/>
            <a:headEnd/>
            <a:tailEnd/>
          </a:ln>
          <a:effectLst/>
        </p:spPr>
        <p:txBody>
          <a:bodyPr wrap="none">
            <a:spAutoFit/>
          </a:bodyPr>
          <a:lstStyle/>
          <a:p>
            <a:r>
              <a:rPr lang="en-US" sz="1400" b="1" dirty="0"/>
              <a:t>26</a:t>
            </a:r>
          </a:p>
        </p:txBody>
      </p:sp>
      <p:sp>
        <p:nvSpPr>
          <p:cNvPr id="36" name="Text Box 11"/>
          <p:cNvSpPr txBox="1">
            <a:spLocks noChangeArrowheads="1"/>
          </p:cNvSpPr>
          <p:nvPr/>
        </p:nvSpPr>
        <p:spPr bwMode="auto">
          <a:xfrm>
            <a:off x="1012825" y="5334000"/>
            <a:ext cx="282575" cy="304800"/>
          </a:xfrm>
          <a:prstGeom prst="rect">
            <a:avLst/>
          </a:prstGeom>
          <a:noFill/>
          <a:ln w="9525">
            <a:noFill/>
            <a:miter lim="800000"/>
            <a:headEnd/>
            <a:tailEnd/>
          </a:ln>
          <a:effectLst/>
        </p:spPr>
        <p:txBody>
          <a:bodyPr wrap="none">
            <a:spAutoFit/>
          </a:bodyPr>
          <a:lstStyle/>
          <a:p>
            <a:r>
              <a:rPr lang="en-US" sz="1400" b="1" dirty="0"/>
              <a:t>0</a:t>
            </a:r>
          </a:p>
        </p:txBody>
      </p:sp>
      <p:sp>
        <p:nvSpPr>
          <p:cNvPr id="37" name="Text Box 12"/>
          <p:cNvSpPr txBox="1">
            <a:spLocks noChangeArrowheads="1"/>
          </p:cNvSpPr>
          <p:nvPr/>
        </p:nvSpPr>
        <p:spPr bwMode="auto">
          <a:xfrm>
            <a:off x="3076762" y="5334000"/>
            <a:ext cx="276038" cy="307777"/>
          </a:xfrm>
          <a:prstGeom prst="rect">
            <a:avLst/>
          </a:prstGeom>
          <a:noFill/>
          <a:ln w="9525">
            <a:noFill/>
            <a:miter lim="800000"/>
            <a:headEnd/>
            <a:tailEnd/>
          </a:ln>
          <a:effectLst/>
        </p:spPr>
        <p:txBody>
          <a:bodyPr wrap="none">
            <a:spAutoFit/>
          </a:bodyPr>
          <a:lstStyle/>
          <a:p>
            <a:r>
              <a:rPr lang="en-US" sz="1400" b="1" dirty="0"/>
              <a:t>9</a:t>
            </a:r>
          </a:p>
        </p:txBody>
      </p:sp>
      <p:sp>
        <p:nvSpPr>
          <p:cNvPr id="38" name="Text Box 13"/>
          <p:cNvSpPr txBox="1">
            <a:spLocks noChangeArrowheads="1"/>
          </p:cNvSpPr>
          <p:nvPr/>
        </p:nvSpPr>
        <p:spPr bwMode="auto">
          <a:xfrm>
            <a:off x="4204592" y="5334000"/>
            <a:ext cx="367408" cy="307777"/>
          </a:xfrm>
          <a:prstGeom prst="rect">
            <a:avLst/>
          </a:prstGeom>
          <a:noFill/>
          <a:ln w="9525">
            <a:noFill/>
            <a:miter lim="800000"/>
            <a:headEnd/>
            <a:tailEnd/>
          </a:ln>
          <a:effectLst/>
        </p:spPr>
        <p:txBody>
          <a:bodyPr wrap="none">
            <a:spAutoFit/>
          </a:bodyPr>
          <a:lstStyle/>
          <a:p>
            <a:r>
              <a:rPr lang="en-US" sz="1400" b="1" dirty="0"/>
              <a:t>14</a:t>
            </a:r>
          </a:p>
        </p:txBody>
      </p:sp>
      <p:sp>
        <p:nvSpPr>
          <p:cNvPr id="39" name="Text Box 14"/>
          <p:cNvSpPr txBox="1">
            <a:spLocks noChangeArrowheads="1"/>
          </p:cNvSpPr>
          <p:nvPr/>
        </p:nvSpPr>
        <p:spPr bwMode="auto">
          <a:xfrm>
            <a:off x="5334000" y="5334000"/>
            <a:ext cx="367408" cy="307777"/>
          </a:xfrm>
          <a:prstGeom prst="rect">
            <a:avLst/>
          </a:prstGeom>
          <a:noFill/>
          <a:ln w="9525">
            <a:noFill/>
            <a:miter lim="800000"/>
            <a:headEnd/>
            <a:tailEnd/>
          </a:ln>
          <a:effectLst/>
        </p:spPr>
        <p:txBody>
          <a:bodyPr wrap="none">
            <a:spAutoFit/>
          </a:bodyPr>
          <a:lstStyle/>
          <a:p>
            <a:r>
              <a:rPr lang="en-US" sz="1400" b="1" dirty="0"/>
              <a:t>19</a:t>
            </a:r>
          </a:p>
        </p:txBody>
      </p:sp>
      <p:sp>
        <p:nvSpPr>
          <p:cNvPr id="45" name="TextBox 44"/>
          <p:cNvSpPr txBox="1"/>
          <p:nvPr/>
        </p:nvSpPr>
        <p:spPr>
          <a:xfrm>
            <a:off x="1131887" y="5650379"/>
            <a:ext cx="6387390" cy="646331"/>
          </a:xfrm>
          <a:prstGeom prst="rect">
            <a:avLst/>
          </a:prstGeom>
          <a:noFill/>
        </p:spPr>
        <p:txBody>
          <a:bodyPr wrap="none" rtlCol="0">
            <a:spAutoFit/>
          </a:bodyPr>
          <a:lstStyle/>
          <a:p>
            <a:r>
              <a:rPr lang="en-US" dirty="0"/>
              <a:t>Average turnaround time = ((22-0)+(9-1)+(26-2)+(19-3)) / 4 = 17.5 </a:t>
            </a:r>
          </a:p>
          <a:p>
            <a:r>
              <a:rPr lang="en-US" dirty="0"/>
              <a:t>Average response time = (0+(5-1)+(9-2)+(14-3)) /4 = 5.5</a:t>
            </a:r>
          </a:p>
        </p:txBody>
      </p:sp>
      <p:sp>
        <p:nvSpPr>
          <p:cNvPr id="40" name="TextBox 39"/>
          <p:cNvSpPr txBox="1"/>
          <p:nvPr/>
        </p:nvSpPr>
        <p:spPr>
          <a:xfrm>
            <a:off x="152400" y="4953000"/>
            <a:ext cx="540533" cy="369332"/>
          </a:xfrm>
          <a:prstGeom prst="rect">
            <a:avLst/>
          </a:prstGeom>
          <a:noFill/>
        </p:spPr>
        <p:txBody>
          <a:bodyPr wrap="none" rtlCol="0">
            <a:spAutoFit/>
          </a:bodyPr>
          <a:lstStyle/>
          <a:p>
            <a:r>
              <a:rPr lang="en-US" b="1" i="1" dirty="0"/>
              <a:t>q</a:t>
            </a:r>
            <a:r>
              <a:rPr lang="en-US" b="1" dirty="0"/>
              <a:t>=5</a:t>
            </a:r>
          </a:p>
        </p:txBody>
      </p:sp>
      <p:sp>
        <p:nvSpPr>
          <p:cNvPr id="48" name="Text Box 12"/>
          <p:cNvSpPr txBox="1">
            <a:spLocks noChangeArrowheads="1"/>
          </p:cNvSpPr>
          <p:nvPr/>
        </p:nvSpPr>
        <p:spPr bwMode="auto">
          <a:xfrm>
            <a:off x="2162362" y="5331023"/>
            <a:ext cx="276038" cy="307777"/>
          </a:xfrm>
          <a:prstGeom prst="rect">
            <a:avLst/>
          </a:prstGeom>
          <a:noFill/>
          <a:ln w="9525">
            <a:noFill/>
            <a:miter lim="800000"/>
            <a:headEnd/>
            <a:tailEnd/>
          </a:ln>
          <a:effectLst/>
        </p:spPr>
        <p:txBody>
          <a:bodyPr wrap="none">
            <a:spAutoFit/>
          </a:bodyPr>
          <a:lstStyle/>
          <a:p>
            <a:r>
              <a:rPr lang="en-US" sz="1400" b="1" dirty="0"/>
              <a:t>5</a:t>
            </a:r>
          </a:p>
        </p:txBody>
      </p:sp>
      <p:grpSp>
        <p:nvGrpSpPr>
          <p:cNvPr id="72" name="Group 71"/>
          <p:cNvGrpSpPr/>
          <p:nvPr/>
        </p:nvGrpSpPr>
        <p:grpSpPr>
          <a:xfrm>
            <a:off x="1143000" y="5029200"/>
            <a:ext cx="6019800" cy="304800"/>
            <a:chOff x="762000" y="152400"/>
            <a:chExt cx="6019800" cy="304800"/>
          </a:xfrm>
        </p:grpSpPr>
        <p:sp>
          <p:nvSpPr>
            <p:cNvPr id="66" name="Rectangle 65"/>
            <p:cNvSpPr/>
            <p:nvPr/>
          </p:nvSpPr>
          <p:spPr>
            <a:xfrm>
              <a:off x="3962400" y="152400"/>
              <a:ext cx="1143000" cy="3048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4</a:t>
              </a:r>
              <a:endParaRPr lang="en-US" b="1" dirty="0">
                <a:solidFill>
                  <a:schemeClr val="bg1"/>
                </a:solidFill>
              </a:endParaRPr>
            </a:p>
          </p:txBody>
        </p:sp>
        <p:sp>
          <p:nvSpPr>
            <p:cNvPr id="67" name="Rectangle 66"/>
            <p:cNvSpPr/>
            <p:nvPr/>
          </p:nvSpPr>
          <p:spPr>
            <a:xfrm>
              <a:off x="762000" y="152400"/>
              <a:ext cx="1143000" cy="3048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1</a:t>
              </a:r>
              <a:endParaRPr lang="en-US" b="1" dirty="0">
                <a:solidFill>
                  <a:schemeClr val="bg1"/>
                </a:solidFill>
              </a:endParaRPr>
            </a:p>
          </p:txBody>
        </p:sp>
        <p:sp>
          <p:nvSpPr>
            <p:cNvPr id="68" name="Rectangle 67"/>
            <p:cNvSpPr/>
            <p:nvPr/>
          </p:nvSpPr>
          <p:spPr>
            <a:xfrm>
              <a:off x="1905000" y="152400"/>
              <a:ext cx="914400" cy="3048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2</a:t>
              </a:r>
              <a:endParaRPr lang="en-US" b="1" dirty="0">
                <a:solidFill>
                  <a:schemeClr val="bg1"/>
                </a:solidFill>
              </a:endParaRPr>
            </a:p>
          </p:txBody>
        </p:sp>
        <p:sp>
          <p:nvSpPr>
            <p:cNvPr id="69" name="Rectangle 68"/>
            <p:cNvSpPr/>
            <p:nvPr/>
          </p:nvSpPr>
          <p:spPr>
            <a:xfrm>
              <a:off x="2819400" y="152400"/>
              <a:ext cx="1143000" cy="304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3</a:t>
              </a:r>
              <a:endParaRPr lang="en-US" b="1" dirty="0">
                <a:solidFill>
                  <a:schemeClr val="bg1"/>
                </a:solidFill>
              </a:endParaRPr>
            </a:p>
          </p:txBody>
        </p:sp>
        <p:sp>
          <p:nvSpPr>
            <p:cNvPr id="70" name="Rectangle 69"/>
            <p:cNvSpPr/>
            <p:nvPr/>
          </p:nvSpPr>
          <p:spPr>
            <a:xfrm>
              <a:off x="5105400" y="152400"/>
              <a:ext cx="762000" cy="3048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1</a:t>
              </a:r>
              <a:endParaRPr lang="en-US" b="1" dirty="0">
                <a:solidFill>
                  <a:schemeClr val="bg1"/>
                </a:solidFill>
              </a:endParaRPr>
            </a:p>
          </p:txBody>
        </p:sp>
        <p:sp>
          <p:nvSpPr>
            <p:cNvPr id="71" name="Rectangle 70"/>
            <p:cNvSpPr/>
            <p:nvPr/>
          </p:nvSpPr>
          <p:spPr>
            <a:xfrm>
              <a:off x="5867400" y="152400"/>
              <a:ext cx="914400" cy="304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3</a:t>
              </a:r>
              <a:endParaRPr lang="en-US" b="1" dirty="0">
                <a:solidFill>
                  <a:schemeClr val="bg1"/>
                </a:solidFill>
              </a:endParaRPr>
            </a:p>
          </p:txBody>
        </p:sp>
      </p:grpSp>
      <p:sp>
        <p:nvSpPr>
          <p:cNvPr id="73" name="Text Box 15"/>
          <p:cNvSpPr txBox="1">
            <a:spLocks noChangeArrowheads="1"/>
          </p:cNvSpPr>
          <p:nvPr/>
        </p:nvSpPr>
        <p:spPr bwMode="auto">
          <a:xfrm>
            <a:off x="6096000" y="5334000"/>
            <a:ext cx="367408" cy="307777"/>
          </a:xfrm>
          <a:prstGeom prst="rect">
            <a:avLst/>
          </a:prstGeom>
          <a:noFill/>
          <a:ln w="9525">
            <a:noFill/>
            <a:miter lim="800000"/>
            <a:headEnd/>
            <a:tailEnd/>
          </a:ln>
          <a:effectLst/>
        </p:spPr>
        <p:txBody>
          <a:bodyPr wrap="none">
            <a:spAutoFit/>
          </a:bodyPr>
          <a:lstStyle/>
          <a:p>
            <a:r>
              <a:rPr lang="en-US" sz="1400" b="1" dirty="0"/>
              <a:t>22</a:t>
            </a:r>
          </a:p>
        </p:txBody>
      </p:sp>
      <p:sp>
        <p:nvSpPr>
          <p:cNvPr id="7" name="Slide Number Placeholder 6">
            <a:extLst>
              <a:ext uri="{FF2B5EF4-FFF2-40B4-BE49-F238E27FC236}">
                <a16:creationId xmlns:a16="http://schemas.microsoft.com/office/drawing/2014/main" id="{4F795ED7-50AA-9797-67F1-14A0B2D1F277}"/>
              </a:ext>
            </a:extLst>
          </p:cNvPr>
          <p:cNvSpPr>
            <a:spLocks noGrp="1"/>
          </p:cNvSpPr>
          <p:nvPr>
            <p:ph type="sldNum" sz="quarter" idx="12"/>
          </p:nvPr>
        </p:nvSpPr>
        <p:spPr/>
        <p:txBody>
          <a:bodyPr/>
          <a:lstStyle/>
          <a:p>
            <a:r>
              <a:rPr lang="en-US"/>
              <a:t>CS4500/5500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P spid="39" grpId="0"/>
      <p:bldP spid="45" grpId="0"/>
      <p:bldP spid="40" grpId="0"/>
      <p:bldP spid="48" grpId="0"/>
      <p:bldP spid="7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4B06D-82C0-5F39-5325-E8C7C0BF0F39}"/>
              </a:ext>
            </a:extLst>
          </p:cNvPr>
          <p:cNvSpPr>
            <a:spLocks noGrp="1"/>
          </p:cNvSpPr>
          <p:nvPr>
            <p:ph type="title"/>
          </p:nvPr>
        </p:nvSpPr>
        <p:spPr/>
        <p:txBody>
          <a:bodyPr/>
          <a:lstStyle/>
          <a:p>
            <a:r>
              <a:rPr lang="en-US" dirty="0"/>
              <a:t>Turnaround and Waiting Times for Round Robin</a:t>
            </a:r>
          </a:p>
        </p:txBody>
      </p:sp>
      <p:graphicFrame>
        <p:nvGraphicFramePr>
          <p:cNvPr id="10" name="Table 10">
            <a:extLst>
              <a:ext uri="{FF2B5EF4-FFF2-40B4-BE49-F238E27FC236}">
                <a16:creationId xmlns:a16="http://schemas.microsoft.com/office/drawing/2014/main" id="{AB82085F-5790-8E67-BD8C-3805CEFF10F8}"/>
              </a:ext>
            </a:extLst>
          </p:cNvPr>
          <p:cNvGraphicFramePr>
            <a:graphicFrameLocks noGrp="1"/>
          </p:cNvGraphicFramePr>
          <p:nvPr>
            <p:ph idx="1"/>
            <p:extLst>
              <p:ext uri="{D42A27DB-BD31-4B8C-83A1-F6EECF244321}">
                <p14:modId xmlns:p14="http://schemas.microsoft.com/office/powerpoint/2010/main" val="2728877152"/>
              </p:ext>
            </p:extLst>
          </p:nvPr>
        </p:nvGraphicFramePr>
        <p:xfrm>
          <a:off x="3733800" y="2209800"/>
          <a:ext cx="5113338" cy="1828800"/>
        </p:xfrm>
        <a:graphic>
          <a:graphicData uri="http://schemas.openxmlformats.org/drawingml/2006/table">
            <a:tbl>
              <a:tblPr firstRow="1" bandRow="1">
                <a:tableStyleId>{93296810-A885-4BE3-A3E7-6D5BEEA58F35}</a:tableStyleId>
              </a:tblPr>
              <a:tblGrid>
                <a:gridCol w="2556669">
                  <a:extLst>
                    <a:ext uri="{9D8B030D-6E8A-4147-A177-3AD203B41FA5}">
                      <a16:colId xmlns:a16="http://schemas.microsoft.com/office/drawing/2014/main" val="3523015025"/>
                    </a:ext>
                  </a:extLst>
                </a:gridCol>
                <a:gridCol w="2556669">
                  <a:extLst>
                    <a:ext uri="{9D8B030D-6E8A-4147-A177-3AD203B41FA5}">
                      <a16:colId xmlns:a16="http://schemas.microsoft.com/office/drawing/2014/main" val="2062085420"/>
                    </a:ext>
                  </a:extLst>
                </a:gridCol>
              </a:tblGrid>
              <a:tr h="381000">
                <a:tc>
                  <a:txBody>
                    <a:bodyPr/>
                    <a:lstStyle/>
                    <a:p>
                      <a:r>
                        <a:rPr lang="en-US" sz="2400" b="1" dirty="0">
                          <a:solidFill>
                            <a:schemeClr val="tx2"/>
                          </a:solidFill>
                        </a:rPr>
                        <a:t>Process 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solidFill>
                            <a:schemeClr val="tx2"/>
                          </a:solidFill>
                        </a:rPr>
                        <a:t>Burst Time in </a:t>
                      </a:r>
                      <a:r>
                        <a:rPr lang="en-US" sz="2400" b="1" dirty="0" err="1">
                          <a:solidFill>
                            <a:schemeClr val="tx2"/>
                          </a:solidFill>
                        </a:rPr>
                        <a:t>ms</a:t>
                      </a:r>
                      <a:endParaRPr lang="en-US" sz="2400" b="1" dirty="0">
                        <a:solidFill>
                          <a:schemeClr val="tx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1317620"/>
                  </a:ext>
                </a:extLst>
              </a:tr>
              <a:tr h="381000">
                <a:tc>
                  <a:txBody>
                    <a:bodyPr/>
                    <a:lstStyle/>
                    <a:p>
                      <a:r>
                        <a:rPr lang="en-US" sz="2400" b="1" dirty="0">
                          <a:solidFill>
                            <a:schemeClr val="tx2"/>
                          </a:solidFill>
                        </a:rPr>
                        <a:t>P1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solidFill>
                            <a:schemeClr val="tx2"/>
                          </a:solidFill>
                        </a:rPr>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7548884"/>
                  </a:ext>
                </a:extLst>
              </a:tr>
              <a:tr h="381000">
                <a:tc>
                  <a:txBody>
                    <a:bodyPr/>
                    <a:lstStyle/>
                    <a:p>
                      <a:r>
                        <a:rPr lang="en-US" sz="2400" b="1" dirty="0">
                          <a:solidFill>
                            <a:schemeClr val="tx2"/>
                          </a:solidFill>
                        </a:rPr>
                        <a:t>P2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solidFill>
                            <a:schemeClr val="tx2"/>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4381784"/>
                  </a:ext>
                </a:extLst>
              </a:tr>
              <a:tr h="381000">
                <a:tc>
                  <a:txBody>
                    <a:bodyPr/>
                    <a:lstStyle/>
                    <a:p>
                      <a:r>
                        <a:rPr lang="en-US" sz="2400" b="1" dirty="0">
                          <a:solidFill>
                            <a:schemeClr val="tx2"/>
                          </a:solidFill>
                        </a:rPr>
                        <a:t>P3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solidFill>
                            <a:schemeClr val="tx2"/>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5558047"/>
                  </a:ext>
                </a:extLst>
              </a:tr>
            </a:tbl>
          </a:graphicData>
        </a:graphic>
      </p:graphicFrame>
      <p:sp>
        <p:nvSpPr>
          <p:cNvPr id="11" name="TextBox 10">
            <a:extLst>
              <a:ext uri="{FF2B5EF4-FFF2-40B4-BE49-F238E27FC236}">
                <a16:creationId xmlns:a16="http://schemas.microsoft.com/office/drawing/2014/main" id="{967AC888-C53D-D64F-D62C-CC92130BD63D}"/>
              </a:ext>
            </a:extLst>
          </p:cNvPr>
          <p:cNvSpPr txBox="1"/>
          <p:nvPr/>
        </p:nvSpPr>
        <p:spPr>
          <a:xfrm>
            <a:off x="1329516" y="1804341"/>
            <a:ext cx="1989753" cy="2246769"/>
          </a:xfrm>
          <a:prstGeom prst="rect">
            <a:avLst/>
          </a:prstGeom>
          <a:noFill/>
        </p:spPr>
        <p:txBody>
          <a:bodyPr wrap="square" rtlCol="0">
            <a:spAutoFit/>
          </a:bodyPr>
          <a:lstStyle/>
          <a:p>
            <a:r>
              <a:rPr lang="en-US" sz="2000" dirty="0"/>
              <a:t>All three processes arrive at the CPU scheduler at time 0. The time quantum is assigned as 4 </a:t>
            </a:r>
            <a:r>
              <a:rPr lang="en-US" sz="2000" dirty="0" err="1"/>
              <a:t>ms</a:t>
            </a:r>
            <a:endParaRPr lang="en-US" sz="2000" dirty="0"/>
          </a:p>
        </p:txBody>
      </p:sp>
      <p:grpSp>
        <p:nvGrpSpPr>
          <p:cNvPr id="42" name="Group 41">
            <a:extLst>
              <a:ext uri="{FF2B5EF4-FFF2-40B4-BE49-F238E27FC236}">
                <a16:creationId xmlns:a16="http://schemas.microsoft.com/office/drawing/2014/main" id="{D9D856D8-6010-987C-5A19-47CA771A647A}"/>
              </a:ext>
            </a:extLst>
          </p:cNvPr>
          <p:cNvGrpSpPr/>
          <p:nvPr/>
        </p:nvGrpSpPr>
        <p:grpSpPr>
          <a:xfrm>
            <a:off x="762000" y="4622610"/>
            <a:ext cx="6781797" cy="1473053"/>
            <a:chOff x="762000" y="4622610"/>
            <a:chExt cx="6781797" cy="1473053"/>
          </a:xfrm>
        </p:grpSpPr>
        <p:sp>
          <p:nvSpPr>
            <p:cNvPr id="12" name="Rectangle 11">
              <a:extLst>
                <a:ext uri="{FF2B5EF4-FFF2-40B4-BE49-F238E27FC236}">
                  <a16:creationId xmlns:a16="http://schemas.microsoft.com/office/drawing/2014/main" id="{15971A47-6027-F344-90D0-040ED3F25A78}"/>
                </a:ext>
              </a:extLst>
            </p:cNvPr>
            <p:cNvSpPr/>
            <p:nvPr/>
          </p:nvSpPr>
          <p:spPr>
            <a:xfrm>
              <a:off x="1143000" y="5029200"/>
              <a:ext cx="5867400" cy="1066463"/>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D7C4A076-6AE0-D8FB-0BED-321C31060E4C}"/>
                </a:ext>
              </a:extLst>
            </p:cNvPr>
            <p:cNvCxnSpPr/>
            <p:nvPr/>
          </p:nvCxnSpPr>
          <p:spPr>
            <a:xfrm>
              <a:off x="1828800" y="5029200"/>
              <a:ext cx="0" cy="1053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040781D-2667-A17E-ED25-0466915C1605}"/>
                </a:ext>
              </a:extLst>
            </p:cNvPr>
            <p:cNvCxnSpPr/>
            <p:nvPr/>
          </p:nvCxnSpPr>
          <p:spPr>
            <a:xfrm>
              <a:off x="3200400" y="5041710"/>
              <a:ext cx="0" cy="1053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E5DB42E-C837-2837-AB3D-3BA4DDA15386}"/>
                </a:ext>
              </a:extLst>
            </p:cNvPr>
            <p:cNvCxnSpPr/>
            <p:nvPr/>
          </p:nvCxnSpPr>
          <p:spPr>
            <a:xfrm>
              <a:off x="2514600" y="5029200"/>
              <a:ext cx="0" cy="1053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CA36B81-AD75-873C-98C2-4A5500E5F1B0}"/>
                </a:ext>
              </a:extLst>
            </p:cNvPr>
            <p:cNvCxnSpPr/>
            <p:nvPr/>
          </p:nvCxnSpPr>
          <p:spPr>
            <a:xfrm>
              <a:off x="4724400" y="5041710"/>
              <a:ext cx="0" cy="1053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8D59EF1-5D28-E4B0-E9E8-16449FEB4154}"/>
                </a:ext>
              </a:extLst>
            </p:cNvPr>
            <p:cNvCxnSpPr/>
            <p:nvPr/>
          </p:nvCxnSpPr>
          <p:spPr>
            <a:xfrm>
              <a:off x="3962400" y="5026924"/>
              <a:ext cx="0" cy="1053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ABDA8B0-BDC3-46A1-F1E2-46842EB357CD}"/>
                </a:ext>
              </a:extLst>
            </p:cNvPr>
            <p:cNvCxnSpPr/>
            <p:nvPr/>
          </p:nvCxnSpPr>
          <p:spPr>
            <a:xfrm>
              <a:off x="6248400" y="5041710"/>
              <a:ext cx="0" cy="1053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9EA30C3-5530-9808-8C8A-6E2DEA0CFA4B}"/>
                </a:ext>
              </a:extLst>
            </p:cNvPr>
            <p:cNvCxnSpPr/>
            <p:nvPr/>
          </p:nvCxnSpPr>
          <p:spPr>
            <a:xfrm>
              <a:off x="5486400" y="5026924"/>
              <a:ext cx="0" cy="1053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B8A6A01-6C74-FDEC-A17B-F5AF07667D8D}"/>
                </a:ext>
              </a:extLst>
            </p:cNvPr>
            <p:cNvSpPr txBox="1"/>
            <p:nvPr/>
          </p:nvSpPr>
          <p:spPr>
            <a:xfrm>
              <a:off x="762000" y="4622610"/>
              <a:ext cx="6781797" cy="381000"/>
            </a:xfrm>
            <a:prstGeom prst="rect">
              <a:avLst/>
            </a:prstGeom>
            <a:noFill/>
          </p:spPr>
          <p:txBody>
            <a:bodyPr wrap="square" rtlCol="0">
              <a:spAutoFit/>
            </a:bodyPr>
            <a:lstStyle/>
            <a:p>
              <a:r>
                <a:rPr lang="en-US" dirty="0"/>
                <a:t>     0	4             8	         11           15             19          23             27            30</a:t>
              </a:r>
            </a:p>
          </p:txBody>
        </p:sp>
        <p:sp>
          <p:nvSpPr>
            <p:cNvPr id="25" name="TextBox 24">
              <a:extLst>
                <a:ext uri="{FF2B5EF4-FFF2-40B4-BE49-F238E27FC236}">
                  <a16:creationId xmlns:a16="http://schemas.microsoft.com/office/drawing/2014/main" id="{16A498E9-19D6-6788-A362-4EFCADE12A36}"/>
                </a:ext>
              </a:extLst>
            </p:cNvPr>
            <p:cNvSpPr txBox="1"/>
            <p:nvPr/>
          </p:nvSpPr>
          <p:spPr>
            <a:xfrm>
              <a:off x="1894561" y="5271531"/>
              <a:ext cx="522900" cy="461665"/>
            </a:xfrm>
            <a:prstGeom prst="rect">
              <a:avLst/>
            </a:prstGeom>
            <a:noFill/>
          </p:spPr>
          <p:txBody>
            <a:bodyPr wrap="none" rtlCol="0">
              <a:spAutoFit/>
            </a:bodyPr>
            <a:lstStyle/>
            <a:p>
              <a:r>
                <a:rPr lang="en-US" sz="2400" b="1" dirty="0"/>
                <a:t>P2</a:t>
              </a:r>
            </a:p>
          </p:txBody>
        </p:sp>
        <p:sp>
          <p:nvSpPr>
            <p:cNvPr id="27" name="TextBox 26">
              <a:extLst>
                <a:ext uri="{FF2B5EF4-FFF2-40B4-BE49-F238E27FC236}">
                  <a16:creationId xmlns:a16="http://schemas.microsoft.com/office/drawing/2014/main" id="{1A70CC43-A588-886D-C36C-D85ED94CC011}"/>
                </a:ext>
              </a:extLst>
            </p:cNvPr>
            <p:cNvSpPr txBox="1"/>
            <p:nvPr/>
          </p:nvSpPr>
          <p:spPr>
            <a:xfrm>
              <a:off x="1241743" y="5260158"/>
              <a:ext cx="521297" cy="461665"/>
            </a:xfrm>
            <a:prstGeom prst="rect">
              <a:avLst/>
            </a:prstGeom>
            <a:noFill/>
          </p:spPr>
          <p:txBody>
            <a:bodyPr wrap="none" rtlCol="0">
              <a:spAutoFit/>
            </a:bodyPr>
            <a:lstStyle/>
            <a:p>
              <a:r>
                <a:rPr lang="en-US" sz="2400" b="1" dirty="0"/>
                <a:t>P1</a:t>
              </a:r>
            </a:p>
          </p:txBody>
        </p:sp>
        <p:sp>
          <p:nvSpPr>
            <p:cNvPr id="29" name="TextBox 28">
              <a:extLst>
                <a:ext uri="{FF2B5EF4-FFF2-40B4-BE49-F238E27FC236}">
                  <a16:creationId xmlns:a16="http://schemas.microsoft.com/office/drawing/2014/main" id="{7574806D-D5D9-EF9B-B73C-3D34B0FA7F62}"/>
                </a:ext>
              </a:extLst>
            </p:cNvPr>
            <p:cNvSpPr txBox="1"/>
            <p:nvPr/>
          </p:nvSpPr>
          <p:spPr>
            <a:xfrm>
              <a:off x="3339881" y="5293182"/>
              <a:ext cx="521297" cy="461665"/>
            </a:xfrm>
            <a:prstGeom prst="rect">
              <a:avLst/>
            </a:prstGeom>
            <a:noFill/>
          </p:spPr>
          <p:txBody>
            <a:bodyPr wrap="none" rtlCol="0">
              <a:spAutoFit/>
            </a:bodyPr>
            <a:lstStyle/>
            <a:p>
              <a:r>
                <a:rPr lang="en-US" sz="2400" b="1" dirty="0"/>
                <a:t>P1</a:t>
              </a:r>
            </a:p>
          </p:txBody>
        </p:sp>
        <p:sp>
          <p:nvSpPr>
            <p:cNvPr id="31" name="TextBox 30">
              <a:extLst>
                <a:ext uri="{FF2B5EF4-FFF2-40B4-BE49-F238E27FC236}">
                  <a16:creationId xmlns:a16="http://schemas.microsoft.com/office/drawing/2014/main" id="{042DB211-36AF-0828-64CC-5EBD6BFD50E8}"/>
                </a:ext>
              </a:extLst>
            </p:cNvPr>
            <p:cNvSpPr txBox="1"/>
            <p:nvPr/>
          </p:nvSpPr>
          <p:spPr>
            <a:xfrm>
              <a:off x="2581963" y="5271531"/>
              <a:ext cx="519694" cy="461665"/>
            </a:xfrm>
            <a:prstGeom prst="rect">
              <a:avLst/>
            </a:prstGeom>
            <a:noFill/>
          </p:spPr>
          <p:txBody>
            <a:bodyPr wrap="none" rtlCol="0">
              <a:spAutoFit/>
            </a:bodyPr>
            <a:lstStyle/>
            <a:p>
              <a:r>
                <a:rPr lang="en-US" sz="2400" b="1" dirty="0"/>
                <a:t>P3</a:t>
              </a:r>
            </a:p>
          </p:txBody>
        </p:sp>
        <p:sp>
          <p:nvSpPr>
            <p:cNvPr id="33" name="TextBox 32">
              <a:extLst>
                <a:ext uri="{FF2B5EF4-FFF2-40B4-BE49-F238E27FC236}">
                  <a16:creationId xmlns:a16="http://schemas.microsoft.com/office/drawing/2014/main" id="{F9769F0E-BE12-2A23-A414-EE53DF1E5704}"/>
                </a:ext>
              </a:extLst>
            </p:cNvPr>
            <p:cNvSpPr txBox="1"/>
            <p:nvPr/>
          </p:nvSpPr>
          <p:spPr>
            <a:xfrm>
              <a:off x="4870703" y="5260156"/>
              <a:ext cx="521297" cy="461665"/>
            </a:xfrm>
            <a:prstGeom prst="rect">
              <a:avLst/>
            </a:prstGeom>
            <a:noFill/>
          </p:spPr>
          <p:txBody>
            <a:bodyPr wrap="none" rtlCol="0">
              <a:spAutoFit/>
            </a:bodyPr>
            <a:lstStyle/>
            <a:p>
              <a:r>
                <a:rPr lang="en-US" sz="2400" b="1" dirty="0"/>
                <a:t>P1</a:t>
              </a:r>
            </a:p>
          </p:txBody>
        </p:sp>
        <p:sp>
          <p:nvSpPr>
            <p:cNvPr id="35" name="TextBox 34">
              <a:extLst>
                <a:ext uri="{FF2B5EF4-FFF2-40B4-BE49-F238E27FC236}">
                  <a16:creationId xmlns:a16="http://schemas.microsoft.com/office/drawing/2014/main" id="{DB33B52E-F6D3-FFE5-C9A8-4E4157E5F5BA}"/>
                </a:ext>
              </a:extLst>
            </p:cNvPr>
            <p:cNvSpPr txBox="1"/>
            <p:nvPr/>
          </p:nvSpPr>
          <p:spPr>
            <a:xfrm>
              <a:off x="4101880" y="5260157"/>
              <a:ext cx="521297" cy="461665"/>
            </a:xfrm>
            <a:prstGeom prst="rect">
              <a:avLst/>
            </a:prstGeom>
            <a:noFill/>
          </p:spPr>
          <p:txBody>
            <a:bodyPr wrap="none" rtlCol="0">
              <a:spAutoFit/>
            </a:bodyPr>
            <a:lstStyle/>
            <a:p>
              <a:r>
                <a:rPr lang="en-US" sz="2400" b="1" dirty="0"/>
                <a:t>P1</a:t>
              </a:r>
            </a:p>
          </p:txBody>
        </p:sp>
        <p:sp>
          <p:nvSpPr>
            <p:cNvPr id="37" name="TextBox 36">
              <a:extLst>
                <a:ext uri="{FF2B5EF4-FFF2-40B4-BE49-F238E27FC236}">
                  <a16:creationId xmlns:a16="http://schemas.microsoft.com/office/drawing/2014/main" id="{2C375194-4363-E4DB-3258-A6ED9D322D69}"/>
                </a:ext>
              </a:extLst>
            </p:cNvPr>
            <p:cNvSpPr txBox="1"/>
            <p:nvPr/>
          </p:nvSpPr>
          <p:spPr>
            <a:xfrm>
              <a:off x="6335973" y="5288295"/>
              <a:ext cx="521297" cy="461665"/>
            </a:xfrm>
            <a:prstGeom prst="rect">
              <a:avLst/>
            </a:prstGeom>
            <a:noFill/>
          </p:spPr>
          <p:txBody>
            <a:bodyPr wrap="none" rtlCol="0">
              <a:spAutoFit/>
            </a:bodyPr>
            <a:lstStyle/>
            <a:p>
              <a:r>
                <a:rPr lang="en-US" sz="2400" b="1" dirty="0"/>
                <a:t>P1</a:t>
              </a:r>
            </a:p>
          </p:txBody>
        </p:sp>
        <p:sp>
          <p:nvSpPr>
            <p:cNvPr id="39" name="TextBox 38">
              <a:extLst>
                <a:ext uri="{FF2B5EF4-FFF2-40B4-BE49-F238E27FC236}">
                  <a16:creationId xmlns:a16="http://schemas.microsoft.com/office/drawing/2014/main" id="{9A935DE2-B900-CE10-3002-2F419674FF9E}"/>
                </a:ext>
              </a:extLst>
            </p:cNvPr>
            <p:cNvSpPr txBox="1"/>
            <p:nvPr/>
          </p:nvSpPr>
          <p:spPr>
            <a:xfrm>
              <a:off x="5606752" y="5288296"/>
              <a:ext cx="521297" cy="461665"/>
            </a:xfrm>
            <a:prstGeom prst="rect">
              <a:avLst/>
            </a:prstGeom>
            <a:noFill/>
          </p:spPr>
          <p:txBody>
            <a:bodyPr wrap="none" rtlCol="0">
              <a:spAutoFit/>
            </a:bodyPr>
            <a:lstStyle/>
            <a:p>
              <a:r>
                <a:rPr lang="en-US" sz="2400" b="1" dirty="0"/>
                <a:t>P1</a:t>
              </a:r>
            </a:p>
          </p:txBody>
        </p:sp>
      </p:grpSp>
      <p:sp>
        <p:nvSpPr>
          <p:cNvPr id="5" name="Slide Number Placeholder 4">
            <a:extLst>
              <a:ext uri="{FF2B5EF4-FFF2-40B4-BE49-F238E27FC236}">
                <a16:creationId xmlns:a16="http://schemas.microsoft.com/office/drawing/2014/main" id="{748837C9-07AE-853A-6C25-ADB28E4CA23F}"/>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41019660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4B06D-82C0-5F39-5325-E8C7C0BF0F39}"/>
              </a:ext>
            </a:extLst>
          </p:cNvPr>
          <p:cNvSpPr>
            <a:spLocks noGrp="1"/>
          </p:cNvSpPr>
          <p:nvPr>
            <p:ph type="title"/>
          </p:nvPr>
        </p:nvSpPr>
        <p:spPr>
          <a:xfrm>
            <a:off x="872066" y="226368"/>
            <a:ext cx="7704667" cy="645952"/>
          </a:xfrm>
        </p:spPr>
        <p:txBody>
          <a:bodyPr>
            <a:normAutofit fontScale="90000"/>
          </a:bodyPr>
          <a:lstStyle/>
          <a:p>
            <a:r>
              <a:rPr lang="en-US" dirty="0"/>
              <a:t>Turnaround and Waiting Times for Round Robin</a:t>
            </a:r>
          </a:p>
        </p:txBody>
      </p:sp>
      <p:graphicFrame>
        <p:nvGraphicFramePr>
          <p:cNvPr id="10" name="Table 10">
            <a:extLst>
              <a:ext uri="{FF2B5EF4-FFF2-40B4-BE49-F238E27FC236}">
                <a16:creationId xmlns:a16="http://schemas.microsoft.com/office/drawing/2014/main" id="{AB82085F-5790-8E67-BD8C-3805CEFF10F8}"/>
              </a:ext>
            </a:extLst>
          </p:cNvPr>
          <p:cNvGraphicFramePr>
            <a:graphicFrameLocks noGrp="1"/>
          </p:cNvGraphicFramePr>
          <p:nvPr>
            <p:ph idx="1"/>
          </p:nvPr>
        </p:nvGraphicFramePr>
        <p:xfrm>
          <a:off x="16729" y="1631871"/>
          <a:ext cx="3077410" cy="2560320"/>
        </p:xfrm>
        <a:graphic>
          <a:graphicData uri="http://schemas.openxmlformats.org/drawingml/2006/table">
            <a:tbl>
              <a:tblPr firstRow="1" bandRow="1">
                <a:tableStyleId>{93296810-A885-4BE3-A3E7-6D5BEEA58F35}</a:tableStyleId>
              </a:tblPr>
              <a:tblGrid>
                <a:gridCol w="1538705">
                  <a:extLst>
                    <a:ext uri="{9D8B030D-6E8A-4147-A177-3AD203B41FA5}">
                      <a16:colId xmlns:a16="http://schemas.microsoft.com/office/drawing/2014/main" val="3523015025"/>
                    </a:ext>
                  </a:extLst>
                </a:gridCol>
                <a:gridCol w="1538705">
                  <a:extLst>
                    <a:ext uri="{9D8B030D-6E8A-4147-A177-3AD203B41FA5}">
                      <a16:colId xmlns:a16="http://schemas.microsoft.com/office/drawing/2014/main" val="2062085420"/>
                    </a:ext>
                  </a:extLst>
                </a:gridCol>
              </a:tblGrid>
              <a:tr h="0">
                <a:tc>
                  <a:txBody>
                    <a:bodyPr/>
                    <a:lstStyle/>
                    <a:p>
                      <a:r>
                        <a:rPr lang="en-US" sz="2400" b="1" dirty="0">
                          <a:solidFill>
                            <a:schemeClr val="tx2"/>
                          </a:solidFill>
                        </a:rPr>
                        <a:t>Process 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solidFill>
                            <a:schemeClr val="tx2"/>
                          </a:solidFill>
                        </a:rPr>
                        <a:t>Burst Time in </a:t>
                      </a:r>
                      <a:r>
                        <a:rPr lang="en-US" sz="2400" b="1" dirty="0" err="1">
                          <a:solidFill>
                            <a:schemeClr val="tx2"/>
                          </a:solidFill>
                        </a:rPr>
                        <a:t>ms</a:t>
                      </a:r>
                      <a:endParaRPr lang="en-US" sz="2400" b="1" dirty="0">
                        <a:solidFill>
                          <a:schemeClr val="tx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1317620"/>
                  </a:ext>
                </a:extLst>
              </a:tr>
              <a:tr h="341781">
                <a:tc>
                  <a:txBody>
                    <a:bodyPr/>
                    <a:lstStyle/>
                    <a:p>
                      <a:r>
                        <a:rPr lang="en-US" sz="2400" b="1" dirty="0">
                          <a:solidFill>
                            <a:schemeClr val="tx2"/>
                          </a:solidFill>
                        </a:rPr>
                        <a:t>P1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solidFill>
                            <a:schemeClr val="tx2"/>
                          </a:solidFill>
                        </a:rPr>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7548884"/>
                  </a:ext>
                </a:extLst>
              </a:tr>
              <a:tr h="341781">
                <a:tc>
                  <a:txBody>
                    <a:bodyPr/>
                    <a:lstStyle/>
                    <a:p>
                      <a:r>
                        <a:rPr lang="en-US" sz="2400" b="1" dirty="0">
                          <a:solidFill>
                            <a:schemeClr val="tx2"/>
                          </a:solidFill>
                        </a:rPr>
                        <a:t>P2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solidFill>
                            <a:schemeClr val="tx2"/>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4381784"/>
                  </a:ext>
                </a:extLst>
              </a:tr>
              <a:tr h="341781">
                <a:tc>
                  <a:txBody>
                    <a:bodyPr/>
                    <a:lstStyle/>
                    <a:p>
                      <a:r>
                        <a:rPr lang="en-US" sz="2400" b="1" dirty="0">
                          <a:solidFill>
                            <a:schemeClr val="tx2"/>
                          </a:solidFill>
                        </a:rPr>
                        <a:t>P3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solidFill>
                            <a:schemeClr val="tx2"/>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5558047"/>
                  </a:ext>
                </a:extLst>
              </a:tr>
            </a:tbl>
          </a:graphicData>
        </a:graphic>
      </p:graphicFrame>
      <p:grpSp>
        <p:nvGrpSpPr>
          <p:cNvPr id="42" name="Group 41">
            <a:extLst>
              <a:ext uri="{FF2B5EF4-FFF2-40B4-BE49-F238E27FC236}">
                <a16:creationId xmlns:a16="http://schemas.microsoft.com/office/drawing/2014/main" id="{D9D856D8-6010-987C-5A19-47CA771A647A}"/>
              </a:ext>
            </a:extLst>
          </p:cNvPr>
          <p:cNvGrpSpPr/>
          <p:nvPr/>
        </p:nvGrpSpPr>
        <p:grpSpPr>
          <a:xfrm>
            <a:off x="2836739" y="1576476"/>
            <a:ext cx="6781800" cy="1122001"/>
            <a:chOff x="762000" y="4622611"/>
            <a:chExt cx="6781797" cy="1473052"/>
          </a:xfrm>
        </p:grpSpPr>
        <p:sp>
          <p:nvSpPr>
            <p:cNvPr id="12" name="Rectangle 11">
              <a:extLst>
                <a:ext uri="{FF2B5EF4-FFF2-40B4-BE49-F238E27FC236}">
                  <a16:creationId xmlns:a16="http://schemas.microsoft.com/office/drawing/2014/main" id="{15971A47-6027-F344-90D0-040ED3F25A78}"/>
                </a:ext>
              </a:extLst>
            </p:cNvPr>
            <p:cNvSpPr/>
            <p:nvPr/>
          </p:nvSpPr>
          <p:spPr>
            <a:xfrm>
              <a:off x="1143000" y="5029200"/>
              <a:ext cx="5867400" cy="1066463"/>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D7C4A076-6AE0-D8FB-0BED-321C31060E4C}"/>
                </a:ext>
              </a:extLst>
            </p:cNvPr>
            <p:cNvCxnSpPr/>
            <p:nvPr/>
          </p:nvCxnSpPr>
          <p:spPr>
            <a:xfrm>
              <a:off x="1828800" y="5029200"/>
              <a:ext cx="0" cy="1053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040781D-2667-A17E-ED25-0466915C1605}"/>
                </a:ext>
              </a:extLst>
            </p:cNvPr>
            <p:cNvCxnSpPr/>
            <p:nvPr/>
          </p:nvCxnSpPr>
          <p:spPr>
            <a:xfrm>
              <a:off x="3200400" y="5041710"/>
              <a:ext cx="0" cy="1053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E5DB42E-C837-2837-AB3D-3BA4DDA15386}"/>
                </a:ext>
              </a:extLst>
            </p:cNvPr>
            <p:cNvCxnSpPr/>
            <p:nvPr/>
          </p:nvCxnSpPr>
          <p:spPr>
            <a:xfrm>
              <a:off x="2514600" y="5029200"/>
              <a:ext cx="0" cy="1053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CA36B81-AD75-873C-98C2-4A5500E5F1B0}"/>
                </a:ext>
              </a:extLst>
            </p:cNvPr>
            <p:cNvCxnSpPr/>
            <p:nvPr/>
          </p:nvCxnSpPr>
          <p:spPr>
            <a:xfrm>
              <a:off x="4724400" y="5041710"/>
              <a:ext cx="0" cy="1053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8D59EF1-5D28-E4B0-E9E8-16449FEB4154}"/>
                </a:ext>
              </a:extLst>
            </p:cNvPr>
            <p:cNvCxnSpPr/>
            <p:nvPr/>
          </p:nvCxnSpPr>
          <p:spPr>
            <a:xfrm>
              <a:off x="3962400" y="5026924"/>
              <a:ext cx="0" cy="1053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ABDA8B0-BDC3-46A1-F1E2-46842EB357CD}"/>
                </a:ext>
              </a:extLst>
            </p:cNvPr>
            <p:cNvCxnSpPr/>
            <p:nvPr/>
          </p:nvCxnSpPr>
          <p:spPr>
            <a:xfrm>
              <a:off x="6248400" y="5041710"/>
              <a:ext cx="0" cy="1053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9EA30C3-5530-9808-8C8A-6E2DEA0CFA4B}"/>
                </a:ext>
              </a:extLst>
            </p:cNvPr>
            <p:cNvCxnSpPr/>
            <p:nvPr/>
          </p:nvCxnSpPr>
          <p:spPr>
            <a:xfrm>
              <a:off x="5486400" y="5026924"/>
              <a:ext cx="0" cy="1053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B8A6A01-6C74-FDEC-A17B-F5AF07667D8D}"/>
                </a:ext>
              </a:extLst>
            </p:cNvPr>
            <p:cNvSpPr txBox="1"/>
            <p:nvPr/>
          </p:nvSpPr>
          <p:spPr>
            <a:xfrm>
              <a:off x="762000" y="4622611"/>
              <a:ext cx="6781797" cy="381000"/>
            </a:xfrm>
            <a:prstGeom prst="rect">
              <a:avLst/>
            </a:prstGeom>
            <a:noFill/>
          </p:spPr>
          <p:txBody>
            <a:bodyPr wrap="square" rtlCol="0">
              <a:spAutoFit/>
            </a:bodyPr>
            <a:lstStyle/>
            <a:p>
              <a:r>
                <a:rPr lang="en-US" dirty="0"/>
                <a:t>     0	4             8	         11           15             19          23             27            30</a:t>
              </a:r>
            </a:p>
          </p:txBody>
        </p:sp>
        <p:sp>
          <p:nvSpPr>
            <p:cNvPr id="25" name="TextBox 24">
              <a:extLst>
                <a:ext uri="{FF2B5EF4-FFF2-40B4-BE49-F238E27FC236}">
                  <a16:creationId xmlns:a16="http://schemas.microsoft.com/office/drawing/2014/main" id="{16A498E9-19D6-6788-A362-4EFCADE12A36}"/>
                </a:ext>
              </a:extLst>
            </p:cNvPr>
            <p:cNvSpPr txBox="1"/>
            <p:nvPr/>
          </p:nvSpPr>
          <p:spPr>
            <a:xfrm>
              <a:off x="1894561" y="5271531"/>
              <a:ext cx="522900" cy="461665"/>
            </a:xfrm>
            <a:prstGeom prst="rect">
              <a:avLst/>
            </a:prstGeom>
            <a:noFill/>
          </p:spPr>
          <p:txBody>
            <a:bodyPr wrap="none" rtlCol="0">
              <a:spAutoFit/>
            </a:bodyPr>
            <a:lstStyle/>
            <a:p>
              <a:r>
                <a:rPr lang="en-US" sz="2400" b="1" dirty="0"/>
                <a:t>P2</a:t>
              </a:r>
            </a:p>
          </p:txBody>
        </p:sp>
        <p:sp>
          <p:nvSpPr>
            <p:cNvPr id="27" name="TextBox 26">
              <a:extLst>
                <a:ext uri="{FF2B5EF4-FFF2-40B4-BE49-F238E27FC236}">
                  <a16:creationId xmlns:a16="http://schemas.microsoft.com/office/drawing/2014/main" id="{1A70CC43-A588-886D-C36C-D85ED94CC011}"/>
                </a:ext>
              </a:extLst>
            </p:cNvPr>
            <p:cNvSpPr txBox="1"/>
            <p:nvPr/>
          </p:nvSpPr>
          <p:spPr>
            <a:xfrm>
              <a:off x="1241743" y="5260158"/>
              <a:ext cx="521297" cy="461665"/>
            </a:xfrm>
            <a:prstGeom prst="rect">
              <a:avLst/>
            </a:prstGeom>
            <a:noFill/>
          </p:spPr>
          <p:txBody>
            <a:bodyPr wrap="none" rtlCol="0">
              <a:spAutoFit/>
            </a:bodyPr>
            <a:lstStyle/>
            <a:p>
              <a:r>
                <a:rPr lang="en-US" sz="2400" b="1" dirty="0"/>
                <a:t>P1</a:t>
              </a:r>
            </a:p>
          </p:txBody>
        </p:sp>
        <p:sp>
          <p:nvSpPr>
            <p:cNvPr id="29" name="TextBox 28">
              <a:extLst>
                <a:ext uri="{FF2B5EF4-FFF2-40B4-BE49-F238E27FC236}">
                  <a16:creationId xmlns:a16="http://schemas.microsoft.com/office/drawing/2014/main" id="{7574806D-D5D9-EF9B-B73C-3D34B0FA7F62}"/>
                </a:ext>
              </a:extLst>
            </p:cNvPr>
            <p:cNvSpPr txBox="1"/>
            <p:nvPr/>
          </p:nvSpPr>
          <p:spPr>
            <a:xfrm>
              <a:off x="3339881" y="5293182"/>
              <a:ext cx="521297" cy="461665"/>
            </a:xfrm>
            <a:prstGeom prst="rect">
              <a:avLst/>
            </a:prstGeom>
            <a:noFill/>
          </p:spPr>
          <p:txBody>
            <a:bodyPr wrap="none" rtlCol="0">
              <a:spAutoFit/>
            </a:bodyPr>
            <a:lstStyle/>
            <a:p>
              <a:r>
                <a:rPr lang="en-US" sz="2400" b="1" dirty="0"/>
                <a:t>P1</a:t>
              </a:r>
            </a:p>
          </p:txBody>
        </p:sp>
        <p:sp>
          <p:nvSpPr>
            <p:cNvPr id="31" name="TextBox 30">
              <a:extLst>
                <a:ext uri="{FF2B5EF4-FFF2-40B4-BE49-F238E27FC236}">
                  <a16:creationId xmlns:a16="http://schemas.microsoft.com/office/drawing/2014/main" id="{042DB211-36AF-0828-64CC-5EBD6BFD50E8}"/>
                </a:ext>
              </a:extLst>
            </p:cNvPr>
            <p:cNvSpPr txBox="1"/>
            <p:nvPr/>
          </p:nvSpPr>
          <p:spPr>
            <a:xfrm>
              <a:off x="2581963" y="5271531"/>
              <a:ext cx="519694" cy="461665"/>
            </a:xfrm>
            <a:prstGeom prst="rect">
              <a:avLst/>
            </a:prstGeom>
            <a:noFill/>
          </p:spPr>
          <p:txBody>
            <a:bodyPr wrap="none" rtlCol="0">
              <a:spAutoFit/>
            </a:bodyPr>
            <a:lstStyle/>
            <a:p>
              <a:r>
                <a:rPr lang="en-US" sz="2400" b="1" dirty="0"/>
                <a:t>P3</a:t>
              </a:r>
            </a:p>
          </p:txBody>
        </p:sp>
        <p:sp>
          <p:nvSpPr>
            <p:cNvPr id="33" name="TextBox 32">
              <a:extLst>
                <a:ext uri="{FF2B5EF4-FFF2-40B4-BE49-F238E27FC236}">
                  <a16:creationId xmlns:a16="http://schemas.microsoft.com/office/drawing/2014/main" id="{F9769F0E-BE12-2A23-A414-EE53DF1E5704}"/>
                </a:ext>
              </a:extLst>
            </p:cNvPr>
            <p:cNvSpPr txBox="1"/>
            <p:nvPr/>
          </p:nvSpPr>
          <p:spPr>
            <a:xfrm>
              <a:off x="4870703" y="5260156"/>
              <a:ext cx="521297" cy="461665"/>
            </a:xfrm>
            <a:prstGeom prst="rect">
              <a:avLst/>
            </a:prstGeom>
            <a:noFill/>
          </p:spPr>
          <p:txBody>
            <a:bodyPr wrap="none" rtlCol="0">
              <a:spAutoFit/>
            </a:bodyPr>
            <a:lstStyle/>
            <a:p>
              <a:r>
                <a:rPr lang="en-US" sz="2400" b="1" dirty="0"/>
                <a:t>P1</a:t>
              </a:r>
            </a:p>
          </p:txBody>
        </p:sp>
        <p:sp>
          <p:nvSpPr>
            <p:cNvPr id="35" name="TextBox 34">
              <a:extLst>
                <a:ext uri="{FF2B5EF4-FFF2-40B4-BE49-F238E27FC236}">
                  <a16:creationId xmlns:a16="http://schemas.microsoft.com/office/drawing/2014/main" id="{DB33B52E-F6D3-FFE5-C9A8-4E4157E5F5BA}"/>
                </a:ext>
              </a:extLst>
            </p:cNvPr>
            <p:cNvSpPr txBox="1"/>
            <p:nvPr/>
          </p:nvSpPr>
          <p:spPr>
            <a:xfrm>
              <a:off x="4101880" y="5260157"/>
              <a:ext cx="521297" cy="461665"/>
            </a:xfrm>
            <a:prstGeom prst="rect">
              <a:avLst/>
            </a:prstGeom>
            <a:noFill/>
          </p:spPr>
          <p:txBody>
            <a:bodyPr wrap="none" rtlCol="0">
              <a:spAutoFit/>
            </a:bodyPr>
            <a:lstStyle/>
            <a:p>
              <a:r>
                <a:rPr lang="en-US" sz="2400" b="1" dirty="0"/>
                <a:t>P1</a:t>
              </a:r>
            </a:p>
          </p:txBody>
        </p:sp>
        <p:sp>
          <p:nvSpPr>
            <p:cNvPr id="37" name="TextBox 36">
              <a:extLst>
                <a:ext uri="{FF2B5EF4-FFF2-40B4-BE49-F238E27FC236}">
                  <a16:creationId xmlns:a16="http://schemas.microsoft.com/office/drawing/2014/main" id="{2C375194-4363-E4DB-3258-A6ED9D322D69}"/>
                </a:ext>
              </a:extLst>
            </p:cNvPr>
            <p:cNvSpPr txBox="1"/>
            <p:nvPr/>
          </p:nvSpPr>
          <p:spPr>
            <a:xfrm>
              <a:off x="6335973" y="5288295"/>
              <a:ext cx="521297" cy="461665"/>
            </a:xfrm>
            <a:prstGeom prst="rect">
              <a:avLst/>
            </a:prstGeom>
            <a:noFill/>
          </p:spPr>
          <p:txBody>
            <a:bodyPr wrap="none" rtlCol="0">
              <a:spAutoFit/>
            </a:bodyPr>
            <a:lstStyle/>
            <a:p>
              <a:r>
                <a:rPr lang="en-US" sz="2400" b="1" dirty="0"/>
                <a:t>P1</a:t>
              </a:r>
            </a:p>
          </p:txBody>
        </p:sp>
        <p:sp>
          <p:nvSpPr>
            <p:cNvPr id="39" name="TextBox 38">
              <a:extLst>
                <a:ext uri="{FF2B5EF4-FFF2-40B4-BE49-F238E27FC236}">
                  <a16:creationId xmlns:a16="http://schemas.microsoft.com/office/drawing/2014/main" id="{9A935DE2-B900-CE10-3002-2F419674FF9E}"/>
                </a:ext>
              </a:extLst>
            </p:cNvPr>
            <p:cNvSpPr txBox="1"/>
            <p:nvPr/>
          </p:nvSpPr>
          <p:spPr>
            <a:xfrm>
              <a:off x="5606752" y="5288296"/>
              <a:ext cx="521297" cy="461665"/>
            </a:xfrm>
            <a:prstGeom prst="rect">
              <a:avLst/>
            </a:prstGeom>
            <a:noFill/>
          </p:spPr>
          <p:txBody>
            <a:bodyPr wrap="none" rtlCol="0">
              <a:spAutoFit/>
            </a:bodyPr>
            <a:lstStyle/>
            <a:p>
              <a:r>
                <a:rPr lang="en-US" sz="2400" b="1" dirty="0"/>
                <a:t>P1</a:t>
              </a:r>
            </a:p>
          </p:txBody>
        </p:sp>
      </p:grpSp>
      <p:graphicFrame>
        <p:nvGraphicFramePr>
          <p:cNvPr id="4" name="Table 4">
            <a:extLst>
              <a:ext uri="{FF2B5EF4-FFF2-40B4-BE49-F238E27FC236}">
                <a16:creationId xmlns:a16="http://schemas.microsoft.com/office/drawing/2014/main" id="{F26B546B-F02C-5A5C-32EC-A4EC9505900F}"/>
              </a:ext>
            </a:extLst>
          </p:cNvPr>
          <p:cNvGraphicFramePr>
            <a:graphicFrameLocks noGrp="1"/>
          </p:cNvGraphicFramePr>
          <p:nvPr>
            <p:extLst>
              <p:ext uri="{D42A27DB-BD31-4B8C-83A1-F6EECF244321}">
                <p14:modId xmlns:p14="http://schemas.microsoft.com/office/powerpoint/2010/main" val="829955300"/>
              </p:ext>
            </p:extLst>
          </p:nvPr>
        </p:nvGraphicFramePr>
        <p:xfrm>
          <a:off x="2548346" y="4757078"/>
          <a:ext cx="6096000" cy="17526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076786536"/>
                    </a:ext>
                  </a:extLst>
                </a:gridCol>
                <a:gridCol w="1524000">
                  <a:extLst>
                    <a:ext uri="{9D8B030D-6E8A-4147-A177-3AD203B41FA5}">
                      <a16:colId xmlns:a16="http://schemas.microsoft.com/office/drawing/2014/main" val="1246946976"/>
                    </a:ext>
                  </a:extLst>
                </a:gridCol>
                <a:gridCol w="1524000">
                  <a:extLst>
                    <a:ext uri="{9D8B030D-6E8A-4147-A177-3AD203B41FA5}">
                      <a16:colId xmlns:a16="http://schemas.microsoft.com/office/drawing/2014/main" val="1010126480"/>
                    </a:ext>
                  </a:extLst>
                </a:gridCol>
                <a:gridCol w="1524000">
                  <a:extLst>
                    <a:ext uri="{9D8B030D-6E8A-4147-A177-3AD203B41FA5}">
                      <a16:colId xmlns:a16="http://schemas.microsoft.com/office/drawing/2014/main" val="1577324795"/>
                    </a:ext>
                  </a:extLst>
                </a:gridCol>
              </a:tblGrid>
              <a:tr h="370840">
                <a:tc>
                  <a:txBody>
                    <a:bodyPr/>
                    <a:lstStyle/>
                    <a:p>
                      <a:r>
                        <a:rPr lang="en-US" b="1" dirty="0">
                          <a:solidFill>
                            <a:schemeClr val="tx2"/>
                          </a:solidFill>
                        </a:rPr>
                        <a:t>Process ID</a:t>
                      </a:r>
                    </a:p>
                  </a:txBody>
                  <a:tcPr/>
                </a:tc>
                <a:tc>
                  <a:txBody>
                    <a:bodyPr/>
                    <a:lstStyle/>
                    <a:p>
                      <a:r>
                        <a:rPr lang="en-US" b="1" dirty="0">
                          <a:solidFill>
                            <a:schemeClr val="tx2"/>
                          </a:solidFill>
                        </a:rPr>
                        <a:t>Completion Time</a:t>
                      </a:r>
                    </a:p>
                  </a:txBody>
                  <a:tcPr/>
                </a:tc>
                <a:tc>
                  <a:txBody>
                    <a:bodyPr/>
                    <a:lstStyle/>
                    <a:p>
                      <a:r>
                        <a:rPr lang="en-US" b="1" dirty="0">
                          <a:solidFill>
                            <a:schemeClr val="tx2"/>
                          </a:solidFill>
                        </a:rPr>
                        <a:t>Turnaround Time</a:t>
                      </a:r>
                    </a:p>
                  </a:txBody>
                  <a:tcPr/>
                </a:tc>
                <a:tc>
                  <a:txBody>
                    <a:bodyPr/>
                    <a:lstStyle/>
                    <a:p>
                      <a:r>
                        <a:rPr lang="en-US" b="1" dirty="0">
                          <a:solidFill>
                            <a:schemeClr val="tx2"/>
                          </a:solidFill>
                        </a:rPr>
                        <a:t>Waiting Time</a:t>
                      </a:r>
                    </a:p>
                  </a:txBody>
                  <a:tcPr/>
                </a:tc>
                <a:extLst>
                  <a:ext uri="{0D108BD9-81ED-4DB2-BD59-A6C34878D82A}">
                    <a16:rowId xmlns:a16="http://schemas.microsoft.com/office/drawing/2014/main" val="3363868169"/>
                  </a:ext>
                </a:extLst>
              </a:tr>
              <a:tr h="370840">
                <a:tc>
                  <a:txBody>
                    <a:bodyPr/>
                    <a:lstStyle/>
                    <a:p>
                      <a:r>
                        <a:rPr lang="en-US" b="1" dirty="0">
                          <a:solidFill>
                            <a:schemeClr val="tx2"/>
                          </a:solidFill>
                        </a:rPr>
                        <a:t>P1</a:t>
                      </a:r>
                    </a:p>
                  </a:txBody>
                  <a:tcPr/>
                </a:tc>
                <a:tc>
                  <a:txBody>
                    <a:bodyPr/>
                    <a:lstStyle/>
                    <a:p>
                      <a:r>
                        <a:rPr lang="en-US" b="1" dirty="0">
                          <a:solidFill>
                            <a:schemeClr val="tx2"/>
                          </a:solidFill>
                        </a:rPr>
                        <a:t>30</a:t>
                      </a:r>
                    </a:p>
                  </a:txBody>
                  <a:tcPr/>
                </a:tc>
                <a:tc>
                  <a:txBody>
                    <a:bodyPr/>
                    <a:lstStyle/>
                    <a:p>
                      <a:endParaRPr lang="en-US" b="1">
                        <a:solidFill>
                          <a:schemeClr val="tx2"/>
                        </a:solidFill>
                      </a:endParaRPr>
                    </a:p>
                  </a:txBody>
                  <a:tcPr/>
                </a:tc>
                <a:tc>
                  <a:txBody>
                    <a:bodyPr/>
                    <a:lstStyle/>
                    <a:p>
                      <a:endParaRPr lang="en-US" b="1">
                        <a:solidFill>
                          <a:schemeClr val="tx2"/>
                        </a:solidFill>
                      </a:endParaRPr>
                    </a:p>
                  </a:txBody>
                  <a:tcPr/>
                </a:tc>
                <a:extLst>
                  <a:ext uri="{0D108BD9-81ED-4DB2-BD59-A6C34878D82A}">
                    <a16:rowId xmlns:a16="http://schemas.microsoft.com/office/drawing/2014/main" val="1451765662"/>
                  </a:ext>
                </a:extLst>
              </a:tr>
              <a:tr h="370840">
                <a:tc>
                  <a:txBody>
                    <a:bodyPr/>
                    <a:lstStyle/>
                    <a:p>
                      <a:r>
                        <a:rPr lang="en-US" b="1" dirty="0">
                          <a:solidFill>
                            <a:schemeClr val="tx2"/>
                          </a:solidFill>
                        </a:rPr>
                        <a:t>P2</a:t>
                      </a:r>
                    </a:p>
                  </a:txBody>
                  <a:tcPr/>
                </a:tc>
                <a:tc>
                  <a:txBody>
                    <a:bodyPr/>
                    <a:lstStyle/>
                    <a:p>
                      <a:r>
                        <a:rPr lang="en-US" b="1" dirty="0">
                          <a:solidFill>
                            <a:schemeClr val="tx2"/>
                          </a:solidFill>
                        </a:rPr>
                        <a:t>8</a:t>
                      </a:r>
                    </a:p>
                  </a:txBody>
                  <a:tcPr/>
                </a:tc>
                <a:tc>
                  <a:txBody>
                    <a:bodyPr/>
                    <a:lstStyle/>
                    <a:p>
                      <a:endParaRPr lang="en-US" b="1">
                        <a:solidFill>
                          <a:schemeClr val="tx2"/>
                        </a:solidFill>
                      </a:endParaRPr>
                    </a:p>
                  </a:txBody>
                  <a:tcPr/>
                </a:tc>
                <a:tc>
                  <a:txBody>
                    <a:bodyPr/>
                    <a:lstStyle/>
                    <a:p>
                      <a:endParaRPr lang="en-US" b="1">
                        <a:solidFill>
                          <a:schemeClr val="tx2"/>
                        </a:solidFill>
                      </a:endParaRPr>
                    </a:p>
                  </a:txBody>
                  <a:tcPr/>
                </a:tc>
                <a:extLst>
                  <a:ext uri="{0D108BD9-81ED-4DB2-BD59-A6C34878D82A}">
                    <a16:rowId xmlns:a16="http://schemas.microsoft.com/office/drawing/2014/main" val="1607020346"/>
                  </a:ext>
                </a:extLst>
              </a:tr>
              <a:tr h="370840">
                <a:tc>
                  <a:txBody>
                    <a:bodyPr/>
                    <a:lstStyle/>
                    <a:p>
                      <a:r>
                        <a:rPr lang="en-US" b="1" dirty="0">
                          <a:solidFill>
                            <a:schemeClr val="tx2"/>
                          </a:solidFill>
                        </a:rPr>
                        <a:t>P3</a:t>
                      </a:r>
                    </a:p>
                  </a:txBody>
                  <a:tcPr/>
                </a:tc>
                <a:tc>
                  <a:txBody>
                    <a:bodyPr/>
                    <a:lstStyle/>
                    <a:p>
                      <a:r>
                        <a:rPr lang="en-US" b="1" dirty="0">
                          <a:solidFill>
                            <a:schemeClr val="tx2"/>
                          </a:solidFill>
                        </a:rPr>
                        <a:t>11</a:t>
                      </a:r>
                    </a:p>
                  </a:txBody>
                  <a:tcPr/>
                </a:tc>
                <a:tc>
                  <a:txBody>
                    <a:bodyPr/>
                    <a:lstStyle/>
                    <a:p>
                      <a:endParaRPr lang="en-US" b="1">
                        <a:solidFill>
                          <a:schemeClr val="tx2"/>
                        </a:solidFill>
                      </a:endParaRPr>
                    </a:p>
                  </a:txBody>
                  <a:tcPr/>
                </a:tc>
                <a:tc>
                  <a:txBody>
                    <a:bodyPr/>
                    <a:lstStyle/>
                    <a:p>
                      <a:endParaRPr lang="en-US" b="1" dirty="0">
                        <a:solidFill>
                          <a:schemeClr val="tx2"/>
                        </a:solidFill>
                      </a:endParaRPr>
                    </a:p>
                  </a:txBody>
                  <a:tcPr/>
                </a:tc>
                <a:extLst>
                  <a:ext uri="{0D108BD9-81ED-4DB2-BD59-A6C34878D82A}">
                    <a16:rowId xmlns:a16="http://schemas.microsoft.com/office/drawing/2014/main" val="4099692605"/>
                  </a:ext>
                </a:extLst>
              </a:tr>
            </a:tbl>
          </a:graphicData>
        </a:graphic>
      </p:graphicFrame>
      <p:sp>
        <p:nvSpPr>
          <p:cNvPr id="6" name="Slide Number Placeholder 5">
            <a:extLst>
              <a:ext uri="{FF2B5EF4-FFF2-40B4-BE49-F238E27FC236}">
                <a16:creationId xmlns:a16="http://schemas.microsoft.com/office/drawing/2014/main" id="{54A575F0-33D3-79EC-A419-2B35ADB30790}"/>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28065969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4" name="Group 15">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7"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8"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19"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0"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1"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2"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pic>
        <p:nvPicPr>
          <p:cNvPr id="35" name="Picture 11" descr="Writing an appointment on a paper agenda">
            <a:extLst>
              <a:ext uri="{FF2B5EF4-FFF2-40B4-BE49-F238E27FC236}">
                <a16:creationId xmlns:a16="http://schemas.microsoft.com/office/drawing/2014/main" id="{B2B06810-E790-6854-031B-3475860435CC}"/>
              </a:ext>
            </a:extLst>
          </p:cNvPr>
          <p:cNvPicPr>
            <a:picLocks noChangeAspect="1"/>
          </p:cNvPicPr>
          <p:nvPr/>
        </p:nvPicPr>
        <p:blipFill rotWithShape="1">
          <a:blip r:embed="rId2">
            <a:alphaModFix amt="35000"/>
          </a:blip>
          <a:srcRect r="10999" b="-1"/>
          <a:stretch/>
        </p:blipFill>
        <p:spPr>
          <a:xfrm>
            <a:off x="20" y="10"/>
            <a:ext cx="9143980" cy="6857990"/>
          </a:xfrm>
          <a:prstGeom prst="rect">
            <a:avLst/>
          </a:prstGeom>
        </p:spPr>
      </p:pic>
      <p:sp>
        <p:nvSpPr>
          <p:cNvPr id="9" name="Title 8">
            <a:extLst>
              <a:ext uri="{FF2B5EF4-FFF2-40B4-BE49-F238E27FC236}">
                <a16:creationId xmlns:a16="http://schemas.microsoft.com/office/drawing/2014/main" id="{9F2ED07E-DB0E-C0D8-644F-1C61E6A91A17}"/>
              </a:ext>
            </a:extLst>
          </p:cNvPr>
          <p:cNvSpPr>
            <a:spLocks noGrp="1"/>
          </p:cNvSpPr>
          <p:nvPr>
            <p:ph type="title"/>
          </p:nvPr>
        </p:nvSpPr>
        <p:spPr>
          <a:xfrm>
            <a:off x="2196300" y="1380068"/>
            <a:ext cx="6430967" cy="2616199"/>
          </a:xfrm>
        </p:spPr>
        <p:txBody>
          <a:bodyPr vert="horz" lIns="91440" tIns="45720" rIns="91440" bIns="45720" rtlCol="0" anchor="b">
            <a:normAutofit/>
          </a:bodyPr>
          <a:lstStyle/>
          <a:p>
            <a:r>
              <a:rPr lang="en-US" sz="6000"/>
              <a:t>Priority Scheduling</a:t>
            </a:r>
          </a:p>
        </p:txBody>
      </p:sp>
      <p:sp>
        <p:nvSpPr>
          <p:cNvPr id="10" name="Text Placeholder 9">
            <a:extLst>
              <a:ext uri="{FF2B5EF4-FFF2-40B4-BE49-F238E27FC236}">
                <a16:creationId xmlns:a16="http://schemas.microsoft.com/office/drawing/2014/main" id="{D7EB645F-249D-9F9A-0779-3F012AADFFD8}"/>
              </a:ext>
            </a:extLst>
          </p:cNvPr>
          <p:cNvSpPr>
            <a:spLocks noGrp="1"/>
          </p:cNvSpPr>
          <p:nvPr>
            <p:ph type="body" idx="1"/>
          </p:nvPr>
        </p:nvSpPr>
        <p:spPr>
          <a:xfrm>
            <a:off x="3386532" y="3996267"/>
            <a:ext cx="5240734" cy="1388534"/>
          </a:xfrm>
        </p:spPr>
        <p:txBody>
          <a:bodyPr vert="horz" lIns="91440" tIns="45720" rIns="91440" bIns="45720" rtlCol="0" anchor="t">
            <a:normAutofit/>
          </a:bodyPr>
          <a:lstStyle/>
          <a:p>
            <a:endParaRPr lang="en-US" sz="2100"/>
          </a:p>
        </p:txBody>
      </p:sp>
      <p:grpSp>
        <p:nvGrpSpPr>
          <p:cNvPr id="36" name="Group 23">
            <a:extLst>
              <a:ext uri="{FF2B5EF4-FFF2-40B4-BE49-F238E27FC236}">
                <a16:creationId xmlns:a16="http://schemas.microsoft.com/office/drawing/2014/main" id="{0A3EF779-83DD-4EB0-9F4C-7304381A28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25" name="Freeform 6">
              <a:extLst>
                <a:ext uri="{FF2B5EF4-FFF2-40B4-BE49-F238E27FC236}">
                  <a16:creationId xmlns:a16="http://schemas.microsoft.com/office/drawing/2014/main" id="{772C8C0C-10E0-4305-95B6-F0A11F0AD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rgbClr val="30ACEC"/>
            </a:solidFill>
            <a:ln>
              <a:noFill/>
            </a:ln>
          </p:spPr>
          <p:txBody>
            <a:bodyPr/>
            <a:lstStyle/>
            <a:p>
              <a:endParaRPr lang="en-US"/>
            </a:p>
          </p:txBody>
        </p:sp>
        <p:sp>
          <p:nvSpPr>
            <p:cNvPr id="37" name="Freeform 7">
              <a:extLst>
                <a:ext uri="{FF2B5EF4-FFF2-40B4-BE49-F238E27FC236}">
                  <a16:creationId xmlns:a16="http://schemas.microsoft.com/office/drawing/2014/main" id="{ED6F480D-2F2A-4E97-B196-39B35C4BF8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ysClr val="windowText" lastClr="000000">
                <a:lumMod val="65000"/>
                <a:lumOff val="35000"/>
              </a:sysClr>
            </a:solidFill>
            <a:ln>
              <a:noFill/>
            </a:ln>
          </p:spPr>
          <p:txBody>
            <a:bodyPr/>
            <a:lstStyle/>
            <a:p>
              <a:endParaRPr lang="en-US"/>
            </a:p>
          </p:txBody>
        </p:sp>
        <p:sp>
          <p:nvSpPr>
            <p:cNvPr id="27" name="Freeform 9">
              <a:extLst>
                <a:ext uri="{FF2B5EF4-FFF2-40B4-BE49-F238E27FC236}">
                  <a16:creationId xmlns:a16="http://schemas.microsoft.com/office/drawing/2014/main" id="{65ACA5CB-4926-4AA1-8B0D-0A8C294D3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ysClr val="windowText" lastClr="000000">
                <a:lumMod val="85000"/>
                <a:lumOff val="15000"/>
              </a:sysClr>
            </a:solidFill>
            <a:ln>
              <a:noFill/>
            </a:ln>
          </p:spPr>
          <p:txBody>
            <a:bodyPr/>
            <a:lstStyle/>
            <a:p>
              <a:endParaRPr lang="en-US"/>
            </a:p>
          </p:txBody>
        </p:sp>
        <p:sp>
          <p:nvSpPr>
            <p:cNvPr id="28" name="Freeform 10">
              <a:extLst>
                <a:ext uri="{FF2B5EF4-FFF2-40B4-BE49-F238E27FC236}">
                  <a16:creationId xmlns:a16="http://schemas.microsoft.com/office/drawing/2014/main" id="{1FC1EC6E-AED1-4539-B157-052264991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rgbClr val="30ACEC">
                <a:lumMod val="50000"/>
              </a:srgbClr>
            </a:solidFill>
            <a:ln>
              <a:noFill/>
            </a:ln>
          </p:spPr>
          <p:txBody>
            <a:bodyPr/>
            <a:lstStyle/>
            <a:p>
              <a:endParaRPr lang="en-US"/>
            </a:p>
          </p:txBody>
        </p:sp>
        <p:sp>
          <p:nvSpPr>
            <p:cNvPr id="29" name="Freeform 11">
              <a:extLst>
                <a:ext uri="{FF2B5EF4-FFF2-40B4-BE49-F238E27FC236}">
                  <a16:creationId xmlns:a16="http://schemas.microsoft.com/office/drawing/2014/main" id="{F5C22045-92BD-4CA1-A655-5ADD00283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rgbClr val="30ACEC">
                <a:lumMod val="75000"/>
              </a:srgbClr>
            </a:solidFill>
            <a:ln>
              <a:noFill/>
            </a:ln>
          </p:spPr>
          <p:txBody>
            <a:bodyPr/>
            <a:lstStyle/>
            <a:p>
              <a:endParaRPr lang="en-US"/>
            </a:p>
          </p:txBody>
        </p:sp>
        <p:sp>
          <p:nvSpPr>
            <p:cNvPr id="30" name="Freeform 12">
              <a:extLst>
                <a:ext uri="{FF2B5EF4-FFF2-40B4-BE49-F238E27FC236}">
                  <a16:creationId xmlns:a16="http://schemas.microsoft.com/office/drawing/2014/main" id="{F130A56D-449A-4985-94CD-B749D51FF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ysClr val="windowText" lastClr="000000">
                <a:lumMod val="75000"/>
                <a:lumOff val="25000"/>
              </a:sysClr>
            </a:solidFill>
            <a:ln>
              <a:noFill/>
            </a:ln>
          </p:spPr>
          <p:txBody>
            <a:bodyPr/>
            <a:lstStyle/>
            <a:p>
              <a:endParaRPr lang="en-US"/>
            </a:p>
          </p:txBody>
        </p:sp>
      </p:grpSp>
      <p:sp>
        <p:nvSpPr>
          <p:cNvPr id="3" name="Slide Number Placeholder 2">
            <a:extLst>
              <a:ext uri="{FF2B5EF4-FFF2-40B4-BE49-F238E27FC236}">
                <a16:creationId xmlns:a16="http://schemas.microsoft.com/office/drawing/2014/main" id="{2D7660FC-8D5C-B851-4B9E-FB962A061A87}"/>
              </a:ext>
            </a:extLst>
          </p:cNvPr>
          <p:cNvSpPr>
            <a:spLocks noGrp="1"/>
          </p:cNvSpPr>
          <p:nvPr>
            <p:ph type="sldNum" sz="quarter" idx="12"/>
          </p:nvPr>
        </p:nvSpPr>
        <p:spPr/>
        <p:txBody>
          <a:bodyPr/>
          <a:lstStyle/>
          <a:p>
            <a:pPr algn="ctr"/>
            <a:r>
              <a:rPr lang="en-US"/>
              <a:t>CS4500/5500</a:t>
            </a:r>
            <a:endParaRPr lang="en-US" dirty="0"/>
          </a:p>
        </p:txBody>
      </p:sp>
    </p:spTree>
    <p:extLst>
      <p:ext uri="{BB962C8B-B14F-4D97-AF65-F5344CB8AC3E}">
        <p14:creationId xmlns:p14="http://schemas.microsoft.com/office/powerpoint/2010/main" val="4012612858"/>
      </p:ext>
    </p:extLst>
  </p:cSld>
  <p:clrMapOvr>
    <a:overrideClrMapping bg1="dk1" tx1="lt1" bg2="dk2" tx2="lt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FF0572E-E35C-16AF-7E36-9B9603092AA5}"/>
              </a:ext>
            </a:extLst>
          </p:cNvPr>
          <p:cNvSpPr>
            <a:spLocks noGrp="1"/>
          </p:cNvSpPr>
          <p:nvPr>
            <p:ph type="title"/>
          </p:nvPr>
        </p:nvSpPr>
        <p:spPr/>
        <p:txBody>
          <a:bodyPr/>
          <a:lstStyle/>
          <a:p>
            <a:r>
              <a:rPr lang="en-US" dirty="0"/>
              <a:t>Priority Scheduling: Preemptive or </a:t>
            </a:r>
            <a:r>
              <a:rPr lang="en-US" dirty="0" err="1"/>
              <a:t>Nonpreemptive</a:t>
            </a:r>
            <a:endParaRPr lang="en-US" dirty="0"/>
          </a:p>
        </p:txBody>
      </p:sp>
      <p:sp>
        <p:nvSpPr>
          <p:cNvPr id="8" name="Content Placeholder 7">
            <a:extLst>
              <a:ext uri="{FF2B5EF4-FFF2-40B4-BE49-F238E27FC236}">
                <a16:creationId xmlns:a16="http://schemas.microsoft.com/office/drawing/2014/main" id="{0CAED685-31CE-7392-F255-CA4B04E7732E}"/>
              </a:ext>
            </a:extLst>
          </p:cNvPr>
          <p:cNvSpPr>
            <a:spLocks noGrp="1"/>
          </p:cNvSpPr>
          <p:nvPr>
            <p:ph idx="1"/>
          </p:nvPr>
        </p:nvSpPr>
        <p:spPr/>
        <p:txBody>
          <a:bodyPr/>
          <a:lstStyle/>
          <a:p>
            <a:r>
              <a:rPr lang="en-US" dirty="0"/>
              <a:t>Each process has a priority assigned and the highest priority uses the CPU first</a:t>
            </a:r>
          </a:p>
          <a:p>
            <a:r>
              <a:rPr lang="en-US" dirty="0"/>
              <a:t>If there are processes with the same priority, FCFS is used to determine which process goes first</a:t>
            </a:r>
          </a:p>
          <a:p>
            <a:r>
              <a:rPr lang="en-US" dirty="0"/>
              <a:t>Looking back to SJF</a:t>
            </a:r>
          </a:p>
          <a:p>
            <a:pPr lvl="1"/>
            <a:r>
              <a:rPr lang="en-US" dirty="0"/>
              <a:t>Also a priority algorithm that bases priority on CPU burst times</a:t>
            </a:r>
          </a:p>
        </p:txBody>
      </p:sp>
      <p:sp>
        <p:nvSpPr>
          <p:cNvPr id="10" name="Slide Number Placeholder 9">
            <a:extLst>
              <a:ext uri="{FF2B5EF4-FFF2-40B4-BE49-F238E27FC236}">
                <a16:creationId xmlns:a16="http://schemas.microsoft.com/office/drawing/2014/main" id="{50C21B76-729A-324C-1C22-BD035EA7FF7C}"/>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29932523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FF0572E-E35C-16AF-7E36-9B9603092AA5}"/>
              </a:ext>
            </a:extLst>
          </p:cNvPr>
          <p:cNvSpPr>
            <a:spLocks noGrp="1"/>
          </p:cNvSpPr>
          <p:nvPr>
            <p:ph type="title"/>
          </p:nvPr>
        </p:nvSpPr>
        <p:spPr/>
        <p:txBody>
          <a:bodyPr/>
          <a:lstStyle/>
          <a:p>
            <a:r>
              <a:rPr lang="en-US" dirty="0"/>
              <a:t>Priority Scheduling: Preemptive</a:t>
            </a:r>
          </a:p>
        </p:txBody>
      </p:sp>
      <p:sp>
        <p:nvSpPr>
          <p:cNvPr id="8" name="Content Placeholder 7">
            <a:extLst>
              <a:ext uri="{FF2B5EF4-FFF2-40B4-BE49-F238E27FC236}">
                <a16:creationId xmlns:a16="http://schemas.microsoft.com/office/drawing/2014/main" id="{0CAED685-31CE-7392-F255-CA4B04E7732E}"/>
              </a:ext>
            </a:extLst>
          </p:cNvPr>
          <p:cNvSpPr>
            <a:spLocks noGrp="1"/>
          </p:cNvSpPr>
          <p:nvPr>
            <p:ph idx="1"/>
          </p:nvPr>
        </p:nvSpPr>
        <p:spPr/>
        <p:txBody>
          <a:bodyPr/>
          <a:lstStyle/>
          <a:p>
            <a:r>
              <a:rPr lang="en-US" dirty="0"/>
              <a:t>Preemptive priority scheduling will preempt the CPU if a process with a higher priority requests access to the resource </a:t>
            </a:r>
          </a:p>
        </p:txBody>
      </p:sp>
      <p:sp>
        <p:nvSpPr>
          <p:cNvPr id="3" name="Slide Number Placeholder 2">
            <a:extLst>
              <a:ext uri="{FF2B5EF4-FFF2-40B4-BE49-F238E27FC236}">
                <a16:creationId xmlns:a16="http://schemas.microsoft.com/office/drawing/2014/main" id="{46265B1B-A544-7E5B-10B1-4FC4556F79E8}"/>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34694510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038F4-98FF-3E21-738D-0D4B693FCA4B}"/>
              </a:ext>
            </a:extLst>
          </p:cNvPr>
          <p:cNvSpPr>
            <a:spLocks noGrp="1"/>
          </p:cNvSpPr>
          <p:nvPr>
            <p:ph type="title"/>
          </p:nvPr>
        </p:nvSpPr>
        <p:spPr/>
        <p:txBody>
          <a:bodyPr/>
          <a:lstStyle/>
          <a:p>
            <a:r>
              <a:rPr lang="en-US" dirty="0"/>
              <a:t>Priority Scheduling: </a:t>
            </a:r>
            <a:r>
              <a:rPr lang="en-US" dirty="0" err="1"/>
              <a:t>Nonpreemptive</a:t>
            </a:r>
            <a:endParaRPr lang="en-US" dirty="0"/>
          </a:p>
        </p:txBody>
      </p:sp>
      <p:sp>
        <p:nvSpPr>
          <p:cNvPr id="3" name="Content Placeholder 2">
            <a:extLst>
              <a:ext uri="{FF2B5EF4-FFF2-40B4-BE49-F238E27FC236}">
                <a16:creationId xmlns:a16="http://schemas.microsoft.com/office/drawing/2014/main" id="{3AB1FB56-7EE9-EF7A-B5A1-ABB459BC5E12}"/>
              </a:ext>
            </a:extLst>
          </p:cNvPr>
          <p:cNvSpPr>
            <a:spLocks noGrp="1"/>
          </p:cNvSpPr>
          <p:nvPr>
            <p:ph idx="1"/>
          </p:nvPr>
        </p:nvSpPr>
        <p:spPr/>
        <p:txBody>
          <a:bodyPr/>
          <a:lstStyle/>
          <a:p>
            <a:r>
              <a:rPr lang="en-US" dirty="0"/>
              <a:t>If a new process arrives and the current process is higher priority than the new process</a:t>
            </a:r>
          </a:p>
          <a:p>
            <a:pPr lvl="1"/>
            <a:r>
              <a:rPr lang="en-US" dirty="0"/>
              <a:t>The process is placed at the head of the queue</a:t>
            </a:r>
          </a:p>
        </p:txBody>
      </p:sp>
      <p:sp>
        <p:nvSpPr>
          <p:cNvPr id="8" name="Slide Number Placeholder 7">
            <a:extLst>
              <a:ext uri="{FF2B5EF4-FFF2-40B4-BE49-F238E27FC236}">
                <a16:creationId xmlns:a16="http://schemas.microsoft.com/office/drawing/2014/main" id="{AF4A836A-6145-FB11-0B89-640AA55C5FCC}"/>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23508825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216" y="-6085"/>
            <a:ext cx="7704667" cy="914399"/>
          </a:xfrm>
        </p:spPr>
        <p:txBody>
          <a:bodyPr>
            <a:normAutofit/>
          </a:bodyPr>
          <a:lstStyle/>
          <a:p>
            <a:r>
              <a:rPr lang="en-US" sz="4000" dirty="0">
                <a:ln>
                  <a:noFill/>
                </a:ln>
                <a:effectLst/>
              </a:rPr>
              <a:t>Priority Scheduling</a:t>
            </a:r>
          </a:p>
        </p:txBody>
      </p:sp>
      <p:sp>
        <p:nvSpPr>
          <p:cNvPr id="31" name="Content Placeholder 5"/>
          <p:cNvSpPr>
            <a:spLocks noGrp="1"/>
          </p:cNvSpPr>
          <p:nvPr>
            <p:ph sz="quarter" idx="1"/>
          </p:nvPr>
        </p:nvSpPr>
        <p:spPr>
          <a:xfrm>
            <a:off x="457200" y="1219200"/>
            <a:ext cx="8229600" cy="5029200"/>
          </a:xfrm>
        </p:spPr>
        <p:txBody>
          <a:bodyPr>
            <a:normAutofit/>
          </a:bodyPr>
          <a:lstStyle/>
          <a:p>
            <a:pPr marL="274320" lvl="1">
              <a:spcBef>
                <a:spcPts val="600"/>
              </a:spcBef>
              <a:buClr>
                <a:schemeClr val="accent1"/>
              </a:buClr>
              <a:buSzPct val="100000"/>
              <a:buFont typeface="Arial" pitchFamily="34" charset="0"/>
              <a:buChar char="•"/>
            </a:pPr>
            <a:r>
              <a:rPr lang="en-US" sz="2400" dirty="0">
                <a:solidFill>
                  <a:srgbClr val="000000"/>
                </a:solidFill>
              </a:rPr>
              <a:t>CPU schedules the highest priority first, FCFS within the same priority</a:t>
            </a:r>
            <a:endParaRPr lang="en-US" dirty="0">
              <a:solidFill>
                <a:srgbClr val="000000"/>
              </a:solidFill>
            </a:endParaRPr>
          </a:p>
          <a:p>
            <a:pPr>
              <a:buNone/>
            </a:pPr>
            <a:endParaRPr lang="en-US" sz="2400" dirty="0">
              <a:solidFill>
                <a:srgbClr val="000000"/>
              </a:solidFill>
            </a:endParaRPr>
          </a:p>
          <a:p>
            <a:pPr lvl="2"/>
            <a:endParaRPr lang="en-US" dirty="0">
              <a:solidFill>
                <a:srgbClr val="000000"/>
              </a:solidFill>
            </a:endParaRPr>
          </a:p>
          <a:p>
            <a:endParaRPr lang="en-US" dirty="0">
              <a:solidFill>
                <a:srgbClr val="000000"/>
              </a:solidFill>
            </a:endParaRPr>
          </a:p>
        </p:txBody>
      </p:sp>
      <p:sp>
        <p:nvSpPr>
          <p:cNvPr id="8" name="Rectangle 38"/>
          <p:cNvSpPr>
            <a:spLocks noChangeArrowheads="1"/>
          </p:cNvSpPr>
          <p:nvPr/>
        </p:nvSpPr>
        <p:spPr bwMode="auto">
          <a:xfrm>
            <a:off x="1224756" y="881587"/>
            <a:ext cx="6694487" cy="1752600"/>
          </a:xfrm>
          <a:prstGeom prst="rect">
            <a:avLst/>
          </a:prstGeom>
          <a:noFill/>
          <a:ln w="9525">
            <a:noFill/>
            <a:miter lim="800000"/>
            <a:headEnd/>
            <a:tailEnd/>
          </a:ln>
        </p:spPr>
        <p:txBody>
          <a:bodyPr lIns="86486" tIns="43243" rIns="86486" bIns="43243"/>
          <a:lstStyle/>
          <a:p>
            <a:pPr marL="323850" indent="-323850" defTabSz="865188">
              <a:spcBef>
                <a:spcPct val="20000"/>
              </a:spcBef>
              <a:tabLst>
                <a:tab pos="1516063" algn="ctr"/>
                <a:tab pos="3078163" algn="ctr"/>
                <a:tab pos="4865688" algn="ctr"/>
              </a:tabLst>
            </a:pPr>
            <a:r>
              <a:rPr lang="en-US" sz="2300" dirty="0">
                <a:solidFill>
                  <a:schemeClr val="accent2"/>
                </a:solidFill>
                <a:latin typeface="Arial Narrow" pitchFamily="34" charset="0"/>
              </a:rPr>
              <a:t>		</a:t>
            </a:r>
            <a:r>
              <a:rPr lang="en-US" u="sng" dirty="0"/>
              <a:t>Process</a:t>
            </a:r>
            <a:r>
              <a:rPr lang="en-US" dirty="0"/>
              <a:t>	</a:t>
            </a:r>
            <a:r>
              <a:rPr lang="en-US" u="sng" dirty="0"/>
              <a:t>Priority</a:t>
            </a:r>
            <a:r>
              <a:rPr lang="en-US" dirty="0"/>
              <a:t>	</a:t>
            </a:r>
            <a:r>
              <a:rPr lang="en-US" u="sng" dirty="0"/>
              <a:t>Burst Time</a:t>
            </a:r>
            <a:endParaRPr lang="en-US" dirty="0"/>
          </a:p>
          <a:p>
            <a:pPr marL="323850" indent="-323850" defTabSz="865188">
              <a:spcBef>
                <a:spcPct val="20000"/>
              </a:spcBef>
              <a:tabLst>
                <a:tab pos="1516063" algn="ctr"/>
                <a:tab pos="3078163" algn="ctr"/>
                <a:tab pos="4865688" algn="ctr"/>
              </a:tabLst>
            </a:pPr>
            <a:r>
              <a:rPr lang="en-US" dirty="0"/>
              <a:t>		</a:t>
            </a:r>
            <a:r>
              <a:rPr lang="en-US" i="1" dirty="0">
                <a:solidFill>
                  <a:srgbClr val="FF0000"/>
                </a:solidFill>
              </a:rPr>
              <a:t>P</a:t>
            </a:r>
            <a:r>
              <a:rPr lang="en-US" i="1" baseline="-25000" dirty="0">
                <a:solidFill>
                  <a:srgbClr val="FF0000"/>
                </a:solidFill>
              </a:rPr>
              <a:t>1</a:t>
            </a:r>
            <a:r>
              <a:rPr lang="en-US" dirty="0"/>
              <a:t>	3	8</a:t>
            </a:r>
          </a:p>
          <a:p>
            <a:pPr marL="323850" indent="-323850" defTabSz="865188">
              <a:spcBef>
                <a:spcPct val="20000"/>
              </a:spcBef>
              <a:tabLst>
                <a:tab pos="1516063" algn="ctr"/>
                <a:tab pos="3078163" algn="ctr"/>
                <a:tab pos="4865688" algn="ctr"/>
              </a:tabLst>
            </a:pPr>
            <a:r>
              <a:rPr lang="en-US" dirty="0"/>
              <a:t>		 </a:t>
            </a:r>
            <a:r>
              <a:rPr lang="en-US" i="1" dirty="0">
                <a:solidFill>
                  <a:srgbClr val="00B050"/>
                </a:solidFill>
              </a:rPr>
              <a:t>P</a:t>
            </a:r>
            <a:r>
              <a:rPr lang="en-US" i="1" baseline="-25000" dirty="0">
                <a:solidFill>
                  <a:srgbClr val="00B050"/>
                </a:solidFill>
              </a:rPr>
              <a:t>2</a:t>
            </a:r>
            <a:r>
              <a:rPr lang="en-US" i="1" baseline="-25000" dirty="0"/>
              <a:t>	</a:t>
            </a:r>
            <a:r>
              <a:rPr lang="en-US" dirty="0"/>
              <a:t>1	4</a:t>
            </a:r>
          </a:p>
          <a:p>
            <a:pPr marL="323850" indent="-323850" defTabSz="865188">
              <a:spcBef>
                <a:spcPct val="20000"/>
              </a:spcBef>
              <a:tabLst>
                <a:tab pos="1516063" algn="ctr"/>
                <a:tab pos="3078163" algn="ctr"/>
                <a:tab pos="4865688" algn="ctr"/>
              </a:tabLst>
            </a:pPr>
            <a:r>
              <a:rPr lang="en-US" dirty="0"/>
              <a:t>		 </a:t>
            </a:r>
            <a:r>
              <a:rPr lang="en-US" i="1" dirty="0">
                <a:solidFill>
                  <a:srgbClr val="0070C0"/>
                </a:solidFill>
              </a:rPr>
              <a:t>P</a:t>
            </a:r>
            <a:r>
              <a:rPr lang="en-US" i="1" baseline="-25000" dirty="0">
                <a:solidFill>
                  <a:srgbClr val="0070C0"/>
                </a:solidFill>
              </a:rPr>
              <a:t>3</a:t>
            </a:r>
            <a:r>
              <a:rPr lang="en-US" dirty="0"/>
              <a:t>	4	9</a:t>
            </a:r>
          </a:p>
          <a:p>
            <a:pPr marL="323850" indent="-323850" defTabSz="865188">
              <a:spcBef>
                <a:spcPct val="20000"/>
              </a:spcBef>
              <a:tabLst>
                <a:tab pos="1516063" algn="ctr"/>
                <a:tab pos="3078163" algn="ctr"/>
                <a:tab pos="4865688" algn="ctr"/>
              </a:tabLst>
            </a:pPr>
            <a:r>
              <a:rPr lang="en-US" dirty="0"/>
              <a:t>		 </a:t>
            </a:r>
            <a:r>
              <a:rPr lang="en-US" i="1" dirty="0">
                <a:solidFill>
                  <a:srgbClr val="7030A0"/>
                </a:solidFill>
              </a:rPr>
              <a:t>P</a:t>
            </a:r>
            <a:r>
              <a:rPr lang="en-US" i="1" baseline="-25000" dirty="0">
                <a:solidFill>
                  <a:srgbClr val="7030A0"/>
                </a:solidFill>
              </a:rPr>
              <a:t>4</a:t>
            </a:r>
            <a:r>
              <a:rPr lang="en-US" dirty="0"/>
              <a:t>	2	5</a:t>
            </a:r>
          </a:p>
        </p:txBody>
      </p:sp>
      <p:grpSp>
        <p:nvGrpSpPr>
          <p:cNvPr id="47" name="Group 46"/>
          <p:cNvGrpSpPr/>
          <p:nvPr/>
        </p:nvGrpSpPr>
        <p:grpSpPr>
          <a:xfrm>
            <a:off x="1981200" y="3505200"/>
            <a:ext cx="5029200" cy="304800"/>
            <a:chOff x="1752600" y="5029200"/>
            <a:chExt cx="5029200" cy="304800"/>
          </a:xfrm>
        </p:grpSpPr>
        <p:sp>
          <p:nvSpPr>
            <p:cNvPr id="56" name="Rectangle 55"/>
            <p:cNvSpPr/>
            <p:nvPr/>
          </p:nvSpPr>
          <p:spPr>
            <a:xfrm>
              <a:off x="3657600" y="5029200"/>
              <a:ext cx="1447800" cy="3048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1</a:t>
              </a:r>
              <a:endParaRPr lang="en-US" b="1" dirty="0">
                <a:solidFill>
                  <a:schemeClr val="bg1"/>
                </a:solidFill>
              </a:endParaRPr>
            </a:p>
          </p:txBody>
        </p:sp>
        <p:sp>
          <p:nvSpPr>
            <p:cNvPr id="57" name="Rectangle 56"/>
            <p:cNvSpPr/>
            <p:nvPr/>
          </p:nvSpPr>
          <p:spPr>
            <a:xfrm>
              <a:off x="1752600" y="5029200"/>
              <a:ext cx="762000" cy="3048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2</a:t>
              </a:r>
              <a:endParaRPr lang="en-US" b="1" dirty="0">
                <a:solidFill>
                  <a:schemeClr val="bg1"/>
                </a:solidFill>
              </a:endParaRPr>
            </a:p>
          </p:txBody>
        </p:sp>
        <p:sp>
          <p:nvSpPr>
            <p:cNvPr id="60" name="Rectangle 59"/>
            <p:cNvSpPr/>
            <p:nvPr/>
          </p:nvSpPr>
          <p:spPr>
            <a:xfrm>
              <a:off x="5105400" y="5029200"/>
              <a:ext cx="1676400" cy="304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3</a:t>
              </a:r>
              <a:endParaRPr lang="en-US" b="1" dirty="0">
                <a:solidFill>
                  <a:schemeClr val="bg1"/>
                </a:solidFill>
              </a:endParaRPr>
            </a:p>
          </p:txBody>
        </p:sp>
        <p:sp>
          <p:nvSpPr>
            <p:cNvPr id="72" name="Rectangle 71"/>
            <p:cNvSpPr/>
            <p:nvPr/>
          </p:nvSpPr>
          <p:spPr>
            <a:xfrm>
              <a:off x="2514600" y="5029200"/>
              <a:ext cx="1143000" cy="3048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4</a:t>
              </a:r>
              <a:endParaRPr lang="en-US" b="1" dirty="0">
                <a:solidFill>
                  <a:schemeClr val="bg1"/>
                </a:solidFill>
              </a:endParaRPr>
            </a:p>
          </p:txBody>
        </p:sp>
      </p:grpSp>
      <p:sp>
        <p:nvSpPr>
          <p:cNvPr id="75" name="Rectangle 38"/>
          <p:cNvSpPr>
            <a:spLocks noChangeArrowheads="1"/>
          </p:cNvSpPr>
          <p:nvPr/>
        </p:nvSpPr>
        <p:spPr bwMode="auto">
          <a:xfrm>
            <a:off x="1001713" y="3810000"/>
            <a:ext cx="6694487" cy="1752600"/>
          </a:xfrm>
          <a:prstGeom prst="rect">
            <a:avLst/>
          </a:prstGeom>
          <a:noFill/>
          <a:ln w="9525">
            <a:noFill/>
            <a:miter lim="800000"/>
            <a:headEnd/>
            <a:tailEnd/>
          </a:ln>
        </p:spPr>
        <p:txBody>
          <a:bodyPr lIns="86486" tIns="43243" rIns="86486" bIns="43243"/>
          <a:lstStyle/>
          <a:p>
            <a:pPr marL="323850" indent="-323850" defTabSz="865188">
              <a:spcBef>
                <a:spcPct val="20000"/>
              </a:spcBef>
              <a:tabLst>
                <a:tab pos="1516063" algn="ctr"/>
                <a:tab pos="3078163" algn="ctr"/>
                <a:tab pos="4865688" algn="ctr"/>
              </a:tabLst>
            </a:pPr>
            <a:r>
              <a:rPr lang="en-US" sz="2300" dirty="0">
                <a:solidFill>
                  <a:schemeClr val="accent2"/>
                </a:solidFill>
                <a:latin typeface="Arial Narrow" pitchFamily="34" charset="0"/>
              </a:rPr>
              <a:t>		</a:t>
            </a:r>
            <a:r>
              <a:rPr lang="en-US" u="sng" dirty="0"/>
              <a:t>Process</a:t>
            </a:r>
            <a:r>
              <a:rPr lang="en-US" dirty="0"/>
              <a:t>	</a:t>
            </a:r>
            <a:r>
              <a:rPr lang="en-US" u="sng" dirty="0"/>
              <a:t>Priority</a:t>
            </a:r>
            <a:r>
              <a:rPr lang="en-US" dirty="0"/>
              <a:t>	</a:t>
            </a:r>
            <a:r>
              <a:rPr lang="en-US" u="sng" dirty="0"/>
              <a:t>Burst Time</a:t>
            </a:r>
            <a:endParaRPr lang="en-US" dirty="0"/>
          </a:p>
          <a:p>
            <a:pPr marL="323850" indent="-323850" defTabSz="865188">
              <a:spcBef>
                <a:spcPct val="20000"/>
              </a:spcBef>
              <a:tabLst>
                <a:tab pos="1516063" algn="ctr"/>
                <a:tab pos="3078163" algn="ctr"/>
                <a:tab pos="4865688" algn="ctr"/>
              </a:tabLst>
            </a:pPr>
            <a:r>
              <a:rPr lang="en-US" dirty="0"/>
              <a:t>		</a:t>
            </a:r>
            <a:r>
              <a:rPr lang="en-US" i="1" dirty="0">
                <a:solidFill>
                  <a:srgbClr val="FF0000"/>
                </a:solidFill>
              </a:rPr>
              <a:t>P</a:t>
            </a:r>
            <a:r>
              <a:rPr lang="en-US" i="1" baseline="-25000" dirty="0">
                <a:solidFill>
                  <a:srgbClr val="FF0000"/>
                </a:solidFill>
              </a:rPr>
              <a:t>1</a:t>
            </a:r>
            <a:r>
              <a:rPr lang="en-US" dirty="0"/>
              <a:t>	2	8</a:t>
            </a:r>
          </a:p>
          <a:p>
            <a:pPr marL="323850" indent="-323850" defTabSz="865188">
              <a:spcBef>
                <a:spcPct val="20000"/>
              </a:spcBef>
              <a:tabLst>
                <a:tab pos="1516063" algn="ctr"/>
                <a:tab pos="3078163" algn="ctr"/>
                <a:tab pos="4865688" algn="ctr"/>
              </a:tabLst>
            </a:pPr>
            <a:r>
              <a:rPr lang="en-US" dirty="0"/>
              <a:t>		 </a:t>
            </a:r>
            <a:r>
              <a:rPr lang="en-US" i="1" dirty="0">
                <a:solidFill>
                  <a:srgbClr val="00B050"/>
                </a:solidFill>
              </a:rPr>
              <a:t>P</a:t>
            </a:r>
            <a:r>
              <a:rPr lang="en-US" i="1" baseline="-25000" dirty="0">
                <a:solidFill>
                  <a:srgbClr val="00B050"/>
                </a:solidFill>
              </a:rPr>
              <a:t>2</a:t>
            </a:r>
            <a:r>
              <a:rPr lang="en-US" i="1" baseline="-25000" dirty="0"/>
              <a:t>	</a:t>
            </a:r>
            <a:r>
              <a:rPr lang="en-US" dirty="0"/>
              <a:t>4	4</a:t>
            </a:r>
          </a:p>
          <a:p>
            <a:pPr marL="323850" indent="-323850" defTabSz="865188">
              <a:spcBef>
                <a:spcPct val="20000"/>
              </a:spcBef>
              <a:tabLst>
                <a:tab pos="1516063" algn="ctr"/>
                <a:tab pos="3078163" algn="ctr"/>
                <a:tab pos="4865688" algn="ctr"/>
              </a:tabLst>
            </a:pPr>
            <a:r>
              <a:rPr lang="en-US" dirty="0"/>
              <a:t>		 </a:t>
            </a:r>
            <a:r>
              <a:rPr lang="en-US" i="1" dirty="0">
                <a:solidFill>
                  <a:srgbClr val="0070C0"/>
                </a:solidFill>
              </a:rPr>
              <a:t>P</a:t>
            </a:r>
            <a:r>
              <a:rPr lang="en-US" i="1" baseline="-25000" dirty="0">
                <a:solidFill>
                  <a:srgbClr val="0070C0"/>
                </a:solidFill>
              </a:rPr>
              <a:t>3</a:t>
            </a:r>
            <a:r>
              <a:rPr lang="en-US" dirty="0"/>
              <a:t>	1	9</a:t>
            </a:r>
          </a:p>
          <a:p>
            <a:pPr marL="323850" indent="-323850" defTabSz="865188">
              <a:spcBef>
                <a:spcPct val="20000"/>
              </a:spcBef>
              <a:tabLst>
                <a:tab pos="1516063" algn="ctr"/>
                <a:tab pos="3078163" algn="ctr"/>
                <a:tab pos="4865688" algn="ctr"/>
              </a:tabLst>
            </a:pPr>
            <a:r>
              <a:rPr lang="en-US" dirty="0"/>
              <a:t>		 </a:t>
            </a:r>
            <a:r>
              <a:rPr lang="en-US" i="1" dirty="0">
                <a:solidFill>
                  <a:srgbClr val="7030A0"/>
                </a:solidFill>
              </a:rPr>
              <a:t>P</a:t>
            </a:r>
            <a:r>
              <a:rPr lang="en-US" i="1" baseline="-25000" dirty="0">
                <a:solidFill>
                  <a:srgbClr val="7030A0"/>
                </a:solidFill>
              </a:rPr>
              <a:t>4</a:t>
            </a:r>
            <a:r>
              <a:rPr lang="en-US" dirty="0"/>
              <a:t>	3	5</a:t>
            </a:r>
          </a:p>
        </p:txBody>
      </p:sp>
      <p:grpSp>
        <p:nvGrpSpPr>
          <p:cNvPr id="76" name="Group 75"/>
          <p:cNvGrpSpPr/>
          <p:nvPr/>
        </p:nvGrpSpPr>
        <p:grpSpPr>
          <a:xfrm>
            <a:off x="1981200" y="5638800"/>
            <a:ext cx="5029200" cy="304800"/>
            <a:chOff x="304800" y="4648200"/>
            <a:chExt cx="5029200" cy="304800"/>
          </a:xfrm>
        </p:grpSpPr>
        <p:sp>
          <p:nvSpPr>
            <p:cNvPr id="77" name="Rectangle 76"/>
            <p:cNvSpPr/>
            <p:nvPr/>
          </p:nvSpPr>
          <p:spPr>
            <a:xfrm>
              <a:off x="1981200" y="4648200"/>
              <a:ext cx="1447800" cy="3048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1</a:t>
              </a:r>
              <a:endParaRPr lang="en-US" b="1" dirty="0">
                <a:solidFill>
                  <a:schemeClr val="bg1"/>
                </a:solidFill>
              </a:endParaRPr>
            </a:p>
          </p:txBody>
        </p:sp>
        <p:sp>
          <p:nvSpPr>
            <p:cNvPr id="78" name="Rectangle 77"/>
            <p:cNvSpPr/>
            <p:nvPr/>
          </p:nvSpPr>
          <p:spPr>
            <a:xfrm>
              <a:off x="4572000" y="4648200"/>
              <a:ext cx="762000" cy="3048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2</a:t>
              </a:r>
              <a:endParaRPr lang="en-US" b="1" dirty="0">
                <a:solidFill>
                  <a:schemeClr val="bg1"/>
                </a:solidFill>
              </a:endParaRPr>
            </a:p>
          </p:txBody>
        </p:sp>
        <p:sp>
          <p:nvSpPr>
            <p:cNvPr id="79" name="Rectangle 78"/>
            <p:cNvSpPr/>
            <p:nvPr/>
          </p:nvSpPr>
          <p:spPr>
            <a:xfrm>
              <a:off x="304800" y="4648200"/>
              <a:ext cx="1676400" cy="304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3</a:t>
              </a:r>
              <a:endParaRPr lang="en-US" b="1" dirty="0">
                <a:solidFill>
                  <a:schemeClr val="bg1"/>
                </a:solidFill>
              </a:endParaRPr>
            </a:p>
          </p:txBody>
        </p:sp>
        <p:sp>
          <p:nvSpPr>
            <p:cNvPr id="80" name="Rectangle 79"/>
            <p:cNvSpPr/>
            <p:nvPr/>
          </p:nvSpPr>
          <p:spPr>
            <a:xfrm>
              <a:off x="3429000" y="4648200"/>
              <a:ext cx="1143000" cy="3048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P</a:t>
              </a:r>
              <a:r>
                <a:rPr lang="en-US" b="1" i="1" baseline="-25000" dirty="0">
                  <a:solidFill>
                    <a:schemeClr val="bg1"/>
                  </a:solidFill>
                </a:rPr>
                <a:t>4</a:t>
              </a:r>
              <a:endParaRPr lang="en-US" b="1" dirty="0">
                <a:solidFill>
                  <a:schemeClr val="bg1"/>
                </a:solidFill>
              </a:endParaRPr>
            </a:p>
          </p:txBody>
        </p:sp>
      </p:grpSp>
      <p:sp>
        <p:nvSpPr>
          <p:cNvPr id="6" name="Slide Number Placeholder 5">
            <a:extLst>
              <a:ext uri="{FF2B5EF4-FFF2-40B4-BE49-F238E27FC236}">
                <a16:creationId xmlns:a16="http://schemas.microsoft.com/office/drawing/2014/main" id="{3458167B-FE14-D818-23B3-0BE982CD8B20}"/>
              </a:ext>
            </a:extLst>
          </p:cNvPr>
          <p:cNvSpPr>
            <a:spLocks noGrp="1"/>
          </p:cNvSpPr>
          <p:nvPr>
            <p:ph type="sldNum" sz="quarter" idx="12"/>
          </p:nvPr>
        </p:nvSpPr>
        <p:spPr/>
        <p:txBody>
          <a:bodyPr/>
          <a:lstStyle/>
          <a:p>
            <a:r>
              <a:rPr lang="en-US"/>
              <a:t>CS4500/5500</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FBF38-5D87-D94C-C61A-CF82F65BC964}"/>
              </a:ext>
            </a:extLst>
          </p:cNvPr>
          <p:cNvSpPr>
            <a:spLocks noGrp="1"/>
          </p:cNvSpPr>
          <p:nvPr>
            <p:ph type="title"/>
          </p:nvPr>
        </p:nvSpPr>
        <p:spPr>
          <a:xfrm>
            <a:off x="982664" y="60961"/>
            <a:ext cx="7704667" cy="914399"/>
          </a:xfrm>
        </p:spPr>
        <p:txBody>
          <a:bodyPr/>
          <a:lstStyle/>
          <a:p>
            <a:r>
              <a:rPr lang="en-US" dirty="0"/>
              <a:t>Priority Scheduling: Waiting Time </a:t>
            </a:r>
          </a:p>
        </p:txBody>
      </p:sp>
      <p:graphicFrame>
        <p:nvGraphicFramePr>
          <p:cNvPr id="7" name="Table 7">
            <a:extLst>
              <a:ext uri="{FF2B5EF4-FFF2-40B4-BE49-F238E27FC236}">
                <a16:creationId xmlns:a16="http://schemas.microsoft.com/office/drawing/2014/main" id="{F77E48FA-67C8-E83A-6BFD-39BFB9A9D294}"/>
              </a:ext>
            </a:extLst>
          </p:cNvPr>
          <p:cNvGraphicFramePr>
            <a:graphicFrameLocks noGrp="1"/>
          </p:cNvGraphicFramePr>
          <p:nvPr>
            <p:ph idx="1"/>
            <p:extLst>
              <p:ext uri="{D42A27DB-BD31-4B8C-83A1-F6EECF244321}">
                <p14:modId xmlns:p14="http://schemas.microsoft.com/office/powerpoint/2010/main" val="3938364804"/>
              </p:ext>
            </p:extLst>
          </p:nvPr>
        </p:nvGraphicFramePr>
        <p:xfrm>
          <a:off x="982664" y="994410"/>
          <a:ext cx="7704136" cy="2377440"/>
        </p:xfrm>
        <a:graphic>
          <a:graphicData uri="http://schemas.openxmlformats.org/drawingml/2006/table">
            <a:tbl>
              <a:tblPr firstRow="1" bandRow="1">
                <a:tableStyleId>{5C22544A-7EE6-4342-B048-85BDC9FD1C3A}</a:tableStyleId>
              </a:tblPr>
              <a:tblGrid>
                <a:gridCol w="1926034">
                  <a:extLst>
                    <a:ext uri="{9D8B030D-6E8A-4147-A177-3AD203B41FA5}">
                      <a16:colId xmlns:a16="http://schemas.microsoft.com/office/drawing/2014/main" val="2017007141"/>
                    </a:ext>
                  </a:extLst>
                </a:gridCol>
                <a:gridCol w="1926034">
                  <a:extLst>
                    <a:ext uri="{9D8B030D-6E8A-4147-A177-3AD203B41FA5}">
                      <a16:colId xmlns:a16="http://schemas.microsoft.com/office/drawing/2014/main" val="1209074382"/>
                    </a:ext>
                  </a:extLst>
                </a:gridCol>
                <a:gridCol w="1926034">
                  <a:extLst>
                    <a:ext uri="{9D8B030D-6E8A-4147-A177-3AD203B41FA5}">
                      <a16:colId xmlns:a16="http://schemas.microsoft.com/office/drawing/2014/main" val="2004805714"/>
                    </a:ext>
                  </a:extLst>
                </a:gridCol>
                <a:gridCol w="1926034">
                  <a:extLst>
                    <a:ext uri="{9D8B030D-6E8A-4147-A177-3AD203B41FA5}">
                      <a16:colId xmlns:a16="http://schemas.microsoft.com/office/drawing/2014/main" val="643913257"/>
                    </a:ext>
                  </a:extLst>
                </a:gridCol>
              </a:tblGrid>
              <a:tr h="370840">
                <a:tc>
                  <a:txBody>
                    <a:bodyPr/>
                    <a:lstStyle/>
                    <a:p>
                      <a:pPr algn="ctr"/>
                      <a:r>
                        <a:rPr lang="en-US" sz="2000" dirty="0">
                          <a:solidFill>
                            <a:schemeClr val="tx1"/>
                          </a:solidFill>
                        </a:rPr>
                        <a:t>Process ID</a:t>
                      </a:r>
                    </a:p>
                  </a:txBody>
                  <a:tcPr/>
                </a:tc>
                <a:tc>
                  <a:txBody>
                    <a:bodyPr/>
                    <a:lstStyle/>
                    <a:p>
                      <a:pPr algn="ctr"/>
                      <a:r>
                        <a:rPr lang="en-US" sz="2000" dirty="0">
                          <a:solidFill>
                            <a:schemeClr val="tx1"/>
                          </a:solidFill>
                        </a:rPr>
                        <a:t>Arrival Time</a:t>
                      </a:r>
                    </a:p>
                  </a:txBody>
                  <a:tcPr/>
                </a:tc>
                <a:tc>
                  <a:txBody>
                    <a:bodyPr/>
                    <a:lstStyle/>
                    <a:p>
                      <a:pPr algn="ctr"/>
                      <a:r>
                        <a:rPr lang="en-US" sz="2000" dirty="0">
                          <a:solidFill>
                            <a:schemeClr val="tx1"/>
                          </a:solidFill>
                        </a:rPr>
                        <a:t>Burst Time</a:t>
                      </a:r>
                    </a:p>
                  </a:txBody>
                  <a:tcPr/>
                </a:tc>
                <a:tc>
                  <a:txBody>
                    <a:bodyPr/>
                    <a:lstStyle/>
                    <a:p>
                      <a:pPr algn="ctr"/>
                      <a:r>
                        <a:rPr lang="en-US" sz="2000" dirty="0">
                          <a:solidFill>
                            <a:schemeClr val="tx1"/>
                          </a:solidFill>
                        </a:rPr>
                        <a:t>Priority</a:t>
                      </a:r>
                    </a:p>
                  </a:txBody>
                  <a:tcPr/>
                </a:tc>
                <a:extLst>
                  <a:ext uri="{0D108BD9-81ED-4DB2-BD59-A6C34878D82A}">
                    <a16:rowId xmlns:a16="http://schemas.microsoft.com/office/drawing/2014/main" val="4224651593"/>
                  </a:ext>
                </a:extLst>
              </a:tr>
              <a:tr h="370840">
                <a:tc>
                  <a:txBody>
                    <a:bodyPr/>
                    <a:lstStyle/>
                    <a:p>
                      <a:pPr algn="ctr"/>
                      <a:r>
                        <a:rPr lang="en-US" sz="2000" dirty="0">
                          <a:solidFill>
                            <a:schemeClr val="tx1"/>
                          </a:solidFill>
                        </a:rPr>
                        <a:t>P1</a:t>
                      </a:r>
                    </a:p>
                  </a:txBody>
                  <a:tcPr/>
                </a:tc>
                <a:tc>
                  <a:txBody>
                    <a:bodyPr/>
                    <a:lstStyle/>
                    <a:p>
                      <a:pPr algn="ctr"/>
                      <a:r>
                        <a:rPr lang="en-US" sz="2000" dirty="0">
                          <a:solidFill>
                            <a:schemeClr val="tx1"/>
                          </a:solidFill>
                        </a:rPr>
                        <a:t>0</a:t>
                      </a:r>
                    </a:p>
                  </a:txBody>
                  <a:tcPr/>
                </a:tc>
                <a:tc>
                  <a:txBody>
                    <a:bodyPr/>
                    <a:lstStyle/>
                    <a:p>
                      <a:pPr algn="ctr"/>
                      <a:r>
                        <a:rPr lang="en-US" sz="2000" dirty="0">
                          <a:solidFill>
                            <a:schemeClr val="tx1"/>
                          </a:solidFill>
                        </a:rPr>
                        <a:t>11</a:t>
                      </a:r>
                    </a:p>
                  </a:txBody>
                  <a:tcPr/>
                </a:tc>
                <a:tc>
                  <a:txBody>
                    <a:bodyPr/>
                    <a:lstStyle/>
                    <a:p>
                      <a:pPr algn="ctr"/>
                      <a:r>
                        <a:rPr lang="en-US" sz="2000" dirty="0">
                          <a:solidFill>
                            <a:schemeClr val="tx1"/>
                          </a:solidFill>
                        </a:rPr>
                        <a:t>3</a:t>
                      </a:r>
                    </a:p>
                  </a:txBody>
                  <a:tcPr/>
                </a:tc>
                <a:extLst>
                  <a:ext uri="{0D108BD9-81ED-4DB2-BD59-A6C34878D82A}">
                    <a16:rowId xmlns:a16="http://schemas.microsoft.com/office/drawing/2014/main" val="989636689"/>
                  </a:ext>
                </a:extLst>
              </a:tr>
              <a:tr h="370840">
                <a:tc>
                  <a:txBody>
                    <a:bodyPr/>
                    <a:lstStyle/>
                    <a:p>
                      <a:pPr algn="ctr"/>
                      <a:r>
                        <a:rPr lang="en-US" sz="2000" dirty="0">
                          <a:solidFill>
                            <a:schemeClr val="tx1"/>
                          </a:solidFill>
                        </a:rPr>
                        <a:t>P2</a:t>
                      </a:r>
                    </a:p>
                  </a:txBody>
                  <a:tcPr/>
                </a:tc>
                <a:tc>
                  <a:txBody>
                    <a:bodyPr/>
                    <a:lstStyle/>
                    <a:p>
                      <a:pPr algn="ctr"/>
                      <a:r>
                        <a:rPr lang="en-US" sz="2000" dirty="0">
                          <a:solidFill>
                            <a:schemeClr val="tx1"/>
                          </a:solidFill>
                        </a:rPr>
                        <a:t>0</a:t>
                      </a:r>
                    </a:p>
                  </a:txBody>
                  <a:tcPr/>
                </a:tc>
                <a:tc>
                  <a:txBody>
                    <a:bodyPr/>
                    <a:lstStyle/>
                    <a:p>
                      <a:pPr algn="ctr"/>
                      <a:r>
                        <a:rPr lang="en-US" sz="2000" dirty="0">
                          <a:solidFill>
                            <a:schemeClr val="tx1"/>
                          </a:solidFill>
                        </a:rPr>
                        <a:t>2</a:t>
                      </a:r>
                    </a:p>
                  </a:txBody>
                  <a:tcPr/>
                </a:tc>
                <a:tc>
                  <a:txBody>
                    <a:bodyPr/>
                    <a:lstStyle/>
                    <a:p>
                      <a:pPr algn="ctr"/>
                      <a:r>
                        <a:rPr lang="en-US" sz="2000" dirty="0">
                          <a:solidFill>
                            <a:schemeClr val="tx1"/>
                          </a:solidFill>
                        </a:rPr>
                        <a:t>1</a:t>
                      </a:r>
                    </a:p>
                  </a:txBody>
                  <a:tcPr/>
                </a:tc>
                <a:extLst>
                  <a:ext uri="{0D108BD9-81ED-4DB2-BD59-A6C34878D82A}">
                    <a16:rowId xmlns:a16="http://schemas.microsoft.com/office/drawing/2014/main" val="2196484567"/>
                  </a:ext>
                </a:extLst>
              </a:tr>
              <a:tr h="370840">
                <a:tc>
                  <a:txBody>
                    <a:bodyPr/>
                    <a:lstStyle/>
                    <a:p>
                      <a:pPr algn="ctr"/>
                      <a:r>
                        <a:rPr lang="en-US" sz="2000" dirty="0">
                          <a:solidFill>
                            <a:schemeClr val="tx1"/>
                          </a:solidFill>
                        </a:rPr>
                        <a:t>P3</a:t>
                      </a:r>
                    </a:p>
                  </a:txBody>
                  <a:tcPr/>
                </a:tc>
                <a:tc>
                  <a:txBody>
                    <a:bodyPr/>
                    <a:lstStyle/>
                    <a:p>
                      <a:pPr algn="ctr"/>
                      <a:r>
                        <a:rPr lang="en-US" sz="2000" dirty="0">
                          <a:solidFill>
                            <a:schemeClr val="tx1"/>
                          </a:solidFill>
                        </a:rPr>
                        <a:t>0</a:t>
                      </a:r>
                    </a:p>
                  </a:txBody>
                  <a:tcPr/>
                </a:tc>
                <a:tc>
                  <a:txBody>
                    <a:bodyPr/>
                    <a:lstStyle/>
                    <a:p>
                      <a:pPr algn="ctr"/>
                      <a:r>
                        <a:rPr lang="en-US" sz="2000" dirty="0">
                          <a:solidFill>
                            <a:schemeClr val="tx1"/>
                          </a:solidFill>
                        </a:rPr>
                        <a:t>3</a:t>
                      </a:r>
                    </a:p>
                  </a:txBody>
                  <a:tcPr/>
                </a:tc>
                <a:tc>
                  <a:txBody>
                    <a:bodyPr/>
                    <a:lstStyle/>
                    <a:p>
                      <a:pPr algn="ctr"/>
                      <a:r>
                        <a:rPr lang="en-US" sz="2000" dirty="0">
                          <a:solidFill>
                            <a:schemeClr val="tx1"/>
                          </a:solidFill>
                        </a:rPr>
                        <a:t>4</a:t>
                      </a:r>
                    </a:p>
                  </a:txBody>
                  <a:tcPr/>
                </a:tc>
                <a:extLst>
                  <a:ext uri="{0D108BD9-81ED-4DB2-BD59-A6C34878D82A}">
                    <a16:rowId xmlns:a16="http://schemas.microsoft.com/office/drawing/2014/main" val="2642718359"/>
                  </a:ext>
                </a:extLst>
              </a:tr>
              <a:tr h="370840">
                <a:tc>
                  <a:txBody>
                    <a:bodyPr/>
                    <a:lstStyle/>
                    <a:p>
                      <a:pPr algn="ctr"/>
                      <a:r>
                        <a:rPr lang="en-US" sz="2000" dirty="0">
                          <a:solidFill>
                            <a:schemeClr val="tx1"/>
                          </a:solidFill>
                        </a:rPr>
                        <a:t>P4</a:t>
                      </a:r>
                    </a:p>
                  </a:txBody>
                  <a:tcPr/>
                </a:tc>
                <a:tc>
                  <a:txBody>
                    <a:bodyPr/>
                    <a:lstStyle/>
                    <a:p>
                      <a:pPr algn="ctr"/>
                      <a:r>
                        <a:rPr lang="en-US" sz="2000" dirty="0">
                          <a:solidFill>
                            <a:schemeClr val="tx1"/>
                          </a:solidFill>
                        </a:rPr>
                        <a:t>0</a:t>
                      </a:r>
                    </a:p>
                  </a:txBody>
                  <a:tcPr/>
                </a:tc>
                <a:tc>
                  <a:txBody>
                    <a:bodyPr/>
                    <a:lstStyle/>
                    <a:p>
                      <a:pPr algn="ctr"/>
                      <a:r>
                        <a:rPr lang="en-US" sz="2000" dirty="0">
                          <a:solidFill>
                            <a:schemeClr val="tx1"/>
                          </a:solidFill>
                        </a:rPr>
                        <a:t>2</a:t>
                      </a:r>
                    </a:p>
                  </a:txBody>
                  <a:tcPr/>
                </a:tc>
                <a:tc>
                  <a:txBody>
                    <a:bodyPr/>
                    <a:lstStyle/>
                    <a:p>
                      <a:pPr algn="ctr"/>
                      <a:r>
                        <a:rPr lang="en-US" sz="2000" dirty="0">
                          <a:solidFill>
                            <a:schemeClr val="tx1"/>
                          </a:solidFill>
                        </a:rPr>
                        <a:t>5</a:t>
                      </a:r>
                    </a:p>
                  </a:txBody>
                  <a:tcPr/>
                </a:tc>
                <a:extLst>
                  <a:ext uri="{0D108BD9-81ED-4DB2-BD59-A6C34878D82A}">
                    <a16:rowId xmlns:a16="http://schemas.microsoft.com/office/drawing/2014/main" val="637309098"/>
                  </a:ext>
                </a:extLst>
              </a:tr>
              <a:tr h="370840">
                <a:tc>
                  <a:txBody>
                    <a:bodyPr/>
                    <a:lstStyle/>
                    <a:p>
                      <a:pPr algn="ctr"/>
                      <a:r>
                        <a:rPr lang="en-US" sz="2000" dirty="0">
                          <a:solidFill>
                            <a:schemeClr val="tx1"/>
                          </a:solidFill>
                        </a:rPr>
                        <a:t>P5</a:t>
                      </a:r>
                    </a:p>
                  </a:txBody>
                  <a:tcPr/>
                </a:tc>
                <a:tc>
                  <a:txBody>
                    <a:bodyPr/>
                    <a:lstStyle/>
                    <a:p>
                      <a:pPr algn="ctr"/>
                      <a:r>
                        <a:rPr lang="en-US" sz="2000" dirty="0">
                          <a:solidFill>
                            <a:schemeClr val="tx1"/>
                          </a:solidFill>
                        </a:rPr>
                        <a:t>0</a:t>
                      </a:r>
                    </a:p>
                  </a:txBody>
                  <a:tcPr/>
                </a:tc>
                <a:tc>
                  <a:txBody>
                    <a:bodyPr/>
                    <a:lstStyle/>
                    <a:p>
                      <a:pPr algn="ctr"/>
                      <a:r>
                        <a:rPr lang="en-US" sz="2000" dirty="0">
                          <a:solidFill>
                            <a:schemeClr val="tx1"/>
                          </a:solidFill>
                        </a:rPr>
                        <a:t>6</a:t>
                      </a:r>
                    </a:p>
                  </a:txBody>
                  <a:tcPr/>
                </a:tc>
                <a:tc>
                  <a:txBody>
                    <a:bodyPr/>
                    <a:lstStyle/>
                    <a:p>
                      <a:pPr algn="ctr"/>
                      <a:r>
                        <a:rPr lang="en-US" sz="2000" dirty="0">
                          <a:solidFill>
                            <a:schemeClr val="tx1"/>
                          </a:solidFill>
                        </a:rPr>
                        <a:t>2</a:t>
                      </a:r>
                    </a:p>
                  </a:txBody>
                  <a:tcPr/>
                </a:tc>
                <a:extLst>
                  <a:ext uri="{0D108BD9-81ED-4DB2-BD59-A6C34878D82A}">
                    <a16:rowId xmlns:a16="http://schemas.microsoft.com/office/drawing/2014/main" val="3474077808"/>
                  </a:ext>
                </a:extLst>
              </a:tr>
            </a:tbl>
          </a:graphicData>
        </a:graphic>
      </p:graphicFrame>
      <p:sp>
        <p:nvSpPr>
          <p:cNvPr id="8" name="TextBox 7">
            <a:extLst>
              <a:ext uri="{FF2B5EF4-FFF2-40B4-BE49-F238E27FC236}">
                <a16:creationId xmlns:a16="http://schemas.microsoft.com/office/drawing/2014/main" id="{27D735F2-8C87-794A-06B1-72EA2B533417}"/>
              </a:ext>
            </a:extLst>
          </p:cNvPr>
          <p:cNvSpPr txBox="1"/>
          <p:nvPr/>
        </p:nvSpPr>
        <p:spPr>
          <a:xfrm>
            <a:off x="2935381" y="3604484"/>
            <a:ext cx="4343400" cy="369332"/>
          </a:xfrm>
          <a:prstGeom prst="rect">
            <a:avLst/>
          </a:prstGeom>
          <a:noFill/>
        </p:spPr>
        <p:txBody>
          <a:bodyPr wrap="square" rtlCol="0">
            <a:spAutoFit/>
          </a:bodyPr>
          <a:lstStyle/>
          <a:p>
            <a:r>
              <a:rPr lang="en-US" dirty="0"/>
              <a:t>The smaller value for the priority goes first</a:t>
            </a:r>
          </a:p>
        </p:txBody>
      </p:sp>
      <p:grpSp>
        <p:nvGrpSpPr>
          <p:cNvPr id="26" name="Group 25">
            <a:extLst>
              <a:ext uri="{FF2B5EF4-FFF2-40B4-BE49-F238E27FC236}">
                <a16:creationId xmlns:a16="http://schemas.microsoft.com/office/drawing/2014/main" id="{D7C6D780-0A5E-A3EC-D560-D1E809CB2694}"/>
              </a:ext>
            </a:extLst>
          </p:cNvPr>
          <p:cNvGrpSpPr/>
          <p:nvPr/>
        </p:nvGrpSpPr>
        <p:grpSpPr>
          <a:xfrm>
            <a:off x="2156167" y="4374434"/>
            <a:ext cx="6987833" cy="1276240"/>
            <a:chOff x="1340815" y="3682587"/>
            <a:chExt cx="6987833" cy="1276240"/>
          </a:xfrm>
        </p:grpSpPr>
        <p:grpSp>
          <p:nvGrpSpPr>
            <p:cNvPr id="9" name="Group 8">
              <a:extLst>
                <a:ext uri="{FF2B5EF4-FFF2-40B4-BE49-F238E27FC236}">
                  <a16:creationId xmlns:a16="http://schemas.microsoft.com/office/drawing/2014/main" id="{BD93C471-72C6-83FD-72A4-C84DF6712F23}"/>
                </a:ext>
              </a:extLst>
            </p:cNvPr>
            <p:cNvGrpSpPr/>
            <p:nvPr/>
          </p:nvGrpSpPr>
          <p:grpSpPr>
            <a:xfrm>
              <a:off x="1340815" y="3726432"/>
              <a:ext cx="6987833" cy="1232395"/>
              <a:chOff x="1271134" y="5143026"/>
              <a:chExt cx="7201749" cy="1347169"/>
            </a:xfrm>
          </p:grpSpPr>
          <p:sp>
            <p:nvSpPr>
              <p:cNvPr id="10" name="Rectangle 9">
                <a:extLst>
                  <a:ext uri="{FF2B5EF4-FFF2-40B4-BE49-F238E27FC236}">
                    <a16:creationId xmlns:a16="http://schemas.microsoft.com/office/drawing/2014/main" id="{3C989B38-B514-BE19-0F58-ECCC4DA8257D}"/>
                  </a:ext>
                </a:extLst>
              </p:cNvPr>
              <p:cNvSpPr/>
              <p:nvPr/>
            </p:nvSpPr>
            <p:spPr>
              <a:xfrm>
                <a:off x="1506054" y="5651995"/>
                <a:ext cx="6677802" cy="8382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2"/>
                    </a:solidFill>
                  </a:rPr>
                  <a:t>P2</a:t>
                </a:r>
              </a:p>
            </p:txBody>
          </p:sp>
          <p:sp>
            <p:nvSpPr>
              <p:cNvPr id="11" name="TextBox 10">
                <a:extLst>
                  <a:ext uri="{FF2B5EF4-FFF2-40B4-BE49-F238E27FC236}">
                    <a16:creationId xmlns:a16="http://schemas.microsoft.com/office/drawing/2014/main" id="{045A21A1-7B07-8E1D-E05A-E4B42FDF6E71}"/>
                  </a:ext>
                </a:extLst>
              </p:cNvPr>
              <p:cNvSpPr txBox="1"/>
              <p:nvPr/>
            </p:nvSpPr>
            <p:spPr>
              <a:xfrm>
                <a:off x="2652407" y="5790218"/>
                <a:ext cx="609600" cy="571948"/>
              </a:xfrm>
              <a:prstGeom prst="rect">
                <a:avLst/>
              </a:prstGeom>
              <a:noFill/>
            </p:spPr>
            <p:txBody>
              <a:bodyPr wrap="square" rtlCol="0">
                <a:spAutoFit/>
              </a:bodyPr>
              <a:lstStyle/>
              <a:p>
                <a:r>
                  <a:rPr lang="en-US" sz="2800" b="1" dirty="0">
                    <a:solidFill>
                      <a:schemeClr val="tx2"/>
                    </a:solidFill>
                  </a:rPr>
                  <a:t>P5</a:t>
                </a:r>
              </a:p>
            </p:txBody>
          </p:sp>
          <p:sp>
            <p:nvSpPr>
              <p:cNvPr id="12" name="TextBox 11">
                <a:extLst>
                  <a:ext uri="{FF2B5EF4-FFF2-40B4-BE49-F238E27FC236}">
                    <a16:creationId xmlns:a16="http://schemas.microsoft.com/office/drawing/2014/main" id="{5934D481-240E-3F2A-7CDE-7CC07BF5A9C2}"/>
                  </a:ext>
                </a:extLst>
              </p:cNvPr>
              <p:cNvSpPr txBox="1"/>
              <p:nvPr/>
            </p:nvSpPr>
            <p:spPr>
              <a:xfrm>
                <a:off x="4185950" y="5790218"/>
                <a:ext cx="609600" cy="571948"/>
              </a:xfrm>
              <a:prstGeom prst="rect">
                <a:avLst/>
              </a:prstGeom>
              <a:noFill/>
            </p:spPr>
            <p:txBody>
              <a:bodyPr wrap="square" rtlCol="0">
                <a:spAutoFit/>
              </a:bodyPr>
              <a:lstStyle/>
              <a:p>
                <a:r>
                  <a:rPr lang="en-US" sz="2800" b="1" dirty="0">
                    <a:solidFill>
                      <a:schemeClr val="tx2"/>
                    </a:solidFill>
                  </a:rPr>
                  <a:t>P1</a:t>
                </a:r>
              </a:p>
            </p:txBody>
          </p:sp>
          <p:sp>
            <p:nvSpPr>
              <p:cNvPr id="13" name="TextBox 12">
                <a:extLst>
                  <a:ext uri="{FF2B5EF4-FFF2-40B4-BE49-F238E27FC236}">
                    <a16:creationId xmlns:a16="http://schemas.microsoft.com/office/drawing/2014/main" id="{076495AE-2926-8C16-2431-65C8889CA424}"/>
                  </a:ext>
                </a:extLst>
              </p:cNvPr>
              <p:cNvSpPr txBox="1"/>
              <p:nvPr/>
            </p:nvSpPr>
            <p:spPr>
              <a:xfrm>
                <a:off x="5765610" y="5790218"/>
                <a:ext cx="609600" cy="523221"/>
              </a:xfrm>
              <a:prstGeom prst="rect">
                <a:avLst/>
              </a:prstGeom>
              <a:noFill/>
            </p:spPr>
            <p:txBody>
              <a:bodyPr wrap="square" rtlCol="0">
                <a:spAutoFit/>
              </a:bodyPr>
              <a:lstStyle/>
              <a:p>
                <a:r>
                  <a:rPr lang="en-US" sz="2800" b="1" dirty="0">
                    <a:solidFill>
                      <a:schemeClr val="tx2"/>
                    </a:solidFill>
                  </a:rPr>
                  <a:t>P3</a:t>
                </a:r>
              </a:p>
            </p:txBody>
          </p:sp>
          <p:cxnSp>
            <p:nvCxnSpPr>
              <p:cNvPr id="14" name="Straight Connector 13">
                <a:extLst>
                  <a:ext uri="{FF2B5EF4-FFF2-40B4-BE49-F238E27FC236}">
                    <a16:creationId xmlns:a16="http://schemas.microsoft.com/office/drawing/2014/main" id="{00DB05F6-F32B-DFBE-2B4E-C33871F413A1}"/>
                  </a:ext>
                </a:extLst>
              </p:cNvPr>
              <p:cNvCxnSpPr/>
              <p:nvPr/>
            </p:nvCxnSpPr>
            <p:spPr>
              <a:xfrm>
                <a:off x="2268054" y="5651995"/>
                <a:ext cx="0" cy="838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BA653A5-BBCF-6A29-FD0F-3FFF51278AD4}"/>
                  </a:ext>
                </a:extLst>
              </p:cNvPr>
              <p:cNvCxnSpPr/>
              <p:nvPr/>
            </p:nvCxnSpPr>
            <p:spPr>
              <a:xfrm>
                <a:off x="3487254" y="5651995"/>
                <a:ext cx="0" cy="838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00AF15D-F703-CB0A-AED5-A7738A2192AC}"/>
                  </a:ext>
                </a:extLst>
              </p:cNvPr>
              <p:cNvCxnSpPr/>
              <p:nvPr/>
            </p:nvCxnSpPr>
            <p:spPr>
              <a:xfrm>
                <a:off x="5176164" y="5651995"/>
                <a:ext cx="0" cy="838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7B7CF31-2B37-885D-B391-716BAD5E6672}"/>
                  </a:ext>
                </a:extLst>
              </p:cNvPr>
              <p:cNvSpPr txBox="1"/>
              <p:nvPr/>
            </p:nvSpPr>
            <p:spPr>
              <a:xfrm>
                <a:off x="1271134" y="5236190"/>
                <a:ext cx="457200" cy="523220"/>
              </a:xfrm>
              <a:prstGeom prst="rect">
                <a:avLst/>
              </a:prstGeom>
              <a:noFill/>
            </p:spPr>
            <p:txBody>
              <a:bodyPr wrap="square" rtlCol="0">
                <a:spAutoFit/>
              </a:bodyPr>
              <a:lstStyle/>
              <a:p>
                <a:r>
                  <a:rPr lang="en-US" sz="2800" b="1" dirty="0"/>
                  <a:t>0</a:t>
                </a:r>
              </a:p>
            </p:txBody>
          </p:sp>
          <p:sp>
            <p:nvSpPr>
              <p:cNvPr id="18" name="TextBox 17">
                <a:extLst>
                  <a:ext uri="{FF2B5EF4-FFF2-40B4-BE49-F238E27FC236}">
                    <a16:creationId xmlns:a16="http://schemas.microsoft.com/office/drawing/2014/main" id="{07D44A10-6E7B-114F-31EA-63D8E8883409}"/>
                  </a:ext>
                </a:extLst>
              </p:cNvPr>
              <p:cNvSpPr txBox="1"/>
              <p:nvPr/>
            </p:nvSpPr>
            <p:spPr>
              <a:xfrm>
                <a:off x="2109333" y="5143026"/>
                <a:ext cx="457200" cy="571948"/>
              </a:xfrm>
              <a:prstGeom prst="rect">
                <a:avLst/>
              </a:prstGeom>
              <a:noFill/>
            </p:spPr>
            <p:txBody>
              <a:bodyPr wrap="square" rtlCol="0">
                <a:spAutoFit/>
              </a:bodyPr>
              <a:lstStyle/>
              <a:p>
                <a:r>
                  <a:rPr lang="en-US" sz="2800" b="1" dirty="0"/>
                  <a:t>2</a:t>
                </a:r>
              </a:p>
            </p:txBody>
          </p:sp>
          <p:sp>
            <p:nvSpPr>
              <p:cNvPr id="19" name="TextBox 18">
                <a:extLst>
                  <a:ext uri="{FF2B5EF4-FFF2-40B4-BE49-F238E27FC236}">
                    <a16:creationId xmlns:a16="http://schemas.microsoft.com/office/drawing/2014/main" id="{541D029E-B320-E970-F1B7-92350D16156F}"/>
                  </a:ext>
                </a:extLst>
              </p:cNvPr>
              <p:cNvSpPr txBox="1"/>
              <p:nvPr/>
            </p:nvSpPr>
            <p:spPr>
              <a:xfrm>
                <a:off x="3258654" y="5157276"/>
                <a:ext cx="603278" cy="571948"/>
              </a:xfrm>
              <a:prstGeom prst="rect">
                <a:avLst/>
              </a:prstGeom>
              <a:noFill/>
            </p:spPr>
            <p:txBody>
              <a:bodyPr wrap="square" rtlCol="0">
                <a:spAutoFit/>
              </a:bodyPr>
              <a:lstStyle/>
              <a:p>
                <a:r>
                  <a:rPr lang="en-US" sz="2800" b="1" dirty="0"/>
                  <a:t>8</a:t>
                </a:r>
              </a:p>
            </p:txBody>
          </p:sp>
          <p:sp>
            <p:nvSpPr>
              <p:cNvPr id="20" name="TextBox 19">
                <a:extLst>
                  <a:ext uri="{FF2B5EF4-FFF2-40B4-BE49-F238E27FC236}">
                    <a16:creationId xmlns:a16="http://schemas.microsoft.com/office/drawing/2014/main" id="{D837A1FF-6ECB-2A96-E570-9F66E0906504}"/>
                  </a:ext>
                </a:extLst>
              </p:cNvPr>
              <p:cNvSpPr txBox="1"/>
              <p:nvPr/>
            </p:nvSpPr>
            <p:spPr>
              <a:xfrm>
                <a:off x="7761728" y="5196591"/>
                <a:ext cx="711155" cy="571948"/>
              </a:xfrm>
              <a:prstGeom prst="rect">
                <a:avLst/>
              </a:prstGeom>
              <a:noFill/>
            </p:spPr>
            <p:txBody>
              <a:bodyPr wrap="square" rtlCol="0">
                <a:spAutoFit/>
              </a:bodyPr>
              <a:lstStyle/>
              <a:p>
                <a:r>
                  <a:rPr lang="en-US" sz="2800" b="1" dirty="0"/>
                  <a:t>24</a:t>
                </a:r>
              </a:p>
            </p:txBody>
          </p:sp>
          <p:sp>
            <p:nvSpPr>
              <p:cNvPr id="21" name="TextBox 20">
                <a:extLst>
                  <a:ext uri="{FF2B5EF4-FFF2-40B4-BE49-F238E27FC236}">
                    <a16:creationId xmlns:a16="http://schemas.microsoft.com/office/drawing/2014/main" id="{71433DA5-0827-1468-790A-8E519D63C207}"/>
                  </a:ext>
                </a:extLst>
              </p:cNvPr>
              <p:cNvSpPr txBox="1"/>
              <p:nvPr/>
            </p:nvSpPr>
            <p:spPr>
              <a:xfrm>
                <a:off x="4859705" y="5143026"/>
                <a:ext cx="603278" cy="571948"/>
              </a:xfrm>
              <a:prstGeom prst="rect">
                <a:avLst/>
              </a:prstGeom>
              <a:noFill/>
            </p:spPr>
            <p:txBody>
              <a:bodyPr wrap="square" rtlCol="0">
                <a:spAutoFit/>
              </a:bodyPr>
              <a:lstStyle/>
              <a:p>
                <a:r>
                  <a:rPr lang="en-US" sz="2800" b="1" dirty="0"/>
                  <a:t>19</a:t>
                </a:r>
              </a:p>
            </p:txBody>
          </p:sp>
        </p:grpSp>
        <p:cxnSp>
          <p:nvCxnSpPr>
            <p:cNvPr id="22" name="Straight Connector 21">
              <a:extLst>
                <a:ext uri="{FF2B5EF4-FFF2-40B4-BE49-F238E27FC236}">
                  <a16:creationId xmlns:a16="http://schemas.microsoft.com/office/drawing/2014/main" id="{F834D68E-30B4-5366-0AB8-DF538FD736F2}"/>
                </a:ext>
              </a:extLst>
            </p:cNvPr>
            <p:cNvCxnSpPr/>
            <p:nvPr/>
          </p:nvCxnSpPr>
          <p:spPr>
            <a:xfrm>
              <a:off x="6705600" y="4192039"/>
              <a:ext cx="0" cy="76678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D8566E6-3918-FA38-FC2B-78B7901A8D7B}"/>
                </a:ext>
              </a:extLst>
            </p:cNvPr>
            <p:cNvSpPr txBox="1"/>
            <p:nvPr/>
          </p:nvSpPr>
          <p:spPr>
            <a:xfrm>
              <a:off x="6933543" y="4307299"/>
              <a:ext cx="591493" cy="523220"/>
            </a:xfrm>
            <a:prstGeom prst="rect">
              <a:avLst/>
            </a:prstGeom>
            <a:noFill/>
          </p:spPr>
          <p:txBody>
            <a:bodyPr wrap="square" rtlCol="0">
              <a:spAutoFit/>
            </a:bodyPr>
            <a:lstStyle/>
            <a:p>
              <a:r>
                <a:rPr lang="en-US" sz="2800" b="1" dirty="0">
                  <a:solidFill>
                    <a:schemeClr val="tx2"/>
                  </a:solidFill>
                </a:rPr>
                <a:t>P4</a:t>
              </a:r>
            </a:p>
          </p:txBody>
        </p:sp>
        <p:sp>
          <p:nvSpPr>
            <p:cNvPr id="24" name="TextBox 23">
              <a:extLst>
                <a:ext uri="{FF2B5EF4-FFF2-40B4-BE49-F238E27FC236}">
                  <a16:creationId xmlns:a16="http://schemas.microsoft.com/office/drawing/2014/main" id="{6DB2C69D-FFC4-F401-2B27-56738DB87690}"/>
                </a:ext>
              </a:extLst>
            </p:cNvPr>
            <p:cNvSpPr txBox="1"/>
            <p:nvPr/>
          </p:nvSpPr>
          <p:spPr>
            <a:xfrm>
              <a:off x="6376287" y="3682587"/>
              <a:ext cx="591493" cy="523220"/>
            </a:xfrm>
            <a:prstGeom prst="rect">
              <a:avLst/>
            </a:prstGeom>
            <a:noFill/>
          </p:spPr>
          <p:txBody>
            <a:bodyPr wrap="square" rtlCol="0">
              <a:spAutoFit/>
            </a:bodyPr>
            <a:lstStyle/>
            <a:p>
              <a:r>
                <a:rPr lang="en-US" sz="2800" b="1" dirty="0">
                  <a:solidFill>
                    <a:schemeClr val="tx2"/>
                  </a:solidFill>
                </a:rPr>
                <a:t>22</a:t>
              </a:r>
            </a:p>
          </p:txBody>
        </p:sp>
      </p:grpSp>
      <p:sp>
        <p:nvSpPr>
          <p:cNvPr id="25" name="TextBox 24">
            <a:extLst>
              <a:ext uri="{FF2B5EF4-FFF2-40B4-BE49-F238E27FC236}">
                <a16:creationId xmlns:a16="http://schemas.microsoft.com/office/drawing/2014/main" id="{09FC5333-7F0E-7DE9-5A2B-2CEE5B26EADC}"/>
              </a:ext>
            </a:extLst>
          </p:cNvPr>
          <p:cNvSpPr txBox="1"/>
          <p:nvPr/>
        </p:nvSpPr>
        <p:spPr>
          <a:xfrm>
            <a:off x="651459" y="3910364"/>
            <a:ext cx="2393642" cy="1938992"/>
          </a:xfrm>
          <a:prstGeom prst="rect">
            <a:avLst/>
          </a:prstGeom>
          <a:noFill/>
        </p:spPr>
        <p:txBody>
          <a:bodyPr wrap="square" rtlCol="0">
            <a:spAutoFit/>
          </a:bodyPr>
          <a:lstStyle/>
          <a:p>
            <a:r>
              <a:rPr lang="en-US" sz="2400" dirty="0"/>
              <a:t>Waiting Times:</a:t>
            </a:r>
          </a:p>
          <a:p>
            <a:r>
              <a:rPr lang="en-US" sz="2400" dirty="0"/>
              <a:t>P1 = 7</a:t>
            </a:r>
          </a:p>
          <a:p>
            <a:r>
              <a:rPr lang="en-US" sz="2400" dirty="0"/>
              <a:t>P2 = 0</a:t>
            </a:r>
          </a:p>
          <a:p>
            <a:r>
              <a:rPr lang="en-US" sz="2400" dirty="0"/>
              <a:t>P3 = 18</a:t>
            </a:r>
          </a:p>
          <a:p>
            <a:r>
              <a:rPr lang="en-US" sz="2400" dirty="0"/>
              <a:t>P4 = 21</a:t>
            </a:r>
          </a:p>
        </p:txBody>
      </p:sp>
      <p:sp>
        <p:nvSpPr>
          <p:cNvPr id="27" name="TextBox 26">
            <a:extLst>
              <a:ext uri="{FF2B5EF4-FFF2-40B4-BE49-F238E27FC236}">
                <a16:creationId xmlns:a16="http://schemas.microsoft.com/office/drawing/2014/main" id="{0F59DE68-B729-CD2E-CC9B-2C56C3C5AD12}"/>
              </a:ext>
            </a:extLst>
          </p:cNvPr>
          <p:cNvSpPr txBox="1"/>
          <p:nvPr/>
        </p:nvSpPr>
        <p:spPr>
          <a:xfrm>
            <a:off x="1656260" y="5972350"/>
            <a:ext cx="6901641" cy="461665"/>
          </a:xfrm>
          <a:prstGeom prst="rect">
            <a:avLst/>
          </a:prstGeom>
          <a:noFill/>
        </p:spPr>
        <p:txBody>
          <a:bodyPr wrap="square" rtlCol="0">
            <a:spAutoFit/>
          </a:bodyPr>
          <a:lstStyle/>
          <a:p>
            <a:r>
              <a:rPr lang="en-US" sz="2400" dirty="0"/>
              <a:t>Average Waiting Time = 7 + 0 + 18 + 21/4 = 11.5 </a:t>
            </a:r>
            <a:r>
              <a:rPr lang="en-US" sz="2400" dirty="0" err="1"/>
              <a:t>ms</a:t>
            </a:r>
            <a:r>
              <a:rPr lang="en-US" sz="2400" dirty="0"/>
              <a:t> </a:t>
            </a:r>
          </a:p>
        </p:txBody>
      </p:sp>
      <p:sp>
        <p:nvSpPr>
          <p:cNvPr id="29" name="Slide Number Placeholder 28">
            <a:extLst>
              <a:ext uri="{FF2B5EF4-FFF2-40B4-BE49-F238E27FC236}">
                <a16:creationId xmlns:a16="http://schemas.microsoft.com/office/drawing/2014/main" id="{63C638D1-E2ED-357E-4CB5-06713D5089E0}"/>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9939164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B4817-FE0D-534A-DF2D-86D283A55596}"/>
              </a:ext>
            </a:extLst>
          </p:cNvPr>
          <p:cNvSpPr>
            <a:spLocks noGrp="1"/>
          </p:cNvSpPr>
          <p:nvPr>
            <p:ph type="title"/>
          </p:nvPr>
        </p:nvSpPr>
        <p:spPr/>
        <p:txBody>
          <a:bodyPr/>
          <a:lstStyle/>
          <a:p>
            <a:r>
              <a:rPr lang="en-US" dirty="0"/>
              <a:t>Priority Scheduling Disadvantages</a:t>
            </a:r>
          </a:p>
        </p:txBody>
      </p:sp>
      <p:sp>
        <p:nvSpPr>
          <p:cNvPr id="3" name="Content Placeholder 2">
            <a:extLst>
              <a:ext uri="{FF2B5EF4-FFF2-40B4-BE49-F238E27FC236}">
                <a16:creationId xmlns:a16="http://schemas.microsoft.com/office/drawing/2014/main" id="{94210786-C5C9-091A-E607-422F02194699}"/>
              </a:ext>
            </a:extLst>
          </p:cNvPr>
          <p:cNvSpPr>
            <a:spLocks noGrp="1"/>
          </p:cNvSpPr>
          <p:nvPr>
            <p:ph idx="1"/>
          </p:nvPr>
        </p:nvSpPr>
        <p:spPr/>
        <p:txBody>
          <a:bodyPr/>
          <a:lstStyle/>
          <a:p>
            <a:r>
              <a:rPr lang="en-US" dirty="0"/>
              <a:t>Low priority processes could wait indefinitely</a:t>
            </a:r>
          </a:p>
          <a:p>
            <a:r>
              <a:rPr lang="en-US" dirty="0"/>
              <a:t>Can cause indefinite waiting times resulting in starvation</a:t>
            </a:r>
          </a:p>
          <a:p>
            <a:r>
              <a:rPr lang="en-US" dirty="0"/>
              <a:t>Any process waiting that has lower priority may not ever have the opportunity to use the CPU</a:t>
            </a:r>
          </a:p>
          <a:p>
            <a:endParaRPr lang="en-US" dirty="0"/>
          </a:p>
        </p:txBody>
      </p:sp>
      <p:sp>
        <p:nvSpPr>
          <p:cNvPr id="8" name="Slide Number Placeholder 7">
            <a:extLst>
              <a:ext uri="{FF2B5EF4-FFF2-40B4-BE49-F238E27FC236}">
                <a16:creationId xmlns:a16="http://schemas.microsoft.com/office/drawing/2014/main" id="{4099C33A-7495-A9E1-EE83-0503F1A58388}"/>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1424912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F3495-E116-AE51-4D7D-AEAD7BB3A568}"/>
              </a:ext>
            </a:extLst>
          </p:cNvPr>
          <p:cNvSpPr>
            <a:spLocks noGrp="1"/>
          </p:cNvSpPr>
          <p:nvPr>
            <p:ph type="title"/>
          </p:nvPr>
        </p:nvSpPr>
        <p:spPr/>
        <p:txBody>
          <a:bodyPr/>
          <a:lstStyle/>
          <a:p>
            <a:r>
              <a:rPr lang="en-US" dirty="0"/>
              <a:t>Solution to Priority Scheduling Disadvantages</a:t>
            </a:r>
          </a:p>
        </p:txBody>
      </p:sp>
      <p:sp>
        <p:nvSpPr>
          <p:cNvPr id="3" name="Content Placeholder 2">
            <a:extLst>
              <a:ext uri="{FF2B5EF4-FFF2-40B4-BE49-F238E27FC236}">
                <a16:creationId xmlns:a16="http://schemas.microsoft.com/office/drawing/2014/main" id="{EC1B0D42-169B-C86A-5112-AD4AF2C8A4C3}"/>
              </a:ext>
            </a:extLst>
          </p:cNvPr>
          <p:cNvSpPr>
            <a:spLocks noGrp="1"/>
          </p:cNvSpPr>
          <p:nvPr>
            <p:ph idx="1"/>
          </p:nvPr>
        </p:nvSpPr>
        <p:spPr/>
        <p:txBody>
          <a:bodyPr/>
          <a:lstStyle/>
          <a:p>
            <a:r>
              <a:rPr lang="en-US" dirty="0"/>
              <a:t>Aging was introduced to overcome lower priority processes starving or being indefinitely blocked</a:t>
            </a:r>
          </a:p>
          <a:p>
            <a:r>
              <a:rPr lang="en-US" dirty="0"/>
              <a:t>Aging increases the priority of lower priority process over time</a:t>
            </a:r>
          </a:p>
          <a:p>
            <a:pPr marL="0" indent="0">
              <a:buNone/>
            </a:pPr>
            <a:endParaRPr lang="en-US" dirty="0"/>
          </a:p>
          <a:p>
            <a:endParaRPr lang="en-US" dirty="0"/>
          </a:p>
        </p:txBody>
      </p:sp>
      <p:sp>
        <p:nvSpPr>
          <p:cNvPr id="8" name="Slide Number Placeholder 7">
            <a:extLst>
              <a:ext uri="{FF2B5EF4-FFF2-40B4-BE49-F238E27FC236}">
                <a16:creationId xmlns:a16="http://schemas.microsoft.com/office/drawing/2014/main" id="{01D00DFE-50D6-E5CC-9D6D-0EEC3500A186}"/>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5264909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p:cNvSpPr/>
          <p:nvPr/>
        </p:nvSpPr>
        <p:spPr>
          <a:xfrm>
            <a:off x="1219200" y="4648200"/>
            <a:ext cx="1981200" cy="762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82133" y="457201"/>
            <a:ext cx="7704667" cy="882541"/>
          </a:xfrm>
        </p:spPr>
        <p:txBody>
          <a:bodyPr>
            <a:normAutofit/>
          </a:bodyPr>
          <a:lstStyle/>
          <a:p>
            <a:r>
              <a:rPr lang="en-US" sz="4000" dirty="0">
                <a:ln>
                  <a:noFill/>
                </a:ln>
                <a:effectLst/>
              </a:rPr>
              <a:t>Put it together</a:t>
            </a:r>
          </a:p>
        </p:txBody>
      </p:sp>
      <p:sp>
        <p:nvSpPr>
          <p:cNvPr id="31" name="Content Placeholder 5"/>
          <p:cNvSpPr>
            <a:spLocks noGrp="1"/>
          </p:cNvSpPr>
          <p:nvPr>
            <p:ph sz="quarter" idx="1"/>
          </p:nvPr>
        </p:nvSpPr>
        <p:spPr>
          <a:xfrm>
            <a:off x="457200" y="1219200"/>
            <a:ext cx="8229600" cy="5029200"/>
          </a:xfrm>
        </p:spPr>
        <p:txBody>
          <a:bodyPr>
            <a:normAutofit/>
          </a:bodyPr>
          <a:lstStyle/>
          <a:p>
            <a:pPr>
              <a:buNone/>
            </a:pPr>
            <a:endParaRPr lang="en-US" sz="2400" dirty="0">
              <a:solidFill>
                <a:srgbClr val="000000"/>
              </a:solidFill>
            </a:endParaRPr>
          </a:p>
          <a:p>
            <a:pPr lvl="2"/>
            <a:endParaRPr lang="en-US" dirty="0">
              <a:solidFill>
                <a:srgbClr val="000000"/>
              </a:solidFill>
            </a:endParaRPr>
          </a:p>
          <a:p>
            <a:endParaRPr lang="en-US" dirty="0">
              <a:solidFill>
                <a:srgbClr val="000000"/>
              </a:solidFill>
            </a:endParaRPr>
          </a:p>
        </p:txBody>
      </p:sp>
      <p:graphicFrame>
        <p:nvGraphicFramePr>
          <p:cNvPr id="49" name="Table 48"/>
          <p:cNvGraphicFramePr>
            <a:graphicFrameLocks noGrp="1"/>
          </p:cNvGraphicFramePr>
          <p:nvPr/>
        </p:nvGraphicFramePr>
        <p:xfrm>
          <a:off x="1524000" y="1564640"/>
          <a:ext cx="6096000" cy="1483360"/>
        </p:xfrm>
        <a:graphic>
          <a:graphicData uri="http://schemas.openxmlformats.org/drawingml/2006/table">
            <a:tbl>
              <a:tblPr bandRow="1">
                <a:tableStyleId>{5940675A-B579-460E-94D1-54222C63F5DA}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endParaRPr lang="en-US" dirty="0"/>
                    </a:p>
                  </a:txBody>
                  <a:tcPr/>
                </a:tc>
                <a:tc>
                  <a:txBody>
                    <a:bodyPr/>
                    <a:lstStyle/>
                    <a:p>
                      <a:pPr algn="ctr"/>
                      <a:r>
                        <a:rPr lang="en-US" dirty="0"/>
                        <a:t>Turnaround time</a:t>
                      </a:r>
                    </a:p>
                  </a:txBody>
                  <a:tcPr/>
                </a:tc>
                <a:tc>
                  <a:txBody>
                    <a:bodyPr/>
                    <a:lstStyle/>
                    <a:p>
                      <a:pPr algn="ctr"/>
                      <a:r>
                        <a:rPr lang="en-US" dirty="0"/>
                        <a:t>Response time</a:t>
                      </a:r>
                    </a:p>
                  </a:txBody>
                  <a:tcPr/>
                </a:tc>
                <a:extLst>
                  <a:ext uri="{0D108BD9-81ED-4DB2-BD59-A6C34878D82A}">
                    <a16:rowId xmlns:a16="http://schemas.microsoft.com/office/drawing/2014/main" val="10000"/>
                  </a:ext>
                </a:extLst>
              </a:tr>
              <a:tr h="370840">
                <a:tc>
                  <a:txBody>
                    <a:bodyPr/>
                    <a:lstStyle/>
                    <a:p>
                      <a:pPr algn="ctr"/>
                      <a:r>
                        <a:rPr lang="en-US" dirty="0"/>
                        <a:t>FCFS</a:t>
                      </a:r>
                    </a:p>
                  </a:txBody>
                  <a:tcPr/>
                </a:tc>
                <a:tc>
                  <a:txBody>
                    <a:bodyPr/>
                    <a:lstStyle/>
                    <a:p>
                      <a:pPr algn="ctr"/>
                      <a:r>
                        <a:rPr lang="en-US" dirty="0"/>
                        <a:t>15.25</a:t>
                      </a:r>
                    </a:p>
                  </a:txBody>
                  <a:tcPr/>
                </a:tc>
                <a:tc>
                  <a:txBody>
                    <a:bodyPr/>
                    <a:lstStyle/>
                    <a:p>
                      <a:pPr algn="ctr"/>
                      <a:r>
                        <a:rPr lang="en-US" dirty="0"/>
                        <a:t>8.75</a:t>
                      </a:r>
                    </a:p>
                  </a:txBody>
                  <a:tcPr/>
                </a:tc>
                <a:extLst>
                  <a:ext uri="{0D108BD9-81ED-4DB2-BD59-A6C34878D82A}">
                    <a16:rowId xmlns:a16="http://schemas.microsoft.com/office/drawing/2014/main" val="10001"/>
                  </a:ext>
                </a:extLst>
              </a:tr>
              <a:tr h="370840">
                <a:tc>
                  <a:txBody>
                    <a:bodyPr/>
                    <a:lstStyle/>
                    <a:p>
                      <a:pPr algn="ctr"/>
                      <a:r>
                        <a:rPr lang="en-US" dirty="0"/>
                        <a:t>SJF-preemptive</a:t>
                      </a:r>
                    </a:p>
                  </a:txBody>
                  <a:tcPr/>
                </a:tc>
                <a:tc>
                  <a:txBody>
                    <a:bodyPr/>
                    <a:lstStyle/>
                    <a:p>
                      <a:pPr algn="ctr"/>
                      <a:r>
                        <a:rPr lang="en-US" b="1" dirty="0">
                          <a:solidFill>
                            <a:srgbClr val="FF0000"/>
                          </a:solidFill>
                        </a:rPr>
                        <a:t>13</a:t>
                      </a:r>
                    </a:p>
                  </a:txBody>
                  <a:tcPr/>
                </a:tc>
                <a:tc>
                  <a:txBody>
                    <a:bodyPr/>
                    <a:lstStyle/>
                    <a:p>
                      <a:pPr algn="ctr"/>
                      <a:r>
                        <a:rPr lang="en-US" b="1" dirty="0">
                          <a:solidFill>
                            <a:srgbClr val="FF0000"/>
                          </a:solidFill>
                        </a:rPr>
                        <a:t>4.25</a:t>
                      </a:r>
                    </a:p>
                  </a:txBody>
                  <a:tcPr/>
                </a:tc>
                <a:extLst>
                  <a:ext uri="{0D108BD9-81ED-4DB2-BD59-A6C34878D82A}">
                    <a16:rowId xmlns:a16="http://schemas.microsoft.com/office/drawing/2014/main" val="10002"/>
                  </a:ext>
                </a:extLst>
              </a:tr>
              <a:tr h="370840">
                <a:tc>
                  <a:txBody>
                    <a:bodyPr/>
                    <a:lstStyle/>
                    <a:p>
                      <a:pPr algn="ctr"/>
                      <a:r>
                        <a:rPr lang="en-US" dirty="0"/>
                        <a:t>RR (q=5)</a:t>
                      </a:r>
                    </a:p>
                  </a:txBody>
                  <a:tcPr/>
                </a:tc>
                <a:tc>
                  <a:txBody>
                    <a:bodyPr/>
                    <a:lstStyle/>
                    <a:p>
                      <a:pPr algn="ctr"/>
                      <a:r>
                        <a:rPr lang="en-US" dirty="0"/>
                        <a:t>17.5</a:t>
                      </a:r>
                    </a:p>
                  </a:txBody>
                  <a:tcPr/>
                </a:tc>
                <a:tc>
                  <a:txBody>
                    <a:bodyPr/>
                    <a:lstStyle/>
                    <a:p>
                      <a:pPr algn="ctr"/>
                      <a:r>
                        <a:rPr lang="en-US" dirty="0"/>
                        <a:t>5.5</a:t>
                      </a:r>
                    </a:p>
                  </a:txBody>
                  <a:tcPr/>
                </a:tc>
                <a:extLst>
                  <a:ext uri="{0D108BD9-81ED-4DB2-BD59-A6C34878D82A}">
                    <a16:rowId xmlns:a16="http://schemas.microsoft.com/office/drawing/2014/main" val="10003"/>
                  </a:ext>
                </a:extLst>
              </a:tr>
            </a:tbl>
          </a:graphicData>
        </a:graphic>
      </p:graphicFrame>
      <p:graphicFrame>
        <p:nvGraphicFramePr>
          <p:cNvPr id="50" name="Table 49"/>
          <p:cNvGraphicFramePr>
            <a:graphicFrameLocks noGrp="1"/>
          </p:cNvGraphicFramePr>
          <p:nvPr/>
        </p:nvGraphicFramePr>
        <p:xfrm>
          <a:off x="1143000" y="3556000"/>
          <a:ext cx="7010400" cy="2123440"/>
        </p:xfrm>
        <a:graphic>
          <a:graphicData uri="http://schemas.openxmlformats.org/drawingml/2006/table">
            <a:tbl>
              <a:tblPr bandRow="1">
                <a:tableStyleId>{5940675A-B579-460E-94D1-54222C63F5DA}</a:tableStyleId>
              </a:tblPr>
              <a:tblGrid>
                <a:gridCol w="2103120">
                  <a:extLst>
                    <a:ext uri="{9D8B030D-6E8A-4147-A177-3AD203B41FA5}">
                      <a16:colId xmlns:a16="http://schemas.microsoft.com/office/drawing/2014/main" val="20000"/>
                    </a:ext>
                  </a:extLst>
                </a:gridCol>
                <a:gridCol w="1791548">
                  <a:extLst>
                    <a:ext uri="{9D8B030D-6E8A-4147-A177-3AD203B41FA5}">
                      <a16:colId xmlns:a16="http://schemas.microsoft.com/office/drawing/2014/main" val="20001"/>
                    </a:ext>
                  </a:extLst>
                </a:gridCol>
                <a:gridCol w="1817511">
                  <a:extLst>
                    <a:ext uri="{9D8B030D-6E8A-4147-A177-3AD203B41FA5}">
                      <a16:colId xmlns:a16="http://schemas.microsoft.com/office/drawing/2014/main" val="20002"/>
                    </a:ext>
                  </a:extLst>
                </a:gridCol>
                <a:gridCol w="1298221">
                  <a:extLst>
                    <a:ext uri="{9D8B030D-6E8A-4147-A177-3AD203B41FA5}">
                      <a16:colId xmlns:a16="http://schemas.microsoft.com/office/drawing/2014/main" val="20003"/>
                    </a:ext>
                  </a:extLst>
                </a:gridCol>
              </a:tblGrid>
              <a:tr h="370840">
                <a:tc>
                  <a:txBody>
                    <a:bodyPr/>
                    <a:lstStyle/>
                    <a:p>
                      <a:pPr algn="ctr"/>
                      <a:endParaRPr lang="en-US" dirty="0"/>
                    </a:p>
                  </a:txBody>
                  <a:tcPr/>
                </a:tc>
                <a:tc>
                  <a:txBody>
                    <a:bodyPr/>
                    <a:lstStyle/>
                    <a:p>
                      <a:pPr algn="ctr"/>
                      <a:r>
                        <a:rPr lang="en-US" dirty="0"/>
                        <a:t>Throughput</a:t>
                      </a:r>
                    </a:p>
                  </a:txBody>
                  <a:tcPr/>
                </a:tc>
                <a:tc>
                  <a:txBody>
                    <a:bodyPr/>
                    <a:lstStyle/>
                    <a:p>
                      <a:pPr algn="ctr"/>
                      <a:r>
                        <a:rPr lang="en-US" dirty="0"/>
                        <a:t>Response time</a:t>
                      </a:r>
                    </a:p>
                  </a:txBody>
                  <a:tcPr/>
                </a:tc>
                <a:tc>
                  <a:txBody>
                    <a:bodyPr/>
                    <a:lstStyle/>
                    <a:p>
                      <a:pPr algn="ctr"/>
                      <a:r>
                        <a:rPr lang="en-US" dirty="0"/>
                        <a:t>Starvation </a:t>
                      </a:r>
                    </a:p>
                  </a:txBody>
                  <a:tcPr/>
                </a:tc>
                <a:extLst>
                  <a:ext uri="{0D108BD9-81ED-4DB2-BD59-A6C34878D82A}">
                    <a16:rowId xmlns:a16="http://schemas.microsoft.com/office/drawing/2014/main" val="10000"/>
                  </a:ext>
                </a:extLst>
              </a:tr>
              <a:tr h="370840">
                <a:tc>
                  <a:txBody>
                    <a:bodyPr/>
                    <a:lstStyle/>
                    <a:p>
                      <a:pPr algn="ctr"/>
                      <a:r>
                        <a:rPr lang="en-US" dirty="0"/>
                        <a:t>FCFS</a:t>
                      </a:r>
                    </a:p>
                  </a:txBody>
                  <a:tcPr/>
                </a:tc>
                <a:tc>
                  <a:txBody>
                    <a:bodyPr/>
                    <a:lstStyle/>
                    <a:p>
                      <a:pPr algn="ctr"/>
                      <a:r>
                        <a:rPr lang="en-US" dirty="0"/>
                        <a:t>Depends</a:t>
                      </a:r>
                    </a:p>
                  </a:txBody>
                  <a:tcPr/>
                </a:tc>
                <a:tc>
                  <a:txBody>
                    <a:bodyPr/>
                    <a:lstStyle/>
                    <a:p>
                      <a:pPr algn="ctr"/>
                      <a:r>
                        <a:rPr lang="en-US" dirty="0"/>
                        <a:t>Depends</a:t>
                      </a:r>
                    </a:p>
                  </a:txBody>
                  <a:tcPr/>
                </a:tc>
                <a:tc>
                  <a:txBody>
                    <a:bodyPr/>
                    <a:lstStyle/>
                    <a:p>
                      <a:pPr algn="ctr"/>
                      <a:r>
                        <a:rPr lang="en-US" dirty="0"/>
                        <a:t>No</a:t>
                      </a:r>
                    </a:p>
                  </a:txBody>
                  <a:tcPr/>
                </a:tc>
                <a:extLst>
                  <a:ext uri="{0D108BD9-81ED-4DB2-BD59-A6C34878D82A}">
                    <a16:rowId xmlns:a16="http://schemas.microsoft.com/office/drawing/2014/main" val="10001"/>
                  </a:ext>
                </a:extLst>
              </a:tr>
              <a:tr h="370840">
                <a:tc>
                  <a:txBody>
                    <a:bodyPr/>
                    <a:lstStyle/>
                    <a:p>
                      <a:pPr algn="ctr"/>
                      <a:r>
                        <a:rPr lang="en-US" dirty="0"/>
                        <a:t>SJF-preemptive</a:t>
                      </a:r>
                    </a:p>
                  </a:txBody>
                  <a:tcPr/>
                </a:tc>
                <a:tc>
                  <a:txBody>
                    <a:bodyPr/>
                    <a:lstStyle/>
                    <a:p>
                      <a:pPr algn="ctr"/>
                      <a:r>
                        <a:rPr lang="en-US" b="0" dirty="0">
                          <a:solidFill>
                            <a:schemeClr val="tx1"/>
                          </a:solidFill>
                        </a:rPr>
                        <a:t>High</a:t>
                      </a:r>
                    </a:p>
                  </a:txBody>
                  <a:tcPr/>
                </a:tc>
                <a:tc>
                  <a:txBody>
                    <a:bodyPr/>
                    <a:lstStyle/>
                    <a:p>
                      <a:pPr algn="ctr"/>
                      <a:r>
                        <a:rPr lang="en-US" b="0" dirty="0">
                          <a:solidFill>
                            <a:schemeClr val="tx1"/>
                          </a:solidFill>
                        </a:rPr>
                        <a:t>Good</a:t>
                      </a:r>
                    </a:p>
                  </a:txBody>
                  <a:tcPr/>
                </a:tc>
                <a:tc>
                  <a:txBody>
                    <a:bodyPr/>
                    <a:lstStyle/>
                    <a:p>
                      <a:pPr algn="ctr"/>
                      <a:r>
                        <a:rPr lang="en-US" b="0" dirty="0">
                          <a:solidFill>
                            <a:schemeClr val="tx1"/>
                          </a:solidFill>
                        </a:rPr>
                        <a:t>Yes</a:t>
                      </a:r>
                    </a:p>
                  </a:txBody>
                  <a:tcPr/>
                </a:tc>
                <a:extLst>
                  <a:ext uri="{0D108BD9-81ED-4DB2-BD59-A6C34878D82A}">
                    <a16:rowId xmlns:a16="http://schemas.microsoft.com/office/drawing/2014/main" val="10002"/>
                  </a:ext>
                </a:extLst>
              </a:tr>
              <a:tr h="370840">
                <a:tc>
                  <a:txBody>
                    <a:bodyPr/>
                    <a:lstStyle/>
                    <a:p>
                      <a:pPr algn="ctr"/>
                      <a:r>
                        <a:rPr lang="en-US" dirty="0"/>
                        <a:t>RR</a:t>
                      </a:r>
                    </a:p>
                  </a:txBody>
                  <a:tcPr/>
                </a:tc>
                <a:tc>
                  <a:txBody>
                    <a:bodyPr/>
                    <a:lstStyle/>
                    <a:p>
                      <a:pPr algn="ctr"/>
                      <a:r>
                        <a:rPr lang="en-US" dirty="0"/>
                        <a:t>Can</a:t>
                      </a:r>
                      <a:r>
                        <a:rPr lang="en-US" baseline="0" dirty="0"/>
                        <a:t> be low</a:t>
                      </a:r>
                      <a:endParaRPr lang="en-US" dirty="0"/>
                    </a:p>
                  </a:txBody>
                  <a:tcPr/>
                </a:tc>
                <a:tc>
                  <a:txBody>
                    <a:bodyPr/>
                    <a:lstStyle/>
                    <a:p>
                      <a:pPr algn="ctr"/>
                      <a:r>
                        <a:rPr lang="en-US" dirty="0"/>
                        <a:t>Good</a:t>
                      </a:r>
                    </a:p>
                  </a:txBody>
                  <a:tcPr/>
                </a:tc>
                <a:tc>
                  <a:txBody>
                    <a:bodyPr/>
                    <a:lstStyle/>
                    <a:p>
                      <a:pPr algn="ctr"/>
                      <a:r>
                        <a:rPr lang="en-US" dirty="0"/>
                        <a:t>No</a:t>
                      </a:r>
                    </a:p>
                  </a:txBody>
                  <a:tcPr/>
                </a:tc>
                <a:extLst>
                  <a:ext uri="{0D108BD9-81ED-4DB2-BD59-A6C34878D82A}">
                    <a16:rowId xmlns:a16="http://schemas.microsoft.com/office/drawing/2014/main" val="10003"/>
                  </a:ext>
                </a:extLst>
              </a:tr>
              <a:tr h="370840">
                <a:tc>
                  <a:txBody>
                    <a:bodyPr/>
                    <a:lstStyle/>
                    <a:p>
                      <a:pPr algn="ctr"/>
                      <a:r>
                        <a:rPr lang="en-US" dirty="0"/>
                        <a:t>Priority scheduling</a:t>
                      </a:r>
                    </a:p>
                  </a:txBody>
                  <a:tcPr/>
                </a:tc>
                <a:tc>
                  <a:txBody>
                    <a:bodyPr/>
                    <a:lstStyle/>
                    <a:p>
                      <a:pPr algn="ctr"/>
                      <a:r>
                        <a:rPr lang="en-US" dirty="0"/>
                        <a:t>Can be high</a:t>
                      </a:r>
                    </a:p>
                  </a:txBody>
                  <a:tcPr/>
                </a:tc>
                <a:tc>
                  <a:txBody>
                    <a:bodyPr/>
                    <a:lstStyle/>
                    <a:p>
                      <a:pPr algn="ctr"/>
                      <a:r>
                        <a:rPr lang="en-US" dirty="0"/>
                        <a:t>Can be good</a:t>
                      </a:r>
                    </a:p>
                  </a:txBody>
                  <a:tcPr/>
                </a:tc>
                <a:tc>
                  <a:txBody>
                    <a:bodyPr/>
                    <a:lstStyle/>
                    <a:p>
                      <a:pPr algn="ctr"/>
                      <a:r>
                        <a:rPr lang="en-US" dirty="0"/>
                        <a:t>Can</a:t>
                      </a:r>
                      <a:r>
                        <a:rPr lang="en-US" baseline="0" dirty="0"/>
                        <a:t> remove</a:t>
                      </a:r>
                      <a:endParaRPr lang="en-US" dirty="0"/>
                    </a:p>
                  </a:txBody>
                  <a:tcPr/>
                </a:tc>
                <a:extLst>
                  <a:ext uri="{0D108BD9-81ED-4DB2-BD59-A6C34878D82A}">
                    <a16:rowId xmlns:a16="http://schemas.microsoft.com/office/drawing/2014/main" val="10004"/>
                  </a:ext>
                </a:extLst>
              </a:tr>
            </a:tbl>
          </a:graphicData>
        </a:graphic>
      </p:graphicFrame>
      <p:sp>
        <p:nvSpPr>
          <p:cNvPr id="52" name="Down Arrow 51"/>
          <p:cNvSpPr/>
          <p:nvPr/>
        </p:nvSpPr>
        <p:spPr>
          <a:xfrm>
            <a:off x="2057400" y="5486400"/>
            <a:ext cx="304800" cy="304800"/>
          </a:xfrm>
          <a:prstGeom prst="downArrow">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p:nvPr/>
        </p:nvSpPr>
        <p:spPr>
          <a:xfrm>
            <a:off x="908514" y="5791200"/>
            <a:ext cx="2749086" cy="369332"/>
          </a:xfrm>
          <a:prstGeom prst="rect">
            <a:avLst/>
          </a:prstGeom>
          <a:noFill/>
        </p:spPr>
        <p:txBody>
          <a:bodyPr wrap="none" rtlCol="0">
            <a:spAutoFit/>
          </a:bodyPr>
          <a:lstStyle/>
          <a:p>
            <a:r>
              <a:rPr lang="en-US" dirty="0"/>
              <a:t>Multilevel Feedback Queue</a:t>
            </a:r>
          </a:p>
        </p:txBody>
      </p:sp>
      <p:sp>
        <p:nvSpPr>
          <p:cNvPr id="6" name="Slide Number Placeholder 5">
            <a:extLst>
              <a:ext uri="{FF2B5EF4-FFF2-40B4-BE49-F238E27FC236}">
                <a16:creationId xmlns:a16="http://schemas.microsoft.com/office/drawing/2014/main" id="{61C02369-5DBE-57F0-6BA5-79A344707FCB}"/>
              </a:ext>
            </a:extLst>
          </p:cNvPr>
          <p:cNvSpPr>
            <a:spLocks noGrp="1"/>
          </p:cNvSpPr>
          <p:nvPr>
            <p:ph type="sldNum" sz="quarter" idx="12"/>
          </p:nvPr>
        </p:nvSpPr>
        <p:spPr/>
        <p:txBody>
          <a:bodyPr/>
          <a:lstStyle/>
          <a:p>
            <a:r>
              <a:rPr lang="en-US"/>
              <a:t>CS4500/5500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linds(horizontal)">
                                      <p:cBhvr>
                                        <p:cTn id="7" dur="500"/>
                                        <p:tgtEl>
                                          <p:spTgt spid="5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blinds(horizontal)">
                                      <p:cBhvr>
                                        <p:cTn id="10" dur="500"/>
                                        <p:tgtEl>
                                          <p:spTgt spid="5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blinds(horizontal)">
                                      <p:cBhvr>
                                        <p:cTn id="13"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3" grpId="0"/>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41"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42"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43"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44"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45"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46"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pic>
        <p:nvPicPr>
          <p:cNvPr id="35" name="Picture 11" descr="Writing an appointment on a paper agenda">
            <a:extLst>
              <a:ext uri="{FF2B5EF4-FFF2-40B4-BE49-F238E27FC236}">
                <a16:creationId xmlns:a16="http://schemas.microsoft.com/office/drawing/2014/main" id="{B2B06810-E790-6854-031B-3475860435CC}"/>
              </a:ext>
            </a:extLst>
          </p:cNvPr>
          <p:cNvPicPr>
            <a:picLocks noChangeAspect="1"/>
          </p:cNvPicPr>
          <p:nvPr/>
        </p:nvPicPr>
        <p:blipFill rotWithShape="1">
          <a:blip r:embed="rId2">
            <a:alphaModFix amt="35000"/>
          </a:blip>
          <a:srcRect r="10999" b="-1"/>
          <a:stretch/>
        </p:blipFill>
        <p:spPr>
          <a:xfrm>
            <a:off x="20" y="10"/>
            <a:ext cx="9143980" cy="6857990"/>
          </a:xfrm>
          <a:prstGeom prst="rect">
            <a:avLst/>
          </a:prstGeom>
        </p:spPr>
      </p:pic>
      <p:sp>
        <p:nvSpPr>
          <p:cNvPr id="9" name="Title 8">
            <a:extLst>
              <a:ext uri="{FF2B5EF4-FFF2-40B4-BE49-F238E27FC236}">
                <a16:creationId xmlns:a16="http://schemas.microsoft.com/office/drawing/2014/main" id="{9F2ED07E-DB0E-C0D8-644F-1C61E6A91A17}"/>
              </a:ext>
            </a:extLst>
          </p:cNvPr>
          <p:cNvSpPr>
            <a:spLocks noGrp="1"/>
          </p:cNvSpPr>
          <p:nvPr>
            <p:ph type="title"/>
          </p:nvPr>
        </p:nvSpPr>
        <p:spPr>
          <a:xfrm>
            <a:off x="2196300" y="1380068"/>
            <a:ext cx="6430967" cy="2616199"/>
          </a:xfrm>
        </p:spPr>
        <p:txBody>
          <a:bodyPr vert="horz" lIns="91440" tIns="45720" rIns="91440" bIns="45720" rtlCol="0" anchor="b">
            <a:normAutofit/>
          </a:bodyPr>
          <a:lstStyle/>
          <a:p>
            <a:r>
              <a:rPr lang="en-US" sz="6000" dirty="0"/>
              <a:t>Multi-level Queue Scheduling</a:t>
            </a:r>
          </a:p>
        </p:txBody>
      </p:sp>
      <p:sp>
        <p:nvSpPr>
          <p:cNvPr id="10" name="Text Placeholder 9">
            <a:extLst>
              <a:ext uri="{FF2B5EF4-FFF2-40B4-BE49-F238E27FC236}">
                <a16:creationId xmlns:a16="http://schemas.microsoft.com/office/drawing/2014/main" id="{D7EB645F-249D-9F9A-0779-3F012AADFFD8}"/>
              </a:ext>
            </a:extLst>
          </p:cNvPr>
          <p:cNvSpPr>
            <a:spLocks noGrp="1"/>
          </p:cNvSpPr>
          <p:nvPr>
            <p:ph type="body" idx="1"/>
          </p:nvPr>
        </p:nvSpPr>
        <p:spPr>
          <a:xfrm>
            <a:off x="3386532" y="3996267"/>
            <a:ext cx="5240734" cy="1388534"/>
          </a:xfrm>
        </p:spPr>
        <p:txBody>
          <a:bodyPr vert="horz" lIns="91440" tIns="45720" rIns="91440" bIns="45720" rtlCol="0" anchor="t">
            <a:normAutofit/>
          </a:bodyPr>
          <a:lstStyle/>
          <a:p>
            <a:endParaRPr lang="en-US" sz="2100"/>
          </a:p>
        </p:txBody>
      </p:sp>
      <p:grpSp>
        <p:nvGrpSpPr>
          <p:cNvPr id="48" name="Group 47">
            <a:extLst>
              <a:ext uri="{FF2B5EF4-FFF2-40B4-BE49-F238E27FC236}">
                <a16:creationId xmlns:a16="http://schemas.microsoft.com/office/drawing/2014/main" id="{0A3EF779-83DD-4EB0-9F4C-7304381A28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49" name="Freeform 6">
              <a:extLst>
                <a:ext uri="{FF2B5EF4-FFF2-40B4-BE49-F238E27FC236}">
                  <a16:creationId xmlns:a16="http://schemas.microsoft.com/office/drawing/2014/main" id="{772C8C0C-10E0-4305-95B6-F0A11F0AD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rgbClr val="30ACEC"/>
            </a:solidFill>
            <a:ln>
              <a:noFill/>
            </a:ln>
          </p:spPr>
          <p:txBody>
            <a:bodyPr/>
            <a:lstStyle/>
            <a:p>
              <a:endParaRPr lang="en-US"/>
            </a:p>
          </p:txBody>
        </p:sp>
        <p:sp>
          <p:nvSpPr>
            <p:cNvPr id="50" name="Freeform 7">
              <a:extLst>
                <a:ext uri="{FF2B5EF4-FFF2-40B4-BE49-F238E27FC236}">
                  <a16:creationId xmlns:a16="http://schemas.microsoft.com/office/drawing/2014/main" id="{ED6F480D-2F2A-4E97-B196-39B35C4BF8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ysClr val="windowText" lastClr="000000">
                <a:lumMod val="65000"/>
                <a:lumOff val="35000"/>
              </a:sysClr>
            </a:solidFill>
            <a:ln>
              <a:noFill/>
            </a:ln>
          </p:spPr>
          <p:txBody>
            <a:bodyPr/>
            <a:lstStyle/>
            <a:p>
              <a:endParaRPr lang="en-US"/>
            </a:p>
          </p:txBody>
        </p:sp>
        <p:sp>
          <p:nvSpPr>
            <p:cNvPr id="51" name="Freeform 9">
              <a:extLst>
                <a:ext uri="{FF2B5EF4-FFF2-40B4-BE49-F238E27FC236}">
                  <a16:creationId xmlns:a16="http://schemas.microsoft.com/office/drawing/2014/main" id="{65ACA5CB-4926-4AA1-8B0D-0A8C294D3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ysClr val="windowText" lastClr="000000">
                <a:lumMod val="85000"/>
                <a:lumOff val="15000"/>
              </a:sysClr>
            </a:solidFill>
            <a:ln>
              <a:noFill/>
            </a:ln>
          </p:spPr>
          <p:txBody>
            <a:bodyPr/>
            <a:lstStyle/>
            <a:p>
              <a:endParaRPr lang="en-US"/>
            </a:p>
          </p:txBody>
        </p:sp>
        <p:sp>
          <p:nvSpPr>
            <p:cNvPr id="52" name="Freeform 10">
              <a:extLst>
                <a:ext uri="{FF2B5EF4-FFF2-40B4-BE49-F238E27FC236}">
                  <a16:creationId xmlns:a16="http://schemas.microsoft.com/office/drawing/2014/main" id="{1FC1EC6E-AED1-4539-B157-052264991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rgbClr val="30ACEC">
                <a:lumMod val="50000"/>
              </a:srgbClr>
            </a:solidFill>
            <a:ln>
              <a:noFill/>
            </a:ln>
          </p:spPr>
          <p:txBody>
            <a:bodyPr/>
            <a:lstStyle/>
            <a:p>
              <a:endParaRPr lang="en-US"/>
            </a:p>
          </p:txBody>
        </p:sp>
        <p:sp>
          <p:nvSpPr>
            <p:cNvPr id="53" name="Freeform 11">
              <a:extLst>
                <a:ext uri="{FF2B5EF4-FFF2-40B4-BE49-F238E27FC236}">
                  <a16:creationId xmlns:a16="http://schemas.microsoft.com/office/drawing/2014/main" id="{F5C22045-92BD-4CA1-A655-5ADD00283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rgbClr val="30ACEC">
                <a:lumMod val="75000"/>
              </a:srgbClr>
            </a:solidFill>
            <a:ln>
              <a:noFill/>
            </a:ln>
          </p:spPr>
          <p:txBody>
            <a:bodyPr/>
            <a:lstStyle/>
            <a:p>
              <a:endParaRPr lang="en-US"/>
            </a:p>
          </p:txBody>
        </p:sp>
        <p:sp>
          <p:nvSpPr>
            <p:cNvPr id="54" name="Freeform 12">
              <a:extLst>
                <a:ext uri="{FF2B5EF4-FFF2-40B4-BE49-F238E27FC236}">
                  <a16:creationId xmlns:a16="http://schemas.microsoft.com/office/drawing/2014/main" id="{F130A56D-449A-4985-94CD-B749D51FF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ysClr val="windowText" lastClr="000000">
                <a:lumMod val="75000"/>
                <a:lumOff val="25000"/>
              </a:sysClr>
            </a:solidFill>
            <a:ln>
              <a:noFill/>
            </a:ln>
          </p:spPr>
          <p:txBody>
            <a:bodyPr/>
            <a:lstStyle/>
            <a:p>
              <a:endParaRPr lang="en-US"/>
            </a:p>
          </p:txBody>
        </p:sp>
      </p:grpSp>
      <p:sp>
        <p:nvSpPr>
          <p:cNvPr id="3" name="Slide Number Placeholder 2">
            <a:extLst>
              <a:ext uri="{FF2B5EF4-FFF2-40B4-BE49-F238E27FC236}">
                <a16:creationId xmlns:a16="http://schemas.microsoft.com/office/drawing/2014/main" id="{6C38B413-46E1-78EB-9A94-E727CF71D590}"/>
              </a:ext>
            </a:extLst>
          </p:cNvPr>
          <p:cNvSpPr>
            <a:spLocks noGrp="1"/>
          </p:cNvSpPr>
          <p:nvPr>
            <p:ph type="sldNum" sz="quarter" idx="12"/>
          </p:nvPr>
        </p:nvSpPr>
        <p:spPr/>
        <p:txBody>
          <a:bodyPr/>
          <a:lstStyle/>
          <a:p>
            <a:pPr algn="ctr"/>
            <a:r>
              <a:rPr lang="en-US"/>
              <a:t>CS4500/5500</a:t>
            </a:r>
            <a:endParaRPr lang="en-US" dirty="0"/>
          </a:p>
        </p:txBody>
      </p:sp>
    </p:spTree>
    <p:extLst>
      <p:ext uri="{BB962C8B-B14F-4D97-AF65-F5344CB8AC3E}">
        <p14:creationId xmlns:p14="http://schemas.microsoft.com/office/powerpoint/2010/main" val="447180087"/>
      </p:ext>
    </p:extLst>
  </p:cSld>
  <p:clrMapOvr>
    <a:overrideClrMapping bg1="dk1" tx1="lt1" bg2="dk2" tx2="lt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FF14ACA-4C10-3E5A-0CAA-8FC5EDC59BD2}"/>
              </a:ext>
            </a:extLst>
          </p:cNvPr>
          <p:cNvSpPr>
            <a:spLocks noGrp="1"/>
          </p:cNvSpPr>
          <p:nvPr>
            <p:ph type="title"/>
          </p:nvPr>
        </p:nvSpPr>
        <p:spPr/>
        <p:txBody>
          <a:bodyPr/>
          <a:lstStyle/>
          <a:p>
            <a:r>
              <a:rPr lang="en-US" dirty="0"/>
              <a:t>Multi-level Queue Scheduling</a:t>
            </a:r>
          </a:p>
        </p:txBody>
      </p:sp>
      <p:sp>
        <p:nvSpPr>
          <p:cNvPr id="8" name="Content Placeholder 7">
            <a:extLst>
              <a:ext uri="{FF2B5EF4-FFF2-40B4-BE49-F238E27FC236}">
                <a16:creationId xmlns:a16="http://schemas.microsoft.com/office/drawing/2014/main" id="{519B373C-A899-F505-EAFE-92E06F71063A}"/>
              </a:ext>
            </a:extLst>
          </p:cNvPr>
          <p:cNvSpPr>
            <a:spLocks noGrp="1"/>
          </p:cNvSpPr>
          <p:nvPr>
            <p:ph idx="1"/>
          </p:nvPr>
        </p:nvSpPr>
        <p:spPr/>
        <p:txBody>
          <a:bodyPr>
            <a:normAutofit lnSpcReduction="10000"/>
          </a:bodyPr>
          <a:lstStyle/>
          <a:p>
            <a:r>
              <a:rPr lang="en-US" dirty="0"/>
              <a:t>A scheduling algorithm that classifies process into different groups</a:t>
            </a:r>
          </a:p>
          <a:p>
            <a:r>
              <a:rPr lang="en-US" dirty="0"/>
              <a:t>For example, processes could be divided into two categories: Foreground processes and Background processes</a:t>
            </a:r>
          </a:p>
          <a:p>
            <a:pPr lvl="1"/>
            <a:r>
              <a:rPr lang="en-US" dirty="0"/>
              <a:t>The two groups have different response times and scheduling needs</a:t>
            </a:r>
          </a:p>
          <a:p>
            <a:pPr lvl="1"/>
            <a:r>
              <a:rPr lang="en-US" dirty="0"/>
              <a:t>Foreground processes should take priority over background process</a:t>
            </a:r>
          </a:p>
        </p:txBody>
      </p:sp>
      <p:sp>
        <p:nvSpPr>
          <p:cNvPr id="10" name="Slide Number Placeholder 9">
            <a:extLst>
              <a:ext uri="{FF2B5EF4-FFF2-40B4-BE49-F238E27FC236}">
                <a16:creationId xmlns:a16="http://schemas.microsoft.com/office/drawing/2014/main" id="{DCEE4D46-894E-BE86-086C-B84231C1A2A6}"/>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7160761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78B57-5917-6A00-887B-7CBB1D4799A6}"/>
              </a:ext>
            </a:extLst>
          </p:cNvPr>
          <p:cNvSpPr>
            <a:spLocks noGrp="1"/>
          </p:cNvSpPr>
          <p:nvPr>
            <p:ph type="title"/>
          </p:nvPr>
        </p:nvSpPr>
        <p:spPr/>
        <p:txBody>
          <a:bodyPr/>
          <a:lstStyle/>
          <a:p>
            <a:r>
              <a:rPr lang="en-US" dirty="0"/>
              <a:t>Multilevel Queue</a:t>
            </a:r>
          </a:p>
        </p:txBody>
      </p:sp>
      <p:sp>
        <p:nvSpPr>
          <p:cNvPr id="3" name="Content Placeholder 2">
            <a:extLst>
              <a:ext uri="{FF2B5EF4-FFF2-40B4-BE49-F238E27FC236}">
                <a16:creationId xmlns:a16="http://schemas.microsoft.com/office/drawing/2014/main" id="{7AD85122-8277-3902-55D6-5C3A42E0674C}"/>
              </a:ext>
            </a:extLst>
          </p:cNvPr>
          <p:cNvSpPr>
            <a:spLocks noGrp="1"/>
          </p:cNvSpPr>
          <p:nvPr>
            <p:ph idx="1"/>
          </p:nvPr>
        </p:nvSpPr>
        <p:spPr/>
        <p:txBody>
          <a:bodyPr/>
          <a:lstStyle/>
          <a:p>
            <a:r>
              <a:rPr lang="en-US" dirty="0"/>
              <a:t>Schedules groups of processes into several queues</a:t>
            </a:r>
          </a:p>
          <a:p>
            <a:r>
              <a:rPr lang="en-US" dirty="0"/>
              <a:t>Permanently assigned to one queue</a:t>
            </a:r>
          </a:p>
          <a:p>
            <a:r>
              <a:rPr lang="en-US" dirty="0"/>
              <a:t>Based on properties of the process like priority, process type, or memory size</a:t>
            </a:r>
          </a:p>
          <a:p>
            <a:r>
              <a:rPr lang="en-US" dirty="0"/>
              <a:t>Each queue uses a scheduling algorithm</a:t>
            </a:r>
          </a:p>
          <a:p>
            <a:r>
              <a:rPr lang="en-US" dirty="0"/>
              <a:t>Scheduling among the queues – fixed-priority preemptive scheduling</a:t>
            </a:r>
          </a:p>
        </p:txBody>
      </p:sp>
      <p:sp>
        <p:nvSpPr>
          <p:cNvPr id="8" name="Slide Number Placeholder 7">
            <a:extLst>
              <a:ext uri="{FF2B5EF4-FFF2-40B4-BE49-F238E27FC236}">
                <a16:creationId xmlns:a16="http://schemas.microsoft.com/office/drawing/2014/main" id="{F4FBF83A-48E2-65A3-5994-AD26B0FB3C41}"/>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3997245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41"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42"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43"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44"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45"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46"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useBgFill="1">
        <p:nvSpPr>
          <p:cNvPr id="48" name="Rectangle 47">
            <a:extLst>
              <a:ext uri="{FF2B5EF4-FFF2-40B4-BE49-F238E27FC236}">
                <a16:creationId xmlns:a16="http://schemas.microsoft.com/office/drawing/2014/main" id="{F64080D6-34DE-4277-97CC-2FB381284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11" descr="Writing an appointment on a paper agenda">
            <a:extLst>
              <a:ext uri="{FF2B5EF4-FFF2-40B4-BE49-F238E27FC236}">
                <a16:creationId xmlns:a16="http://schemas.microsoft.com/office/drawing/2014/main" id="{B2B06810-E790-6854-031B-3475860435CC}"/>
              </a:ext>
            </a:extLst>
          </p:cNvPr>
          <p:cNvPicPr>
            <a:picLocks noChangeAspect="1"/>
          </p:cNvPicPr>
          <p:nvPr/>
        </p:nvPicPr>
        <p:blipFill rotWithShape="1">
          <a:blip r:embed="rId3">
            <a:alphaModFix amt="40000"/>
          </a:blip>
          <a:srcRect r="10999" b="-1"/>
          <a:stretch/>
        </p:blipFill>
        <p:spPr>
          <a:xfrm>
            <a:off x="20" y="10"/>
            <a:ext cx="9143980" cy="6857990"/>
          </a:xfrm>
          <a:prstGeom prst="rect">
            <a:avLst/>
          </a:prstGeom>
        </p:spPr>
      </p:pic>
      <p:sp>
        <p:nvSpPr>
          <p:cNvPr id="9" name="Title 8">
            <a:extLst>
              <a:ext uri="{FF2B5EF4-FFF2-40B4-BE49-F238E27FC236}">
                <a16:creationId xmlns:a16="http://schemas.microsoft.com/office/drawing/2014/main" id="{9F2ED07E-DB0E-C0D8-644F-1C61E6A91A17}"/>
              </a:ext>
            </a:extLst>
          </p:cNvPr>
          <p:cNvSpPr>
            <a:spLocks noGrp="1"/>
          </p:cNvSpPr>
          <p:nvPr>
            <p:ph type="title"/>
          </p:nvPr>
        </p:nvSpPr>
        <p:spPr>
          <a:xfrm>
            <a:off x="2196300" y="1380068"/>
            <a:ext cx="6430967" cy="2616199"/>
          </a:xfrm>
        </p:spPr>
        <p:txBody>
          <a:bodyPr vert="horz" lIns="91440" tIns="45720" rIns="91440" bIns="45720" rtlCol="0" anchor="b">
            <a:normAutofit fontScale="90000"/>
          </a:bodyPr>
          <a:lstStyle/>
          <a:p>
            <a:r>
              <a:rPr lang="en-US" sz="6000" dirty="0"/>
              <a:t>Multilevel Feedback Queue Scheduling</a:t>
            </a:r>
          </a:p>
        </p:txBody>
      </p:sp>
      <p:sp>
        <p:nvSpPr>
          <p:cNvPr id="10" name="Text Placeholder 9">
            <a:extLst>
              <a:ext uri="{FF2B5EF4-FFF2-40B4-BE49-F238E27FC236}">
                <a16:creationId xmlns:a16="http://schemas.microsoft.com/office/drawing/2014/main" id="{D7EB645F-249D-9F9A-0779-3F012AADFFD8}"/>
              </a:ext>
            </a:extLst>
          </p:cNvPr>
          <p:cNvSpPr>
            <a:spLocks noGrp="1"/>
          </p:cNvSpPr>
          <p:nvPr>
            <p:ph type="body" idx="1"/>
          </p:nvPr>
        </p:nvSpPr>
        <p:spPr>
          <a:xfrm>
            <a:off x="3386532" y="3996267"/>
            <a:ext cx="5240734" cy="1388534"/>
          </a:xfrm>
        </p:spPr>
        <p:txBody>
          <a:bodyPr vert="horz" lIns="91440" tIns="45720" rIns="91440" bIns="45720" rtlCol="0" anchor="t">
            <a:normAutofit/>
          </a:bodyPr>
          <a:lstStyle/>
          <a:p>
            <a:endParaRPr lang="en-US" sz="2100"/>
          </a:p>
        </p:txBody>
      </p:sp>
      <p:sp>
        <p:nvSpPr>
          <p:cNvPr id="3" name="Slide Number Placeholder 2">
            <a:extLst>
              <a:ext uri="{FF2B5EF4-FFF2-40B4-BE49-F238E27FC236}">
                <a16:creationId xmlns:a16="http://schemas.microsoft.com/office/drawing/2014/main" id="{DA82C73C-C8C6-1E10-60F4-FF2F5C33BF15}"/>
              </a:ext>
            </a:extLst>
          </p:cNvPr>
          <p:cNvSpPr>
            <a:spLocks noGrp="1"/>
          </p:cNvSpPr>
          <p:nvPr>
            <p:ph type="sldNum" sz="quarter" idx="12"/>
          </p:nvPr>
        </p:nvSpPr>
        <p:spPr/>
        <p:txBody>
          <a:bodyPr/>
          <a:lstStyle/>
          <a:p>
            <a:pPr algn="ctr"/>
            <a:r>
              <a:rPr lang="en-US"/>
              <a:t>CS4500/5500</a:t>
            </a:r>
            <a:endParaRPr lang="en-US" dirty="0"/>
          </a:p>
        </p:txBody>
      </p:sp>
    </p:spTree>
    <p:extLst>
      <p:ext uri="{BB962C8B-B14F-4D97-AF65-F5344CB8AC3E}">
        <p14:creationId xmlns:p14="http://schemas.microsoft.com/office/powerpoint/2010/main" val="100665076"/>
      </p:ext>
    </p:extLst>
  </p:cSld>
  <p:clrMapOvr>
    <a:overrideClrMapping bg1="dk1" tx1="lt1" bg2="dk2" tx2="lt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AE843-7D0C-BCD4-89CD-E834A91DA550}"/>
              </a:ext>
            </a:extLst>
          </p:cNvPr>
          <p:cNvSpPr>
            <a:spLocks noGrp="1"/>
          </p:cNvSpPr>
          <p:nvPr>
            <p:ph type="title"/>
          </p:nvPr>
        </p:nvSpPr>
        <p:spPr/>
        <p:txBody>
          <a:bodyPr/>
          <a:lstStyle/>
          <a:p>
            <a:r>
              <a:rPr lang="en-US" dirty="0"/>
              <a:t>Multilevel Feedback Queue Scheduling</a:t>
            </a:r>
          </a:p>
        </p:txBody>
      </p:sp>
      <p:sp>
        <p:nvSpPr>
          <p:cNvPr id="3" name="Content Placeholder 2">
            <a:extLst>
              <a:ext uri="{FF2B5EF4-FFF2-40B4-BE49-F238E27FC236}">
                <a16:creationId xmlns:a16="http://schemas.microsoft.com/office/drawing/2014/main" id="{1DE64695-2CE3-D254-4AE1-13B06AB3191A}"/>
              </a:ext>
            </a:extLst>
          </p:cNvPr>
          <p:cNvSpPr>
            <a:spLocks noGrp="1"/>
          </p:cNvSpPr>
          <p:nvPr>
            <p:ph idx="1"/>
          </p:nvPr>
        </p:nvSpPr>
        <p:spPr/>
        <p:txBody>
          <a:bodyPr/>
          <a:lstStyle/>
          <a:p>
            <a:r>
              <a:rPr lang="en-US" dirty="0"/>
              <a:t>Like Multilevel Queue Scheduling, processes are grouped by similar characteristics, but in Multilevel Feedback Queue Scheduling processes are not permanently assigned queues, they can be moved to other queues</a:t>
            </a:r>
          </a:p>
          <a:p>
            <a:r>
              <a:rPr lang="en-US" dirty="0"/>
              <a:t>Divides processes by their CPU bursts</a:t>
            </a:r>
          </a:p>
        </p:txBody>
      </p:sp>
      <p:sp>
        <p:nvSpPr>
          <p:cNvPr id="8" name="Slide Number Placeholder 7">
            <a:extLst>
              <a:ext uri="{FF2B5EF4-FFF2-40B4-BE49-F238E27FC236}">
                <a16:creationId xmlns:a16="http://schemas.microsoft.com/office/drawing/2014/main" id="{AC91C9BC-7685-2BFE-E0CE-1543416EA4EE}"/>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9296487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B129B-B7B7-CBA8-F403-94632A62AAE3}"/>
              </a:ext>
            </a:extLst>
          </p:cNvPr>
          <p:cNvSpPr>
            <a:spLocks noGrp="1"/>
          </p:cNvSpPr>
          <p:nvPr>
            <p:ph type="title"/>
          </p:nvPr>
        </p:nvSpPr>
        <p:spPr/>
        <p:txBody>
          <a:bodyPr/>
          <a:lstStyle/>
          <a:p>
            <a:r>
              <a:rPr lang="en-US" dirty="0"/>
              <a:t>Multilevel Feedback Queue Scheduling</a:t>
            </a:r>
          </a:p>
        </p:txBody>
      </p:sp>
      <p:sp>
        <p:nvSpPr>
          <p:cNvPr id="3" name="Content Placeholder 2">
            <a:extLst>
              <a:ext uri="{FF2B5EF4-FFF2-40B4-BE49-F238E27FC236}">
                <a16:creationId xmlns:a16="http://schemas.microsoft.com/office/drawing/2014/main" id="{A6CEC2CF-2EF5-3392-C680-6E45C8CDDEDB}"/>
              </a:ext>
            </a:extLst>
          </p:cNvPr>
          <p:cNvSpPr>
            <a:spLocks noGrp="1"/>
          </p:cNvSpPr>
          <p:nvPr>
            <p:ph idx="1"/>
          </p:nvPr>
        </p:nvSpPr>
        <p:spPr/>
        <p:txBody>
          <a:bodyPr/>
          <a:lstStyle/>
          <a:p>
            <a:r>
              <a:rPr lang="en-US" dirty="0"/>
              <a:t>Processes that need more time using the CPU can be moved to lower-priority queue</a:t>
            </a:r>
          </a:p>
          <a:p>
            <a:r>
              <a:rPr lang="en-US" dirty="0"/>
              <a:t>Input, output, and interactive processes will be in the higher-priority queue</a:t>
            </a:r>
          </a:p>
          <a:p>
            <a:r>
              <a:rPr lang="en-US" dirty="0"/>
              <a:t>Can use aging - if the process needs to wait too long to use the CPU, it can be moved to a higher-priority queue,</a:t>
            </a:r>
          </a:p>
        </p:txBody>
      </p:sp>
      <p:sp>
        <p:nvSpPr>
          <p:cNvPr id="8" name="Slide Number Placeholder 7">
            <a:extLst>
              <a:ext uri="{FF2B5EF4-FFF2-40B4-BE49-F238E27FC236}">
                <a16:creationId xmlns:a16="http://schemas.microsoft.com/office/drawing/2014/main" id="{6399AD09-BE56-50A7-47C9-215AA9015D75}"/>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28979207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838199"/>
          </a:xfrm>
        </p:spPr>
        <p:txBody>
          <a:bodyPr>
            <a:normAutofit/>
          </a:bodyPr>
          <a:lstStyle/>
          <a:p>
            <a:r>
              <a:rPr lang="en-US" sz="4000" dirty="0">
                <a:ln>
                  <a:noFill/>
                </a:ln>
                <a:effectLst/>
              </a:rPr>
              <a:t>Multilevel Feedback Queue</a:t>
            </a:r>
          </a:p>
        </p:txBody>
      </p:sp>
      <p:sp>
        <p:nvSpPr>
          <p:cNvPr id="31" name="Content Placeholder 5"/>
          <p:cNvSpPr>
            <a:spLocks noGrp="1"/>
          </p:cNvSpPr>
          <p:nvPr>
            <p:ph sz="quarter" idx="1"/>
          </p:nvPr>
        </p:nvSpPr>
        <p:spPr>
          <a:xfrm>
            <a:off x="457200" y="1219200"/>
            <a:ext cx="8229600" cy="5029200"/>
          </a:xfrm>
        </p:spPr>
        <p:txBody>
          <a:bodyPr>
            <a:normAutofit/>
          </a:bodyPr>
          <a:lstStyle/>
          <a:p>
            <a:pPr>
              <a:buNone/>
            </a:pPr>
            <a:endParaRPr lang="en-US" sz="2400" dirty="0">
              <a:solidFill>
                <a:srgbClr val="000000"/>
              </a:solidFill>
            </a:endParaRPr>
          </a:p>
          <a:p>
            <a:pPr lvl="2"/>
            <a:endParaRPr lang="en-US" dirty="0">
              <a:solidFill>
                <a:srgbClr val="000000"/>
              </a:solidFill>
            </a:endParaRPr>
          </a:p>
          <a:p>
            <a:endParaRPr lang="en-US" dirty="0">
              <a:solidFill>
                <a:srgbClr val="000000"/>
              </a:solidFill>
            </a:endParaRPr>
          </a:p>
        </p:txBody>
      </p:sp>
      <p:sp>
        <p:nvSpPr>
          <p:cNvPr id="12" name="Rectangle 11"/>
          <p:cNvSpPr/>
          <p:nvPr/>
        </p:nvSpPr>
        <p:spPr>
          <a:xfrm>
            <a:off x="3751912" y="2286000"/>
            <a:ext cx="2362200" cy="53340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RR, q=4</a:t>
            </a:r>
          </a:p>
        </p:txBody>
      </p:sp>
      <p:sp>
        <p:nvSpPr>
          <p:cNvPr id="13" name="Rectangle 12"/>
          <p:cNvSpPr/>
          <p:nvPr/>
        </p:nvSpPr>
        <p:spPr>
          <a:xfrm>
            <a:off x="3751912" y="3200400"/>
            <a:ext cx="2362200" cy="53340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RR, q=8</a:t>
            </a:r>
          </a:p>
        </p:txBody>
      </p:sp>
      <p:sp>
        <p:nvSpPr>
          <p:cNvPr id="14" name="Rectangle 13"/>
          <p:cNvSpPr/>
          <p:nvPr/>
        </p:nvSpPr>
        <p:spPr>
          <a:xfrm>
            <a:off x="3751912" y="4114800"/>
            <a:ext cx="2362200" cy="53340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RR, q=16</a:t>
            </a:r>
          </a:p>
        </p:txBody>
      </p:sp>
      <p:cxnSp>
        <p:nvCxnSpPr>
          <p:cNvPr id="16" name="Straight Arrow Connector 15"/>
          <p:cNvCxnSpPr/>
          <p:nvPr/>
        </p:nvCxnSpPr>
        <p:spPr>
          <a:xfrm>
            <a:off x="2928850" y="2209800"/>
            <a:ext cx="0" cy="251460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845195" y="1752600"/>
            <a:ext cx="2363917" cy="369332"/>
          </a:xfrm>
          <a:prstGeom prst="rect">
            <a:avLst/>
          </a:prstGeom>
          <a:noFill/>
        </p:spPr>
        <p:txBody>
          <a:bodyPr wrap="none" rtlCol="0">
            <a:spAutoFit/>
          </a:bodyPr>
          <a:lstStyle/>
          <a:p>
            <a:r>
              <a:rPr lang="en-US" dirty="0"/>
              <a:t>High priority/short task</a:t>
            </a:r>
          </a:p>
        </p:txBody>
      </p:sp>
      <p:sp>
        <p:nvSpPr>
          <p:cNvPr id="18" name="TextBox 17"/>
          <p:cNvSpPr txBox="1"/>
          <p:nvPr/>
        </p:nvSpPr>
        <p:spPr>
          <a:xfrm>
            <a:off x="1817509" y="4736068"/>
            <a:ext cx="2239203" cy="369332"/>
          </a:xfrm>
          <a:prstGeom prst="rect">
            <a:avLst/>
          </a:prstGeom>
          <a:noFill/>
        </p:spPr>
        <p:txBody>
          <a:bodyPr wrap="none" rtlCol="0">
            <a:spAutoFit/>
          </a:bodyPr>
          <a:lstStyle/>
          <a:p>
            <a:r>
              <a:rPr lang="en-US" dirty="0"/>
              <a:t>Low priority/long task</a:t>
            </a:r>
          </a:p>
        </p:txBody>
      </p:sp>
      <p:cxnSp>
        <p:nvCxnSpPr>
          <p:cNvPr id="20" name="Shape 19"/>
          <p:cNvCxnSpPr>
            <a:stCxn id="12" idx="3"/>
            <a:endCxn id="13" idx="1"/>
          </p:cNvCxnSpPr>
          <p:nvPr/>
        </p:nvCxnSpPr>
        <p:spPr>
          <a:xfrm flipH="1">
            <a:off x="3751912" y="2552700"/>
            <a:ext cx="2362200" cy="914400"/>
          </a:xfrm>
          <a:prstGeom prst="bentConnector5">
            <a:avLst>
              <a:gd name="adj1" fmla="val -9677"/>
              <a:gd name="adj2" fmla="val 50000"/>
              <a:gd name="adj3" fmla="val 109677"/>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hape 20"/>
          <p:cNvCxnSpPr/>
          <p:nvPr/>
        </p:nvCxnSpPr>
        <p:spPr>
          <a:xfrm flipH="1">
            <a:off x="3751912" y="3505200"/>
            <a:ext cx="2362200" cy="914400"/>
          </a:xfrm>
          <a:prstGeom prst="bentConnector5">
            <a:avLst>
              <a:gd name="adj1" fmla="val -9677"/>
              <a:gd name="adj2" fmla="val 50000"/>
              <a:gd name="adj3" fmla="val 109677"/>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6114112" y="2362200"/>
            <a:ext cx="1143000" cy="45720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6114112" y="3352800"/>
            <a:ext cx="1143000"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6114112" y="3810000"/>
            <a:ext cx="1143000" cy="45720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7333312" y="3124200"/>
            <a:ext cx="1810688" cy="369332"/>
          </a:xfrm>
          <a:prstGeom prst="rect">
            <a:avLst/>
          </a:prstGeom>
          <a:noFill/>
        </p:spPr>
        <p:txBody>
          <a:bodyPr wrap="none" rtlCol="0">
            <a:spAutoFit/>
          </a:bodyPr>
          <a:lstStyle/>
          <a:p>
            <a:r>
              <a:rPr lang="en-US" b="1" dirty="0" err="1"/>
              <a:t>pick_next_task</a:t>
            </a:r>
            <a:r>
              <a:rPr lang="en-US" b="1" dirty="0"/>
              <a:t>() </a:t>
            </a:r>
          </a:p>
        </p:txBody>
      </p:sp>
      <p:sp>
        <p:nvSpPr>
          <p:cNvPr id="33" name="TextBox 32"/>
          <p:cNvSpPr txBox="1"/>
          <p:nvPr/>
        </p:nvSpPr>
        <p:spPr>
          <a:xfrm>
            <a:off x="2286000" y="5334000"/>
            <a:ext cx="4734245" cy="369332"/>
          </a:xfrm>
          <a:prstGeom prst="rect">
            <a:avLst/>
          </a:prstGeom>
          <a:solidFill>
            <a:schemeClr val="accent6">
              <a:lumMod val="20000"/>
              <a:lumOff val="80000"/>
            </a:schemeClr>
          </a:solidFill>
        </p:spPr>
        <p:txBody>
          <a:bodyPr wrap="none" rtlCol="0">
            <a:spAutoFit/>
          </a:bodyPr>
          <a:lstStyle/>
          <a:p>
            <a:r>
              <a:rPr lang="en-US" b="1" dirty="0"/>
              <a:t>Windows XP, Mac OS X, Linux 2.6.22 and before</a:t>
            </a:r>
          </a:p>
        </p:txBody>
      </p:sp>
      <p:sp>
        <p:nvSpPr>
          <p:cNvPr id="34" name="TextBox 33"/>
          <p:cNvSpPr txBox="1"/>
          <p:nvPr/>
        </p:nvSpPr>
        <p:spPr>
          <a:xfrm>
            <a:off x="304800" y="2886670"/>
            <a:ext cx="2590800" cy="646331"/>
          </a:xfrm>
          <a:prstGeom prst="rect">
            <a:avLst/>
          </a:prstGeom>
          <a:noFill/>
        </p:spPr>
        <p:txBody>
          <a:bodyPr wrap="square" rtlCol="0">
            <a:spAutoFit/>
          </a:bodyPr>
          <a:lstStyle/>
          <a:p>
            <a:pPr algn="ctr"/>
            <a:r>
              <a:rPr lang="en-US" dirty="0"/>
              <a:t>A task gradually moves up/down</a:t>
            </a:r>
          </a:p>
        </p:txBody>
      </p:sp>
      <p:sp>
        <p:nvSpPr>
          <p:cNvPr id="6" name="Slide Number Placeholder 5">
            <a:extLst>
              <a:ext uri="{FF2B5EF4-FFF2-40B4-BE49-F238E27FC236}">
                <a16:creationId xmlns:a16="http://schemas.microsoft.com/office/drawing/2014/main" id="{B7DFD0DE-2205-BA40-5AE5-E9204B414551}"/>
              </a:ext>
            </a:extLst>
          </p:cNvPr>
          <p:cNvSpPr>
            <a:spLocks noGrp="1"/>
          </p:cNvSpPr>
          <p:nvPr>
            <p:ph type="sldNum" sz="quarter" idx="12"/>
          </p:nvPr>
        </p:nvSpPr>
        <p:spPr/>
        <p:txBody>
          <a:bodyPr/>
          <a:lstStyle/>
          <a:p>
            <a:r>
              <a:rPr lang="en-US"/>
              <a:t>CS4500/5500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1414D-48EB-620E-735A-392C4B77264F}"/>
              </a:ext>
            </a:extLst>
          </p:cNvPr>
          <p:cNvSpPr>
            <a:spLocks noGrp="1"/>
          </p:cNvSpPr>
          <p:nvPr>
            <p:ph type="title"/>
          </p:nvPr>
        </p:nvSpPr>
        <p:spPr/>
        <p:txBody>
          <a:bodyPr/>
          <a:lstStyle/>
          <a:p>
            <a:r>
              <a:rPr lang="en-US" dirty="0"/>
              <a:t>Parameters for Multilevel Feedback Queue</a:t>
            </a:r>
          </a:p>
        </p:txBody>
      </p:sp>
      <p:sp>
        <p:nvSpPr>
          <p:cNvPr id="3" name="Content Placeholder 2">
            <a:extLst>
              <a:ext uri="{FF2B5EF4-FFF2-40B4-BE49-F238E27FC236}">
                <a16:creationId xmlns:a16="http://schemas.microsoft.com/office/drawing/2014/main" id="{13E68CFD-2596-CCF1-DC96-78D01B5E0C64}"/>
              </a:ext>
            </a:extLst>
          </p:cNvPr>
          <p:cNvSpPr>
            <a:spLocks noGrp="1"/>
          </p:cNvSpPr>
          <p:nvPr>
            <p:ph idx="1"/>
          </p:nvPr>
        </p:nvSpPr>
        <p:spPr/>
        <p:txBody>
          <a:bodyPr/>
          <a:lstStyle/>
          <a:p>
            <a:r>
              <a:rPr lang="en-US" dirty="0"/>
              <a:t>The number of queues</a:t>
            </a:r>
          </a:p>
          <a:p>
            <a:r>
              <a:rPr lang="en-US" dirty="0"/>
              <a:t>Which scheduling algorithm will be used for each queue</a:t>
            </a:r>
          </a:p>
          <a:p>
            <a:r>
              <a:rPr lang="en-US" dirty="0"/>
              <a:t>When to promote a process that is not being given resources by upgrading to a higher priority queue</a:t>
            </a:r>
          </a:p>
          <a:p>
            <a:r>
              <a:rPr lang="en-US" dirty="0"/>
              <a:t>Method used to demote a process to a lower priority queue</a:t>
            </a:r>
          </a:p>
          <a:p>
            <a:r>
              <a:rPr lang="en-US" dirty="0"/>
              <a:t>Determine which queue a process needs to moved to</a:t>
            </a:r>
          </a:p>
        </p:txBody>
      </p:sp>
      <p:sp>
        <p:nvSpPr>
          <p:cNvPr id="4" name="Slide Number Placeholder 3">
            <a:extLst>
              <a:ext uri="{FF2B5EF4-FFF2-40B4-BE49-F238E27FC236}">
                <a16:creationId xmlns:a16="http://schemas.microsoft.com/office/drawing/2014/main" id="{01FFB5F1-3AA0-FE62-82FF-75DC541FF3B9}"/>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32248456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6E1A993-65EA-1C71-A177-01959E26541D}"/>
              </a:ext>
            </a:extLst>
          </p:cNvPr>
          <p:cNvSpPr>
            <a:spLocks noGrp="1"/>
          </p:cNvSpPr>
          <p:nvPr>
            <p:ph type="title"/>
          </p:nvPr>
        </p:nvSpPr>
        <p:spPr/>
        <p:txBody>
          <a:bodyPr/>
          <a:lstStyle/>
          <a:p>
            <a:r>
              <a:rPr lang="en-US" dirty="0"/>
              <a:t>Quick Self-Check of Learning</a:t>
            </a:r>
          </a:p>
        </p:txBody>
      </p:sp>
      <p:sp>
        <p:nvSpPr>
          <p:cNvPr id="6" name="Text Placeholder 5">
            <a:extLst>
              <a:ext uri="{FF2B5EF4-FFF2-40B4-BE49-F238E27FC236}">
                <a16:creationId xmlns:a16="http://schemas.microsoft.com/office/drawing/2014/main" id="{96088F2E-1C25-0A37-BDB8-2896DAE7A09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867B00-1768-D39B-D6F9-A4A055AFB7C1}"/>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8295873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FD1AE-EC63-4AAF-4EEC-F3C9048C4195}"/>
              </a:ext>
            </a:extLst>
          </p:cNvPr>
          <p:cNvSpPr>
            <a:spLocks noGrp="1"/>
          </p:cNvSpPr>
          <p:nvPr>
            <p:ph type="title"/>
          </p:nvPr>
        </p:nvSpPr>
        <p:spPr>
          <a:xfrm>
            <a:off x="982133" y="457201"/>
            <a:ext cx="7704667" cy="990599"/>
          </a:xfrm>
        </p:spPr>
        <p:txBody>
          <a:bodyPr/>
          <a:lstStyle/>
          <a:p>
            <a:r>
              <a:rPr lang="en-US" dirty="0"/>
              <a:t>Question</a:t>
            </a:r>
          </a:p>
        </p:txBody>
      </p:sp>
      <p:sp>
        <p:nvSpPr>
          <p:cNvPr id="3" name="Content Placeholder 2">
            <a:extLst>
              <a:ext uri="{FF2B5EF4-FFF2-40B4-BE49-F238E27FC236}">
                <a16:creationId xmlns:a16="http://schemas.microsoft.com/office/drawing/2014/main" id="{23D9665A-CDBB-9E2A-F6BA-BFB4B9F7F668}"/>
              </a:ext>
            </a:extLst>
          </p:cNvPr>
          <p:cNvSpPr>
            <a:spLocks noGrp="1"/>
          </p:cNvSpPr>
          <p:nvPr>
            <p:ph idx="1"/>
          </p:nvPr>
        </p:nvSpPr>
        <p:spPr>
          <a:xfrm>
            <a:off x="982133" y="1491986"/>
            <a:ext cx="7704667" cy="2286000"/>
          </a:xfrm>
        </p:spPr>
        <p:txBody>
          <a:bodyPr>
            <a:normAutofit fontScale="92500" lnSpcReduction="20000"/>
          </a:bodyPr>
          <a:lstStyle/>
          <a:p>
            <a:endParaRPr lang="en-US" dirty="0"/>
          </a:p>
          <a:p>
            <a:pPr marL="0" indent="0">
              <a:buNone/>
            </a:pPr>
            <a:endParaRPr lang="en-US" dirty="0"/>
          </a:p>
          <a:p>
            <a:r>
              <a:rPr lang="en-US" dirty="0"/>
              <a:t>Calculate the difference between the average waiting time for Round Robin and Priority Scheduling using the following chart</a:t>
            </a:r>
          </a:p>
          <a:p>
            <a:r>
              <a:rPr lang="en-US" dirty="0"/>
              <a:t>RR = 5 </a:t>
            </a:r>
            <a:r>
              <a:rPr lang="en-US" dirty="0" err="1"/>
              <a:t>ms</a:t>
            </a:r>
            <a:r>
              <a:rPr lang="en-US" dirty="0"/>
              <a:t> quanta and assume the processes arrive in order from P1 (first) to P5 (last)</a:t>
            </a:r>
          </a:p>
          <a:p>
            <a:endParaRPr lang="en-US"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C2040E33-1916-DCE8-110C-F1F55A7EFBE1}"/>
              </a:ext>
            </a:extLst>
          </p:cNvPr>
          <p:cNvSpPr>
            <a:spLocks noGrp="1"/>
          </p:cNvSpPr>
          <p:nvPr>
            <p:ph type="sldNum" sz="quarter" idx="12"/>
          </p:nvPr>
        </p:nvSpPr>
        <p:spPr/>
        <p:txBody>
          <a:bodyPr/>
          <a:lstStyle/>
          <a:p>
            <a:r>
              <a:rPr lang="en-US"/>
              <a:t>CS4500/5500</a:t>
            </a:r>
            <a:endParaRPr lang="en-US" dirty="0"/>
          </a:p>
        </p:txBody>
      </p:sp>
      <p:pic>
        <p:nvPicPr>
          <p:cNvPr id="16" name="Picture 15">
            <a:extLst>
              <a:ext uri="{FF2B5EF4-FFF2-40B4-BE49-F238E27FC236}">
                <a16:creationId xmlns:a16="http://schemas.microsoft.com/office/drawing/2014/main" id="{A0C8B01F-89DB-2CB8-5D23-7A295FA134C8}"/>
              </a:ext>
            </a:extLst>
          </p:cNvPr>
          <p:cNvPicPr>
            <a:picLocks noChangeAspect="1"/>
          </p:cNvPicPr>
          <p:nvPr/>
        </p:nvPicPr>
        <p:blipFill>
          <a:blip r:embed="rId3"/>
          <a:stretch>
            <a:fillRect/>
          </a:stretch>
        </p:blipFill>
        <p:spPr>
          <a:xfrm>
            <a:off x="996244" y="2971800"/>
            <a:ext cx="7742591" cy="2517866"/>
          </a:xfrm>
          <a:prstGeom prst="rect">
            <a:avLst/>
          </a:prstGeom>
        </p:spPr>
      </p:pic>
    </p:spTree>
    <p:extLst>
      <p:ext uri="{BB962C8B-B14F-4D97-AF65-F5344CB8AC3E}">
        <p14:creationId xmlns:p14="http://schemas.microsoft.com/office/powerpoint/2010/main" val="25504806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FBF38-5D87-D94C-C61A-CF82F65BC964}"/>
              </a:ext>
            </a:extLst>
          </p:cNvPr>
          <p:cNvSpPr>
            <a:spLocks noGrp="1"/>
          </p:cNvSpPr>
          <p:nvPr>
            <p:ph type="title"/>
          </p:nvPr>
        </p:nvSpPr>
        <p:spPr>
          <a:xfrm>
            <a:off x="982664" y="60961"/>
            <a:ext cx="7704667" cy="914399"/>
          </a:xfrm>
        </p:spPr>
        <p:txBody>
          <a:bodyPr/>
          <a:lstStyle/>
          <a:p>
            <a:r>
              <a:rPr lang="en-US" dirty="0"/>
              <a:t>Priority Scheduling: Waiting Time </a:t>
            </a:r>
          </a:p>
        </p:txBody>
      </p:sp>
      <p:graphicFrame>
        <p:nvGraphicFramePr>
          <p:cNvPr id="7" name="Table 7">
            <a:extLst>
              <a:ext uri="{FF2B5EF4-FFF2-40B4-BE49-F238E27FC236}">
                <a16:creationId xmlns:a16="http://schemas.microsoft.com/office/drawing/2014/main" id="{F77E48FA-67C8-E83A-6BFD-39BFB9A9D294}"/>
              </a:ext>
            </a:extLst>
          </p:cNvPr>
          <p:cNvGraphicFramePr>
            <a:graphicFrameLocks noGrp="1"/>
          </p:cNvGraphicFramePr>
          <p:nvPr>
            <p:ph idx="1"/>
          </p:nvPr>
        </p:nvGraphicFramePr>
        <p:xfrm>
          <a:off x="982664" y="994410"/>
          <a:ext cx="7704136" cy="2377440"/>
        </p:xfrm>
        <a:graphic>
          <a:graphicData uri="http://schemas.openxmlformats.org/drawingml/2006/table">
            <a:tbl>
              <a:tblPr firstRow="1" bandRow="1">
                <a:tableStyleId>{5C22544A-7EE6-4342-B048-85BDC9FD1C3A}</a:tableStyleId>
              </a:tblPr>
              <a:tblGrid>
                <a:gridCol w="1926034">
                  <a:extLst>
                    <a:ext uri="{9D8B030D-6E8A-4147-A177-3AD203B41FA5}">
                      <a16:colId xmlns:a16="http://schemas.microsoft.com/office/drawing/2014/main" val="2017007141"/>
                    </a:ext>
                  </a:extLst>
                </a:gridCol>
                <a:gridCol w="1926034">
                  <a:extLst>
                    <a:ext uri="{9D8B030D-6E8A-4147-A177-3AD203B41FA5}">
                      <a16:colId xmlns:a16="http://schemas.microsoft.com/office/drawing/2014/main" val="1209074382"/>
                    </a:ext>
                  </a:extLst>
                </a:gridCol>
                <a:gridCol w="1926034">
                  <a:extLst>
                    <a:ext uri="{9D8B030D-6E8A-4147-A177-3AD203B41FA5}">
                      <a16:colId xmlns:a16="http://schemas.microsoft.com/office/drawing/2014/main" val="2004805714"/>
                    </a:ext>
                  </a:extLst>
                </a:gridCol>
                <a:gridCol w="1926034">
                  <a:extLst>
                    <a:ext uri="{9D8B030D-6E8A-4147-A177-3AD203B41FA5}">
                      <a16:colId xmlns:a16="http://schemas.microsoft.com/office/drawing/2014/main" val="643913257"/>
                    </a:ext>
                  </a:extLst>
                </a:gridCol>
              </a:tblGrid>
              <a:tr h="370840">
                <a:tc>
                  <a:txBody>
                    <a:bodyPr/>
                    <a:lstStyle/>
                    <a:p>
                      <a:pPr algn="ctr"/>
                      <a:r>
                        <a:rPr lang="en-US" sz="2000" dirty="0">
                          <a:solidFill>
                            <a:schemeClr val="tx1"/>
                          </a:solidFill>
                        </a:rPr>
                        <a:t>Process ID</a:t>
                      </a:r>
                    </a:p>
                  </a:txBody>
                  <a:tcPr/>
                </a:tc>
                <a:tc>
                  <a:txBody>
                    <a:bodyPr/>
                    <a:lstStyle/>
                    <a:p>
                      <a:pPr algn="ctr"/>
                      <a:r>
                        <a:rPr lang="en-US" sz="2000" dirty="0">
                          <a:solidFill>
                            <a:schemeClr val="tx1"/>
                          </a:solidFill>
                        </a:rPr>
                        <a:t>Arrival Time</a:t>
                      </a:r>
                    </a:p>
                  </a:txBody>
                  <a:tcPr/>
                </a:tc>
                <a:tc>
                  <a:txBody>
                    <a:bodyPr/>
                    <a:lstStyle/>
                    <a:p>
                      <a:pPr algn="ctr"/>
                      <a:r>
                        <a:rPr lang="en-US" sz="2000" dirty="0">
                          <a:solidFill>
                            <a:schemeClr val="tx1"/>
                          </a:solidFill>
                        </a:rPr>
                        <a:t>Burst Time</a:t>
                      </a:r>
                    </a:p>
                  </a:txBody>
                  <a:tcPr/>
                </a:tc>
                <a:tc>
                  <a:txBody>
                    <a:bodyPr/>
                    <a:lstStyle/>
                    <a:p>
                      <a:pPr algn="ctr"/>
                      <a:r>
                        <a:rPr lang="en-US" sz="2000" dirty="0">
                          <a:solidFill>
                            <a:schemeClr val="tx1"/>
                          </a:solidFill>
                        </a:rPr>
                        <a:t>Priority</a:t>
                      </a:r>
                    </a:p>
                  </a:txBody>
                  <a:tcPr/>
                </a:tc>
                <a:extLst>
                  <a:ext uri="{0D108BD9-81ED-4DB2-BD59-A6C34878D82A}">
                    <a16:rowId xmlns:a16="http://schemas.microsoft.com/office/drawing/2014/main" val="4224651593"/>
                  </a:ext>
                </a:extLst>
              </a:tr>
              <a:tr h="370840">
                <a:tc>
                  <a:txBody>
                    <a:bodyPr/>
                    <a:lstStyle/>
                    <a:p>
                      <a:pPr algn="ctr"/>
                      <a:r>
                        <a:rPr lang="en-US" sz="2000" dirty="0">
                          <a:solidFill>
                            <a:schemeClr val="tx1"/>
                          </a:solidFill>
                        </a:rPr>
                        <a:t>P1</a:t>
                      </a:r>
                    </a:p>
                  </a:txBody>
                  <a:tcPr/>
                </a:tc>
                <a:tc>
                  <a:txBody>
                    <a:bodyPr/>
                    <a:lstStyle/>
                    <a:p>
                      <a:pPr algn="ctr"/>
                      <a:r>
                        <a:rPr lang="en-US" sz="2000" dirty="0">
                          <a:solidFill>
                            <a:schemeClr val="tx1"/>
                          </a:solidFill>
                        </a:rPr>
                        <a:t>0</a:t>
                      </a:r>
                    </a:p>
                  </a:txBody>
                  <a:tcPr/>
                </a:tc>
                <a:tc>
                  <a:txBody>
                    <a:bodyPr/>
                    <a:lstStyle/>
                    <a:p>
                      <a:pPr algn="ctr"/>
                      <a:r>
                        <a:rPr lang="en-US" sz="2000" dirty="0">
                          <a:solidFill>
                            <a:schemeClr val="tx1"/>
                          </a:solidFill>
                        </a:rPr>
                        <a:t>11</a:t>
                      </a:r>
                    </a:p>
                  </a:txBody>
                  <a:tcPr/>
                </a:tc>
                <a:tc>
                  <a:txBody>
                    <a:bodyPr/>
                    <a:lstStyle/>
                    <a:p>
                      <a:pPr algn="ctr"/>
                      <a:r>
                        <a:rPr lang="en-US" sz="2000" dirty="0">
                          <a:solidFill>
                            <a:schemeClr val="tx1"/>
                          </a:solidFill>
                        </a:rPr>
                        <a:t>3</a:t>
                      </a:r>
                    </a:p>
                  </a:txBody>
                  <a:tcPr/>
                </a:tc>
                <a:extLst>
                  <a:ext uri="{0D108BD9-81ED-4DB2-BD59-A6C34878D82A}">
                    <a16:rowId xmlns:a16="http://schemas.microsoft.com/office/drawing/2014/main" val="989636689"/>
                  </a:ext>
                </a:extLst>
              </a:tr>
              <a:tr h="370840">
                <a:tc>
                  <a:txBody>
                    <a:bodyPr/>
                    <a:lstStyle/>
                    <a:p>
                      <a:pPr algn="ctr"/>
                      <a:r>
                        <a:rPr lang="en-US" sz="2000" dirty="0">
                          <a:solidFill>
                            <a:schemeClr val="tx1"/>
                          </a:solidFill>
                        </a:rPr>
                        <a:t>P2</a:t>
                      </a:r>
                    </a:p>
                  </a:txBody>
                  <a:tcPr/>
                </a:tc>
                <a:tc>
                  <a:txBody>
                    <a:bodyPr/>
                    <a:lstStyle/>
                    <a:p>
                      <a:pPr algn="ctr"/>
                      <a:r>
                        <a:rPr lang="en-US" sz="2000" dirty="0">
                          <a:solidFill>
                            <a:schemeClr val="tx1"/>
                          </a:solidFill>
                        </a:rPr>
                        <a:t>0</a:t>
                      </a:r>
                    </a:p>
                  </a:txBody>
                  <a:tcPr/>
                </a:tc>
                <a:tc>
                  <a:txBody>
                    <a:bodyPr/>
                    <a:lstStyle/>
                    <a:p>
                      <a:pPr algn="ctr"/>
                      <a:r>
                        <a:rPr lang="en-US" sz="2000" dirty="0">
                          <a:solidFill>
                            <a:schemeClr val="tx1"/>
                          </a:solidFill>
                        </a:rPr>
                        <a:t>2</a:t>
                      </a:r>
                    </a:p>
                  </a:txBody>
                  <a:tcPr/>
                </a:tc>
                <a:tc>
                  <a:txBody>
                    <a:bodyPr/>
                    <a:lstStyle/>
                    <a:p>
                      <a:pPr algn="ctr"/>
                      <a:r>
                        <a:rPr lang="en-US" sz="2000" dirty="0">
                          <a:solidFill>
                            <a:schemeClr val="tx1"/>
                          </a:solidFill>
                        </a:rPr>
                        <a:t>1</a:t>
                      </a:r>
                    </a:p>
                  </a:txBody>
                  <a:tcPr/>
                </a:tc>
                <a:extLst>
                  <a:ext uri="{0D108BD9-81ED-4DB2-BD59-A6C34878D82A}">
                    <a16:rowId xmlns:a16="http://schemas.microsoft.com/office/drawing/2014/main" val="2196484567"/>
                  </a:ext>
                </a:extLst>
              </a:tr>
              <a:tr h="370840">
                <a:tc>
                  <a:txBody>
                    <a:bodyPr/>
                    <a:lstStyle/>
                    <a:p>
                      <a:pPr algn="ctr"/>
                      <a:r>
                        <a:rPr lang="en-US" sz="2000" dirty="0">
                          <a:solidFill>
                            <a:schemeClr val="tx1"/>
                          </a:solidFill>
                        </a:rPr>
                        <a:t>P3</a:t>
                      </a:r>
                    </a:p>
                  </a:txBody>
                  <a:tcPr/>
                </a:tc>
                <a:tc>
                  <a:txBody>
                    <a:bodyPr/>
                    <a:lstStyle/>
                    <a:p>
                      <a:pPr algn="ctr"/>
                      <a:r>
                        <a:rPr lang="en-US" sz="2000" dirty="0">
                          <a:solidFill>
                            <a:schemeClr val="tx1"/>
                          </a:solidFill>
                        </a:rPr>
                        <a:t>0</a:t>
                      </a:r>
                    </a:p>
                  </a:txBody>
                  <a:tcPr/>
                </a:tc>
                <a:tc>
                  <a:txBody>
                    <a:bodyPr/>
                    <a:lstStyle/>
                    <a:p>
                      <a:pPr algn="ctr"/>
                      <a:r>
                        <a:rPr lang="en-US" sz="2000" dirty="0">
                          <a:solidFill>
                            <a:schemeClr val="tx1"/>
                          </a:solidFill>
                        </a:rPr>
                        <a:t>3</a:t>
                      </a:r>
                    </a:p>
                  </a:txBody>
                  <a:tcPr/>
                </a:tc>
                <a:tc>
                  <a:txBody>
                    <a:bodyPr/>
                    <a:lstStyle/>
                    <a:p>
                      <a:pPr algn="ctr"/>
                      <a:r>
                        <a:rPr lang="en-US" sz="2000" dirty="0">
                          <a:solidFill>
                            <a:schemeClr val="tx1"/>
                          </a:solidFill>
                        </a:rPr>
                        <a:t>4</a:t>
                      </a:r>
                    </a:p>
                  </a:txBody>
                  <a:tcPr/>
                </a:tc>
                <a:extLst>
                  <a:ext uri="{0D108BD9-81ED-4DB2-BD59-A6C34878D82A}">
                    <a16:rowId xmlns:a16="http://schemas.microsoft.com/office/drawing/2014/main" val="2642718359"/>
                  </a:ext>
                </a:extLst>
              </a:tr>
              <a:tr h="370840">
                <a:tc>
                  <a:txBody>
                    <a:bodyPr/>
                    <a:lstStyle/>
                    <a:p>
                      <a:pPr algn="ctr"/>
                      <a:r>
                        <a:rPr lang="en-US" sz="2000" dirty="0">
                          <a:solidFill>
                            <a:schemeClr val="tx1"/>
                          </a:solidFill>
                        </a:rPr>
                        <a:t>P4</a:t>
                      </a:r>
                    </a:p>
                  </a:txBody>
                  <a:tcPr/>
                </a:tc>
                <a:tc>
                  <a:txBody>
                    <a:bodyPr/>
                    <a:lstStyle/>
                    <a:p>
                      <a:pPr algn="ctr"/>
                      <a:r>
                        <a:rPr lang="en-US" sz="2000" dirty="0">
                          <a:solidFill>
                            <a:schemeClr val="tx1"/>
                          </a:solidFill>
                        </a:rPr>
                        <a:t>0</a:t>
                      </a:r>
                    </a:p>
                  </a:txBody>
                  <a:tcPr/>
                </a:tc>
                <a:tc>
                  <a:txBody>
                    <a:bodyPr/>
                    <a:lstStyle/>
                    <a:p>
                      <a:pPr algn="ctr"/>
                      <a:r>
                        <a:rPr lang="en-US" sz="2000" dirty="0">
                          <a:solidFill>
                            <a:schemeClr val="tx1"/>
                          </a:solidFill>
                        </a:rPr>
                        <a:t>2</a:t>
                      </a:r>
                    </a:p>
                  </a:txBody>
                  <a:tcPr/>
                </a:tc>
                <a:tc>
                  <a:txBody>
                    <a:bodyPr/>
                    <a:lstStyle/>
                    <a:p>
                      <a:pPr algn="ctr"/>
                      <a:r>
                        <a:rPr lang="en-US" sz="2000" dirty="0">
                          <a:solidFill>
                            <a:schemeClr val="tx1"/>
                          </a:solidFill>
                        </a:rPr>
                        <a:t>5</a:t>
                      </a:r>
                    </a:p>
                  </a:txBody>
                  <a:tcPr/>
                </a:tc>
                <a:extLst>
                  <a:ext uri="{0D108BD9-81ED-4DB2-BD59-A6C34878D82A}">
                    <a16:rowId xmlns:a16="http://schemas.microsoft.com/office/drawing/2014/main" val="637309098"/>
                  </a:ext>
                </a:extLst>
              </a:tr>
              <a:tr h="370840">
                <a:tc>
                  <a:txBody>
                    <a:bodyPr/>
                    <a:lstStyle/>
                    <a:p>
                      <a:pPr algn="ctr"/>
                      <a:r>
                        <a:rPr lang="en-US" sz="2000" dirty="0">
                          <a:solidFill>
                            <a:schemeClr val="tx1"/>
                          </a:solidFill>
                        </a:rPr>
                        <a:t>P5</a:t>
                      </a:r>
                    </a:p>
                  </a:txBody>
                  <a:tcPr/>
                </a:tc>
                <a:tc>
                  <a:txBody>
                    <a:bodyPr/>
                    <a:lstStyle/>
                    <a:p>
                      <a:pPr algn="ctr"/>
                      <a:r>
                        <a:rPr lang="en-US" sz="2000" dirty="0">
                          <a:solidFill>
                            <a:schemeClr val="tx1"/>
                          </a:solidFill>
                        </a:rPr>
                        <a:t>0</a:t>
                      </a:r>
                    </a:p>
                  </a:txBody>
                  <a:tcPr/>
                </a:tc>
                <a:tc>
                  <a:txBody>
                    <a:bodyPr/>
                    <a:lstStyle/>
                    <a:p>
                      <a:pPr algn="ctr"/>
                      <a:r>
                        <a:rPr lang="en-US" sz="2000" dirty="0">
                          <a:solidFill>
                            <a:schemeClr val="tx1"/>
                          </a:solidFill>
                        </a:rPr>
                        <a:t>6</a:t>
                      </a:r>
                    </a:p>
                  </a:txBody>
                  <a:tcPr/>
                </a:tc>
                <a:tc>
                  <a:txBody>
                    <a:bodyPr/>
                    <a:lstStyle/>
                    <a:p>
                      <a:pPr algn="ctr"/>
                      <a:r>
                        <a:rPr lang="en-US" sz="2000" dirty="0">
                          <a:solidFill>
                            <a:schemeClr val="tx1"/>
                          </a:solidFill>
                        </a:rPr>
                        <a:t>2</a:t>
                      </a:r>
                    </a:p>
                  </a:txBody>
                  <a:tcPr/>
                </a:tc>
                <a:extLst>
                  <a:ext uri="{0D108BD9-81ED-4DB2-BD59-A6C34878D82A}">
                    <a16:rowId xmlns:a16="http://schemas.microsoft.com/office/drawing/2014/main" val="3474077808"/>
                  </a:ext>
                </a:extLst>
              </a:tr>
            </a:tbl>
          </a:graphicData>
        </a:graphic>
      </p:graphicFrame>
      <p:sp>
        <p:nvSpPr>
          <p:cNvPr id="8" name="TextBox 7">
            <a:extLst>
              <a:ext uri="{FF2B5EF4-FFF2-40B4-BE49-F238E27FC236}">
                <a16:creationId xmlns:a16="http://schemas.microsoft.com/office/drawing/2014/main" id="{27D735F2-8C87-794A-06B1-72EA2B533417}"/>
              </a:ext>
            </a:extLst>
          </p:cNvPr>
          <p:cNvSpPr txBox="1"/>
          <p:nvPr/>
        </p:nvSpPr>
        <p:spPr>
          <a:xfrm>
            <a:off x="2935381" y="3604484"/>
            <a:ext cx="4343400" cy="369332"/>
          </a:xfrm>
          <a:prstGeom prst="rect">
            <a:avLst/>
          </a:prstGeom>
          <a:noFill/>
        </p:spPr>
        <p:txBody>
          <a:bodyPr wrap="square" rtlCol="0">
            <a:spAutoFit/>
          </a:bodyPr>
          <a:lstStyle/>
          <a:p>
            <a:r>
              <a:rPr lang="en-US" dirty="0"/>
              <a:t>The smaller value for the priority goes first</a:t>
            </a:r>
          </a:p>
        </p:txBody>
      </p:sp>
      <p:grpSp>
        <p:nvGrpSpPr>
          <p:cNvPr id="26" name="Group 25">
            <a:extLst>
              <a:ext uri="{FF2B5EF4-FFF2-40B4-BE49-F238E27FC236}">
                <a16:creationId xmlns:a16="http://schemas.microsoft.com/office/drawing/2014/main" id="{D7C6D780-0A5E-A3EC-D560-D1E809CB2694}"/>
              </a:ext>
            </a:extLst>
          </p:cNvPr>
          <p:cNvGrpSpPr/>
          <p:nvPr/>
        </p:nvGrpSpPr>
        <p:grpSpPr>
          <a:xfrm>
            <a:off x="2156167" y="4374434"/>
            <a:ext cx="6987833" cy="1276240"/>
            <a:chOff x="1340815" y="3682587"/>
            <a:chExt cx="6987833" cy="1276240"/>
          </a:xfrm>
        </p:grpSpPr>
        <p:grpSp>
          <p:nvGrpSpPr>
            <p:cNvPr id="9" name="Group 8">
              <a:extLst>
                <a:ext uri="{FF2B5EF4-FFF2-40B4-BE49-F238E27FC236}">
                  <a16:creationId xmlns:a16="http://schemas.microsoft.com/office/drawing/2014/main" id="{BD93C471-72C6-83FD-72A4-C84DF6712F23}"/>
                </a:ext>
              </a:extLst>
            </p:cNvPr>
            <p:cNvGrpSpPr/>
            <p:nvPr/>
          </p:nvGrpSpPr>
          <p:grpSpPr>
            <a:xfrm>
              <a:off x="1340815" y="3726432"/>
              <a:ext cx="6987833" cy="1232395"/>
              <a:chOff x="1271134" y="5143026"/>
              <a:chExt cx="7201749" cy="1347169"/>
            </a:xfrm>
          </p:grpSpPr>
          <p:sp>
            <p:nvSpPr>
              <p:cNvPr id="10" name="Rectangle 9">
                <a:extLst>
                  <a:ext uri="{FF2B5EF4-FFF2-40B4-BE49-F238E27FC236}">
                    <a16:creationId xmlns:a16="http://schemas.microsoft.com/office/drawing/2014/main" id="{3C989B38-B514-BE19-0F58-ECCC4DA8257D}"/>
                  </a:ext>
                </a:extLst>
              </p:cNvPr>
              <p:cNvSpPr/>
              <p:nvPr/>
            </p:nvSpPr>
            <p:spPr>
              <a:xfrm>
                <a:off x="1506054" y="5651995"/>
                <a:ext cx="6677802" cy="8382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2"/>
                    </a:solidFill>
                  </a:rPr>
                  <a:t>P2</a:t>
                </a:r>
              </a:p>
            </p:txBody>
          </p:sp>
          <p:sp>
            <p:nvSpPr>
              <p:cNvPr id="11" name="TextBox 10">
                <a:extLst>
                  <a:ext uri="{FF2B5EF4-FFF2-40B4-BE49-F238E27FC236}">
                    <a16:creationId xmlns:a16="http://schemas.microsoft.com/office/drawing/2014/main" id="{045A21A1-7B07-8E1D-E05A-E4B42FDF6E71}"/>
                  </a:ext>
                </a:extLst>
              </p:cNvPr>
              <p:cNvSpPr txBox="1"/>
              <p:nvPr/>
            </p:nvSpPr>
            <p:spPr>
              <a:xfrm>
                <a:off x="2652407" y="5790218"/>
                <a:ext cx="609600" cy="571948"/>
              </a:xfrm>
              <a:prstGeom prst="rect">
                <a:avLst/>
              </a:prstGeom>
              <a:noFill/>
            </p:spPr>
            <p:txBody>
              <a:bodyPr wrap="square" rtlCol="0">
                <a:spAutoFit/>
              </a:bodyPr>
              <a:lstStyle/>
              <a:p>
                <a:r>
                  <a:rPr lang="en-US" sz="2800" b="1" dirty="0">
                    <a:solidFill>
                      <a:schemeClr val="tx2"/>
                    </a:solidFill>
                  </a:rPr>
                  <a:t>P5</a:t>
                </a:r>
              </a:p>
            </p:txBody>
          </p:sp>
          <p:sp>
            <p:nvSpPr>
              <p:cNvPr id="12" name="TextBox 11">
                <a:extLst>
                  <a:ext uri="{FF2B5EF4-FFF2-40B4-BE49-F238E27FC236}">
                    <a16:creationId xmlns:a16="http://schemas.microsoft.com/office/drawing/2014/main" id="{5934D481-240E-3F2A-7CDE-7CC07BF5A9C2}"/>
                  </a:ext>
                </a:extLst>
              </p:cNvPr>
              <p:cNvSpPr txBox="1"/>
              <p:nvPr/>
            </p:nvSpPr>
            <p:spPr>
              <a:xfrm>
                <a:off x="4185950" y="5790218"/>
                <a:ext cx="609600" cy="571948"/>
              </a:xfrm>
              <a:prstGeom prst="rect">
                <a:avLst/>
              </a:prstGeom>
              <a:noFill/>
            </p:spPr>
            <p:txBody>
              <a:bodyPr wrap="square" rtlCol="0">
                <a:spAutoFit/>
              </a:bodyPr>
              <a:lstStyle/>
              <a:p>
                <a:r>
                  <a:rPr lang="en-US" sz="2800" b="1" dirty="0">
                    <a:solidFill>
                      <a:schemeClr val="tx2"/>
                    </a:solidFill>
                  </a:rPr>
                  <a:t>P1</a:t>
                </a:r>
              </a:p>
            </p:txBody>
          </p:sp>
          <p:sp>
            <p:nvSpPr>
              <p:cNvPr id="13" name="TextBox 12">
                <a:extLst>
                  <a:ext uri="{FF2B5EF4-FFF2-40B4-BE49-F238E27FC236}">
                    <a16:creationId xmlns:a16="http://schemas.microsoft.com/office/drawing/2014/main" id="{076495AE-2926-8C16-2431-65C8889CA424}"/>
                  </a:ext>
                </a:extLst>
              </p:cNvPr>
              <p:cNvSpPr txBox="1"/>
              <p:nvPr/>
            </p:nvSpPr>
            <p:spPr>
              <a:xfrm>
                <a:off x="5765610" y="5790218"/>
                <a:ext cx="609600" cy="523221"/>
              </a:xfrm>
              <a:prstGeom prst="rect">
                <a:avLst/>
              </a:prstGeom>
              <a:noFill/>
            </p:spPr>
            <p:txBody>
              <a:bodyPr wrap="square" rtlCol="0">
                <a:spAutoFit/>
              </a:bodyPr>
              <a:lstStyle/>
              <a:p>
                <a:r>
                  <a:rPr lang="en-US" sz="2800" b="1" dirty="0">
                    <a:solidFill>
                      <a:schemeClr val="tx2"/>
                    </a:solidFill>
                  </a:rPr>
                  <a:t>P3</a:t>
                </a:r>
              </a:p>
            </p:txBody>
          </p:sp>
          <p:cxnSp>
            <p:nvCxnSpPr>
              <p:cNvPr id="14" name="Straight Connector 13">
                <a:extLst>
                  <a:ext uri="{FF2B5EF4-FFF2-40B4-BE49-F238E27FC236}">
                    <a16:creationId xmlns:a16="http://schemas.microsoft.com/office/drawing/2014/main" id="{00DB05F6-F32B-DFBE-2B4E-C33871F413A1}"/>
                  </a:ext>
                </a:extLst>
              </p:cNvPr>
              <p:cNvCxnSpPr/>
              <p:nvPr/>
            </p:nvCxnSpPr>
            <p:spPr>
              <a:xfrm>
                <a:off x="2268054" y="5651995"/>
                <a:ext cx="0" cy="838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BA653A5-BBCF-6A29-FD0F-3FFF51278AD4}"/>
                  </a:ext>
                </a:extLst>
              </p:cNvPr>
              <p:cNvCxnSpPr/>
              <p:nvPr/>
            </p:nvCxnSpPr>
            <p:spPr>
              <a:xfrm>
                <a:off x="3487254" y="5651995"/>
                <a:ext cx="0" cy="838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00AF15D-F703-CB0A-AED5-A7738A2192AC}"/>
                  </a:ext>
                </a:extLst>
              </p:cNvPr>
              <p:cNvCxnSpPr/>
              <p:nvPr/>
            </p:nvCxnSpPr>
            <p:spPr>
              <a:xfrm>
                <a:off x="5176164" y="5651995"/>
                <a:ext cx="0" cy="838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7B7CF31-2B37-885D-B391-716BAD5E6672}"/>
                  </a:ext>
                </a:extLst>
              </p:cNvPr>
              <p:cNvSpPr txBox="1"/>
              <p:nvPr/>
            </p:nvSpPr>
            <p:spPr>
              <a:xfrm>
                <a:off x="1271134" y="5236190"/>
                <a:ext cx="457200" cy="523220"/>
              </a:xfrm>
              <a:prstGeom prst="rect">
                <a:avLst/>
              </a:prstGeom>
              <a:noFill/>
            </p:spPr>
            <p:txBody>
              <a:bodyPr wrap="square" rtlCol="0">
                <a:spAutoFit/>
              </a:bodyPr>
              <a:lstStyle/>
              <a:p>
                <a:r>
                  <a:rPr lang="en-US" sz="2800" b="1" dirty="0"/>
                  <a:t>0</a:t>
                </a:r>
              </a:p>
            </p:txBody>
          </p:sp>
          <p:sp>
            <p:nvSpPr>
              <p:cNvPr id="18" name="TextBox 17">
                <a:extLst>
                  <a:ext uri="{FF2B5EF4-FFF2-40B4-BE49-F238E27FC236}">
                    <a16:creationId xmlns:a16="http://schemas.microsoft.com/office/drawing/2014/main" id="{07D44A10-6E7B-114F-31EA-63D8E8883409}"/>
                  </a:ext>
                </a:extLst>
              </p:cNvPr>
              <p:cNvSpPr txBox="1"/>
              <p:nvPr/>
            </p:nvSpPr>
            <p:spPr>
              <a:xfrm>
                <a:off x="2109333" y="5143026"/>
                <a:ext cx="457200" cy="571948"/>
              </a:xfrm>
              <a:prstGeom prst="rect">
                <a:avLst/>
              </a:prstGeom>
              <a:noFill/>
            </p:spPr>
            <p:txBody>
              <a:bodyPr wrap="square" rtlCol="0">
                <a:spAutoFit/>
              </a:bodyPr>
              <a:lstStyle/>
              <a:p>
                <a:r>
                  <a:rPr lang="en-US" sz="2800" b="1" dirty="0"/>
                  <a:t>2</a:t>
                </a:r>
              </a:p>
            </p:txBody>
          </p:sp>
          <p:sp>
            <p:nvSpPr>
              <p:cNvPr id="19" name="TextBox 18">
                <a:extLst>
                  <a:ext uri="{FF2B5EF4-FFF2-40B4-BE49-F238E27FC236}">
                    <a16:creationId xmlns:a16="http://schemas.microsoft.com/office/drawing/2014/main" id="{541D029E-B320-E970-F1B7-92350D16156F}"/>
                  </a:ext>
                </a:extLst>
              </p:cNvPr>
              <p:cNvSpPr txBox="1"/>
              <p:nvPr/>
            </p:nvSpPr>
            <p:spPr>
              <a:xfrm>
                <a:off x="3258654" y="5157276"/>
                <a:ext cx="603278" cy="571948"/>
              </a:xfrm>
              <a:prstGeom prst="rect">
                <a:avLst/>
              </a:prstGeom>
              <a:noFill/>
            </p:spPr>
            <p:txBody>
              <a:bodyPr wrap="square" rtlCol="0">
                <a:spAutoFit/>
              </a:bodyPr>
              <a:lstStyle/>
              <a:p>
                <a:r>
                  <a:rPr lang="en-US" sz="2800" b="1" dirty="0"/>
                  <a:t>8</a:t>
                </a:r>
              </a:p>
            </p:txBody>
          </p:sp>
          <p:sp>
            <p:nvSpPr>
              <p:cNvPr id="20" name="TextBox 19">
                <a:extLst>
                  <a:ext uri="{FF2B5EF4-FFF2-40B4-BE49-F238E27FC236}">
                    <a16:creationId xmlns:a16="http://schemas.microsoft.com/office/drawing/2014/main" id="{D837A1FF-6ECB-2A96-E570-9F66E0906504}"/>
                  </a:ext>
                </a:extLst>
              </p:cNvPr>
              <p:cNvSpPr txBox="1"/>
              <p:nvPr/>
            </p:nvSpPr>
            <p:spPr>
              <a:xfrm>
                <a:off x="7761728" y="5196591"/>
                <a:ext cx="711155" cy="571948"/>
              </a:xfrm>
              <a:prstGeom prst="rect">
                <a:avLst/>
              </a:prstGeom>
              <a:noFill/>
            </p:spPr>
            <p:txBody>
              <a:bodyPr wrap="square" rtlCol="0">
                <a:spAutoFit/>
              </a:bodyPr>
              <a:lstStyle/>
              <a:p>
                <a:r>
                  <a:rPr lang="en-US" sz="2800" b="1" dirty="0"/>
                  <a:t>24</a:t>
                </a:r>
              </a:p>
            </p:txBody>
          </p:sp>
          <p:sp>
            <p:nvSpPr>
              <p:cNvPr id="21" name="TextBox 20">
                <a:extLst>
                  <a:ext uri="{FF2B5EF4-FFF2-40B4-BE49-F238E27FC236}">
                    <a16:creationId xmlns:a16="http://schemas.microsoft.com/office/drawing/2014/main" id="{71433DA5-0827-1468-790A-8E519D63C207}"/>
                  </a:ext>
                </a:extLst>
              </p:cNvPr>
              <p:cNvSpPr txBox="1"/>
              <p:nvPr/>
            </p:nvSpPr>
            <p:spPr>
              <a:xfrm>
                <a:off x="4859705" y="5143026"/>
                <a:ext cx="603278" cy="571948"/>
              </a:xfrm>
              <a:prstGeom prst="rect">
                <a:avLst/>
              </a:prstGeom>
              <a:noFill/>
            </p:spPr>
            <p:txBody>
              <a:bodyPr wrap="square" rtlCol="0">
                <a:spAutoFit/>
              </a:bodyPr>
              <a:lstStyle/>
              <a:p>
                <a:r>
                  <a:rPr lang="en-US" sz="2800" b="1" dirty="0"/>
                  <a:t>19</a:t>
                </a:r>
              </a:p>
            </p:txBody>
          </p:sp>
        </p:grpSp>
        <p:cxnSp>
          <p:nvCxnSpPr>
            <p:cNvPr id="22" name="Straight Connector 21">
              <a:extLst>
                <a:ext uri="{FF2B5EF4-FFF2-40B4-BE49-F238E27FC236}">
                  <a16:creationId xmlns:a16="http://schemas.microsoft.com/office/drawing/2014/main" id="{F834D68E-30B4-5366-0AB8-DF538FD736F2}"/>
                </a:ext>
              </a:extLst>
            </p:cNvPr>
            <p:cNvCxnSpPr/>
            <p:nvPr/>
          </p:nvCxnSpPr>
          <p:spPr>
            <a:xfrm>
              <a:off x="6705600" y="4192039"/>
              <a:ext cx="0" cy="76678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D8566E6-3918-FA38-FC2B-78B7901A8D7B}"/>
                </a:ext>
              </a:extLst>
            </p:cNvPr>
            <p:cNvSpPr txBox="1"/>
            <p:nvPr/>
          </p:nvSpPr>
          <p:spPr>
            <a:xfrm>
              <a:off x="6933543" y="4307299"/>
              <a:ext cx="591493" cy="523220"/>
            </a:xfrm>
            <a:prstGeom prst="rect">
              <a:avLst/>
            </a:prstGeom>
            <a:noFill/>
          </p:spPr>
          <p:txBody>
            <a:bodyPr wrap="square" rtlCol="0">
              <a:spAutoFit/>
            </a:bodyPr>
            <a:lstStyle/>
            <a:p>
              <a:r>
                <a:rPr lang="en-US" sz="2800" b="1" dirty="0">
                  <a:solidFill>
                    <a:schemeClr val="tx2"/>
                  </a:solidFill>
                </a:rPr>
                <a:t>P4</a:t>
              </a:r>
            </a:p>
          </p:txBody>
        </p:sp>
        <p:sp>
          <p:nvSpPr>
            <p:cNvPr id="24" name="TextBox 23">
              <a:extLst>
                <a:ext uri="{FF2B5EF4-FFF2-40B4-BE49-F238E27FC236}">
                  <a16:creationId xmlns:a16="http://schemas.microsoft.com/office/drawing/2014/main" id="{6DB2C69D-FFC4-F401-2B27-56738DB87690}"/>
                </a:ext>
              </a:extLst>
            </p:cNvPr>
            <p:cNvSpPr txBox="1"/>
            <p:nvPr/>
          </p:nvSpPr>
          <p:spPr>
            <a:xfrm>
              <a:off x="6376287" y="3682587"/>
              <a:ext cx="591493" cy="523220"/>
            </a:xfrm>
            <a:prstGeom prst="rect">
              <a:avLst/>
            </a:prstGeom>
            <a:noFill/>
          </p:spPr>
          <p:txBody>
            <a:bodyPr wrap="square" rtlCol="0">
              <a:spAutoFit/>
            </a:bodyPr>
            <a:lstStyle/>
            <a:p>
              <a:r>
                <a:rPr lang="en-US" sz="2800" b="1" dirty="0">
                  <a:solidFill>
                    <a:schemeClr val="tx2"/>
                  </a:solidFill>
                </a:rPr>
                <a:t>22</a:t>
              </a:r>
            </a:p>
          </p:txBody>
        </p:sp>
      </p:grpSp>
      <p:sp>
        <p:nvSpPr>
          <p:cNvPr id="25" name="TextBox 24">
            <a:extLst>
              <a:ext uri="{FF2B5EF4-FFF2-40B4-BE49-F238E27FC236}">
                <a16:creationId xmlns:a16="http://schemas.microsoft.com/office/drawing/2014/main" id="{09FC5333-7F0E-7DE9-5A2B-2CEE5B26EADC}"/>
              </a:ext>
            </a:extLst>
          </p:cNvPr>
          <p:cNvSpPr txBox="1"/>
          <p:nvPr/>
        </p:nvSpPr>
        <p:spPr>
          <a:xfrm>
            <a:off x="651459" y="3910364"/>
            <a:ext cx="2393642" cy="1938992"/>
          </a:xfrm>
          <a:prstGeom prst="rect">
            <a:avLst/>
          </a:prstGeom>
          <a:noFill/>
        </p:spPr>
        <p:txBody>
          <a:bodyPr wrap="square" rtlCol="0">
            <a:spAutoFit/>
          </a:bodyPr>
          <a:lstStyle/>
          <a:p>
            <a:r>
              <a:rPr lang="en-US" sz="2400" dirty="0"/>
              <a:t>Waiting Times:</a:t>
            </a:r>
          </a:p>
          <a:p>
            <a:r>
              <a:rPr lang="en-US" sz="2400" dirty="0"/>
              <a:t>P1 = 7</a:t>
            </a:r>
          </a:p>
          <a:p>
            <a:r>
              <a:rPr lang="en-US" sz="2400" dirty="0"/>
              <a:t>P2 = 0</a:t>
            </a:r>
          </a:p>
          <a:p>
            <a:r>
              <a:rPr lang="en-US" sz="2400" dirty="0"/>
              <a:t>P3 = 18</a:t>
            </a:r>
          </a:p>
          <a:p>
            <a:r>
              <a:rPr lang="en-US" sz="2400" dirty="0"/>
              <a:t>P4 = 21</a:t>
            </a:r>
          </a:p>
        </p:txBody>
      </p:sp>
      <p:sp>
        <p:nvSpPr>
          <p:cNvPr id="27" name="TextBox 26">
            <a:extLst>
              <a:ext uri="{FF2B5EF4-FFF2-40B4-BE49-F238E27FC236}">
                <a16:creationId xmlns:a16="http://schemas.microsoft.com/office/drawing/2014/main" id="{0F59DE68-B729-CD2E-CC9B-2C56C3C5AD12}"/>
              </a:ext>
            </a:extLst>
          </p:cNvPr>
          <p:cNvSpPr txBox="1"/>
          <p:nvPr/>
        </p:nvSpPr>
        <p:spPr>
          <a:xfrm>
            <a:off x="1656260" y="5972350"/>
            <a:ext cx="6901641" cy="461665"/>
          </a:xfrm>
          <a:prstGeom prst="rect">
            <a:avLst/>
          </a:prstGeom>
          <a:noFill/>
        </p:spPr>
        <p:txBody>
          <a:bodyPr wrap="square" rtlCol="0">
            <a:spAutoFit/>
          </a:bodyPr>
          <a:lstStyle/>
          <a:p>
            <a:r>
              <a:rPr lang="en-US" sz="2400" dirty="0"/>
              <a:t>Average Waiting Time = 7 + 0 + 18 + 21/4 = 11.5 </a:t>
            </a:r>
            <a:r>
              <a:rPr lang="en-US" sz="2400" dirty="0" err="1"/>
              <a:t>ms</a:t>
            </a:r>
            <a:r>
              <a:rPr lang="en-US" sz="2400" dirty="0"/>
              <a:t> </a:t>
            </a:r>
          </a:p>
        </p:txBody>
      </p:sp>
      <p:sp>
        <p:nvSpPr>
          <p:cNvPr id="29" name="Slide Number Placeholder 28">
            <a:extLst>
              <a:ext uri="{FF2B5EF4-FFF2-40B4-BE49-F238E27FC236}">
                <a16:creationId xmlns:a16="http://schemas.microsoft.com/office/drawing/2014/main" id="{63C638D1-E2ED-357E-4CB5-06713D5089E0}"/>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0583934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FD1AE-EC63-4AAF-4EEC-F3C9048C4195}"/>
              </a:ext>
            </a:extLst>
          </p:cNvPr>
          <p:cNvSpPr>
            <a:spLocks noGrp="1"/>
          </p:cNvSpPr>
          <p:nvPr>
            <p:ph type="title"/>
          </p:nvPr>
        </p:nvSpPr>
        <p:spPr>
          <a:xfrm>
            <a:off x="982133" y="457201"/>
            <a:ext cx="7704667" cy="990599"/>
          </a:xfrm>
        </p:spPr>
        <p:txBody>
          <a:bodyPr/>
          <a:lstStyle/>
          <a:p>
            <a:r>
              <a:rPr lang="en-US" dirty="0"/>
              <a:t>Round Robin</a:t>
            </a:r>
          </a:p>
        </p:txBody>
      </p:sp>
      <p:sp>
        <p:nvSpPr>
          <p:cNvPr id="3" name="Content Placeholder 2">
            <a:extLst>
              <a:ext uri="{FF2B5EF4-FFF2-40B4-BE49-F238E27FC236}">
                <a16:creationId xmlns:a16="http://schemas.microsoft.com/office/drawing/2014/main" id="{23D9665A-CDBB-9E2A-F6BA-BFB4B9F7F668}"/>
              </a:ext>
            </a:extLst>
          </p:cNvPr>
          <p:cNvSpPr>
            <a:spLocks noGrp="1"/>
          </p:cNvSpPr>
          <p:nvPr>
            <p:ph idx="1"/>
          </p:nvPr>
        </p:nvSpPr>
        <p:spPr>
          <a:xfrm>
            <a:off x="900244" y="1342011"/>
            <a:ext cx="7704667" cy="990599"/>
          </a:xfrm>
        </p:spPr>
        <p:txBody>
          <a:bodyPr/>
          <a:lstStyle/>
          <a:p>
            <a:pPr marL="0" indent="0">
              <a:buNone/>
            </a:pPr>
            <a:r>
              <a:rPr lang="en-US" dirty="0"/>
              <a:t>RR = 5 </a:t>
            </a:r>
            <a:r>
              <a:rPr lang="en-US" dirty="0" err="1"/>
              <a:t>ms</a:t>
            </a:r>
            <a:r>
              <a:rPr lang="en-US" dirty="0"/>
              <a:t> quanta, assume the processes arrive in order</a:t>
            </a:r>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C2040E33-1916-DCE8-110C-F1F55A7EFBE1}"/>
              </a:ext>
            </a:extLst>
          </p:cNvPr>
          <p:cNvSpPr>
            <a:spLocks noGrp="1"/>
          </p:cNvSpPr>
          <p:nvPr>
            <p:ph type="sldNum" sz="quarter" idx="12"/>
          </p:nvPr>
        </p:nvSpPr>
        <p:spPr/>
        <p:txBody>
          <a:bodyPr/>
          <a:lstStyle/>
          <a:p>
            <a:r>
              <a:rPr lang="en-US"/>
              <a:t>CS4500/5500</a:t>
            </a:r>
            <a:endParaRPr lang="en-US" dirty="0"/>
          </a:p>
        </p:txBody>
      </p:sp>
      <p:pic>
        <p:nvPicPr>
          <p:cNvPr id="8" name="Picture 7">
            <a:extLst>
              <a:ext uri="{FF2B5EF4-FFF2-40B4-BE49-F238E27FC236}">
                <a16:creationId xmlns:a16="http://schemas.microsoft.com/office/drawing/2014/main" id="{43805C00-117B-9C8D-DE9E-50973EB80CBD}"/>
              </a:ext>
            </a:extLst>
          </p:cNvPr>
          <p:cNvPicPr>
            <a:picLocks noChangeAspect="1"/>
          </p:cNvPicPr>
          <p:nvPr/>
        </p:nvPicPr>
        <p:blipFill>
          <a:blip r:embed="rId3"/>
          <a:stretch>
            <a:fillRect/>
          </a:stretch>
        </p:blipFill>
        <p:spPr>
          <a:xfrm>
            <a:off x="980603" y="1842927"/>
            <a:ext cx="7742591" cy="2517866"/>
          </a:xfrm>
          <a:prstGeom prst="rect">
            <a:avLst/>
          </a:prstGeom>
        </p:spPr>
      </p:pic>
      <p:sp>
        <p:nvSpPr>
          <p:cNvPr id="5" name="Rectangle 4">
            <a:extLst>
              <a:ext uri="{FF2B5EF4-FFF2-40B4-BE49-F238E27FC236}">
                <a16:creationId xmlns:a16="http://schemas.microsoft.com/office/drawing/2014/main" id="{26F93703-E994-3691-5A9F-CAEE9BE8E08B}"/>
              </a:ext>
            </a:extLst>
          </p:cNvPr>
          <p:cNvSpPr/>
          <p:nvPr/>
        </p:nvSpPr>
        <p:spPr>
          <a:xfrm>
            <a:off x="1602498" y="5039307"/>
            <a:ext cx="6811167" cy="867393"/>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09D65AF0-1F08-7739-524D-61C56E622DD2}"/>
              </a:ext>
            </a:extLst>
          </p:cNvPr>
          <p:cNvCxnSpPr/>
          <p:nvPr/>
        </p:nvCxnSpPr>
        <p:spPr>
          <a:xfrm>
            <a:off x="2438400" y="5029200"/>
            <a:ext cx="0" cy="91440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EACB1F1-668F-770B-1E98-9318605F06A7}"/>
              </a:ext>
            </a:extLst>
          </p:cNvPr>
          <p:cNvSpPr txBox="1"/>
          <p:nvPr/>
        </p:nvSpPr>
        <p:spPr>
          <a:xfrm>
            <a:off x="1676400" y="5334000"/>
            <a:ext cx="533399" cy="369332"/>
          </a:xfrm>
          <a:prstGeom prst="rect">
            <a:avLst/>
          </a:prstGeom>
          <a:noFill/>
        </p:spPr>
        <p:txBody>
          <a:bodyPr wrap="square" rtlCol="0">
            <a:spAutoFit/>
          </a:bodyPr>
          <a:lstStyle/>
          <a:p>
            <a:r>
              <a:rPr lang="en-US" b="1" dirty="0"/>
              <a:t>P1</a:t>
            </a:r>
          </a:p>
        </p:txBody>
      </p:sp>
      <p:sp>
        <p:nvSpPr>
          <p:cNvPr id="10" name="TextBox 9">
            <a:extLst>
              <a:ext uri="{FF2B5EF4-FFF2-40B4-BE49-F238E27FC236}">
                <a16:creationId xmlns:a16="http://schemas.microsoft.com/office/drawing/2014/main" id="{A2BFC199-9C16-B7C2-5376-47AD81866F2F}"/>
              </a:ext>
            </a:extLst>
          </p:cNvPr>
          <p:cNvSpPr txBox="1"/>
          <p:nvPr/>
        </p:nvSpPr>
        <p:spPr>
          <a:xfrm>
            <a:off x="3210489" y="5351627"/>
            <a:ext cx="533399" cy="369332"/>
          </a:xfrm>
          <a:prstGeom prst="rect">
            <a:avLst/>
          </a:prstGeom>
          <a:noFill/>
        </p:spPr>
        <p:txBody>
          <a:bodyPr wrap="square" rtlCol="0">
            <a:spAutoFit/>
          </a:bodyPr>
          <a:lstStyle/>
          <a:p>
            <a:r>
              <a:rPr lang="en-US" b="1" dirty="0"/>
              <a:t>P3</a:t>
            </a:r>
          </a:p>
        </p:txBody>
      </p:sp>
      <p:sp>
        <p:nvSpPr>
          <p:cNvPr id="11" name="TextBox 10">
            <a:extLst>
              <a:ext uri="{FF2B5EF4-FFF2-40B4-BE49-F238E27FC236}">
                <a16:creationId xmlns:a16="http://schemas.microsoft.com/office/drawing/2014/main" id="{31531F0F-3D4A-FF7A-CA6E-1E40F52196E9}"/>
              </a:ext>
            </a:extLst>
          </p:cNvPr>
          <p:cNvSpPr txBox="1"/>
          <p:nvPr/>
        </p:nvSpPr>
        <p:spPr>
          <a:xfrm>
            <a:off x="2527558" y="5344382"/>
            <a:ext cx="533399" cy="369332"/>
          </a:xfrm>
          <a:prstGeom prst="rect">
            <a:avLst/>
          </a:prstGeom>
          <a:noFill/>
        </p:spPr>
        <p:txBody>
          <a:bodyPr wrap="square" rtlCol="0">
            <a:spAutoFit/>
          </a:bodyPr>
          <a:lstStyle/>
          <a:p>
            <a:r>
              <a:rPr lang="en-US" b="1" dirty="0"/>
              <a:t>P2</a:t>
            </a:r>
          </a:p>
        </p:txBody>
      </p:sp>
      <p:sp>
        <p:nvSpPr>
          <p:cNvPr id="12" name="TextBox 11">
            <a:extLst>
              <a:ext uri="{FF2B5EF4-FFF2-40B4-BE49-F238E27FC236}">
                <a16:creationId xmlns:a16="http://schemas.microsoft.com/office/drawing/2014/main" id="{7B752204-C1F2-6414-6490-4F21A6ECEC14}"/>
              </a:ext>
            </a:extLst>
          </p:cNvPr>
          <p:cNvSpPr txBox="1"/>
          <p:nvPr/>
        </p:nvSpPr>
        <p:spPr>
          <a:xfrm>
            <a:off x="3847794" y="5301734"/>
            <a:ext cx="533400" cy="369332"/>
          </a:xfrm>
          <a:prstGeom prst="rect">
            <a:avLst/>
          </a:prstGeom>
          <a:noFill/>
        </p:spPr>
        <p:txBody>
          <a:bodyPr wrap="square" rtlCol="0">
            <a:spAutoFit/>
          </a:bodyPr>
          <a:lstStyle/>
          <a:p>
            <a:r>
              <a:rPr lang="en-US" b="1" dirty="0"/>
              <a:t>P4</a:t>
            </a:r>
          </a:p>
        </p:txBody>
      </p:sp>
      <p:sp>
        <p:nvSpPr>
          <p:cNvPr id="13" name="TextBox 12">
            <a:extLst>
              <a:ext uri="{FF2B5EF4-FFF2-40B4-BE49-F238E27FC236}">
                <a16:creationId xmlns:a16="http://schemas.microsoft.com/office/drawing/2014/main" id="{A8913CCE-935E-422E-45D6-D07561444384}"/>
              </a:ext>
            </a:extLst>
          </p:cNvPr>
          <p:cNvSpPr txBox="1"/>
          <p:nvPr/>
        </p:nvSpPr>
        <p:spPr>
          <a:xfrm>
            <a:off x="4709683" y="5334000"/>
            <a:ext cx="533399" cy="369332"/>
          </a:xfrm>
          <a:prstGeom prst="rect">
            <a:avLst/>
          </a:prstGeom>
          <a:noFill/>
        </p:spPr>
        <p:txBody>
          <a:bodyPr wrap="square" rtlCol="0">
            <a:spAutoFit/>
          </a:bodyPr>
          <a:lstStyle/>
          <a:p>
            <a:r>
              <a:rPr lang="en-US" b="1" dirty="0"/>
              <a:t>P5</a:t>
            </a:r>
          </a:p>
        </p:txBody>
      </p:sp>
      <p:sp>
        <p:nvSpPr>
          <p:cNvPr id="15" name="TextBox 14">
            <a:extLst>
              <a:ext uri="{FF2B5EF4-FFF2-40B4-BE49-F238E27FC236}">
                <a16:creationId xmlns:a16="http://schemas.microsoft.com/office/drawing/2014/main" id="{3442968D-75DE-7A40-F178-F35760600E0F}"/>
              </a:ext>
            </a:extLst>
          </p:cNvPr>
          <p:cNvSpPr txBox="1"/>
          <p:nvPr/>
        </p:nvSpPr>
        <p:spPr>
          <a:xfrm>
            <a:off x="1442250" y="4669975"/>
            <a:ext cx="457200" cy="369332"/>
          </a:xfrm>
          <a:prstGeom prst="rect">
            <a:avLst/>
          </a:prstGeom>
          <a:noFill/>
        </p:spPr>
        <p:txBody>
          <a:bodyPr wrap="square" rtlCol="0">
            <a:spAutoFit/>
          </a:bodyPr>
          <a:lstStyle/>
          <a:p>
            <a:r>
              <a:rPr lang="en-US" dirty="0"/>
              <a:t>0</a:t>
            </a:r>
          </a:p>
        </p:txBody>
      </p:sp>
      <p:sp>
        <p:nvSpPr>
          <p:cNvPr id="16" name="TextBox 15">
            <a:extLst>
              <a:ext uri="{FF2B5EF4-FFF2-40B4-BE49-F238E27FC236}">
                <a16:creationId xmlns:a16="http://schemas.microsoft.com/office/drawing/2014/main" id="{B01F428B-7CB2-E323-2A5A-B057925428CA}"/>
              </a:ext>
            </a:extLst>
          </p:cNvPr>
          <p:cNvSpPr txBox="1"/>
          <p:nvPr/>
        </p:nvSpPr>
        <p:spPr>
          <a:xfrm>
            <a:off x="2240843" y="4648200"/>
            <a:ext cx="457200" cy="369332"/>
          </a:xfrm>
          <a:prstGeom prst="rect">
            <a:avLst/>
          </a:prstGeom>
          <a:noFill/>
        </p:spPr>
        <p:txBody>
          <a:bodyPr wrap="square" rtlCol="0">
            <a:spAutoFit/>
          </a:bodyPr>
          <a:lstStyle/>
          <a:p>
            <a:r>
              <a:rPr lang="en-US" dirty="0"/>
              <a:t>5</a:t>
            </a:r>
          </a:p>
        </p:txBody>
      </p:sp>
      <p:sp>
        <p:nvSpPr>
          <p:cNvPr id="17" name="TextBox 16">
            <a:extLst>
              <a:ext uri="{FF2B5EF4-FFF2-40B4-BE49-F238E27FC236}">
                <a16:creationId xmlns:a16="http://schemas.microsoft.com/office/drawing/2014/main" id="{7366A2D0-14D5-41A5-DEA8-171BA87F86BE}"/>
              </a:ext>
            </a:extLst>
          </p:cNvPr>
          <p:cNvSpPr txBox="1"/>
          <p:nvPr/>
        </p:nvSpPr>
        <p:spPr>
          <a:xfrm>
            <a:off x="6162462" y="4606202"/>
            <a:ext cx="457200" cy="369332"/>
          </a:xfrm>
          <a:prstGeom prst="rect">
            <a:avLst/>
          </a:prstGeom>
          <a:noFill/>
        </p:spPr>
        <p:txBody>
          <a:bodyPr wrap="square" rtlCol="0">
            <a:spAutoFit/>
          </a:bodyPr>
          <a:lstStyle/>
          <a:p>
            <a:r>
              <a:rPr lang="en-US" dirty="0"/>
              <a:t>22</a:t>
            </a:r>
          </a:p>
        </p:txBody>
      </p:sp>
      <p:sp>
        <p:nvSpPr>
          <p:cNvPr id="18" name="TextBox 17">
            <a:extLst>
              <a:ext uri="{FF2B5EF4-FFF2-40B4-BE49-F238E27FC236}">
                <a16:creationId xmlns:a16="http://schemas.microsoft.com/office/drawing/2014/main" id="{6DC860C7-AE47-5DEB-5800-6848387C423F}"/>
              </a:ext>
            </a:extLst>
          </p:cNvPr>
          <p:cNvSpPr txBox="1"/>
          <p:nvPr/>
        </p:nvSpPr>
        <p:spPr>
          <a:xfrm>
            <a:off x="4394699" y="4647062"/>
            <a:ext cx="457200" cy="369332"/>
          </a:xfrm>
          <a:prstGeom prst="rect">
            <a:avLst/>
          </a:prstGeom>
          <a:noFill/>
        </p:spPr>
        <p:txBody>
          <a:bodyPr wrap="square" rtlCol="0">
            <a:spAutoFit/>
          </a:bodyPr>
          <a:lstStyle/>
          <a:p>
            <a:r>
              <a:rPr lang="en-US" dirty="0"/>
              <a:t>12</a:t>
            </a:r>
          </a:p>
        </p:txBody>
      </p:sp>
      <p:sp>
        <p:nvSpPr>
          <p:cNvPr id="19" name="TextBox 18">
            <a:extLst>
              <a:ext uri="{FF2B5EF4-FFF2-40B4-BE49-F238E27FC236}">
                <a16:creationId xmlns:a16="http://schemas.microsoft.com/office/drawing/2014/main" id="{1D0665E8-7137-A6B0-8F07-976F48A196AD}"/>
              </a:ext>
            </a:extLst>
          </p:cNvPr>
          <p:cNvSpPr txBox="1"/>
          <p:nvPr/>
        </p:nvSpPr>
        <p:spPr>
          <a:xfrm>
            <a:off x="8185065" y="4645881"/>
            <a:ext cx="457200" cy="369332"/>
          </a:xfrm>
          <a:prstGeom prst="rect">
            <a:avLst/>
          </a:prstGeom>
          <a:noFill/>
        </p:spPr>
        <p:txBody>
          <a:bodyPr wrap="square" rtlCol="0">
            <a:spAutoFit/>
          </a:bodyPr>
          <a:lstStyle/>
          <a:p>
            <a:r>
              <a:rPr lang="en-US" dirty="0"/>
              <a:t>24</a:t>
            </a:r>
          </a:p>
        </p:txBody>
      </p:sp>
      <p:sp>
        <p:nvSpPr>
          <p:cNvPr id="20" name="TextBox 19">
            <a:extLst>
              <a:ext uri="{FF2B5EF4-FFF2-40B4-BE49-F238E27FC236}">
                <a16:creationId xmlns:a16="http://schemas.microsoft.com/office/drawing/2014/main" id="{0647D86E-B41A-B32B-13D6-CB1204AD1032}"/>
              </a:ext>
            </a:extLst>
          </p:cNvPr>
          <p:cNvSpPr txBox="1"/>
          <p:nvPr/>
        </p:nvSpPr>
        <p:spPr>
          <a:xfrm>
            <a:off x="2949521" y="4648200"/>
            <a:ext cx="457200" cy="369332"/>
          </a:xfrm>
          <a:prstGeom prst="rect">
            <a:avLst/>
          </a:prstGeom>
          <a:noFill/>
        </p:spPr>
        <p:txBody>
          <a:bodyPr wrap="square" rtlCol="0">
            <a:spAutoFit/>
          </a:bodyPr>
          <a:lstStyle/>
          <a:p>
            <a:r>
              <a:rPr lang="en-US" dirty="0"/>
              <a:t>7</a:t>
            </a:r>
          </a:p>
        </p:txBody>
      </p:sp>
      <p:cxnSp>
        <p:nvCxnSpPr>
          <p:cNvPr id="21" name="Straight Connector 20">
            <a:extLst>
              <a:ext uri="{FF2B5EF4-FFF2-40B4-BE49-F238E27FC236}">
                <a16:creationId xmlns:a16="http://schemas.microsoft.com/office/drawing/2014/main" id="{DE9BF141-6A2D-30E1-91B6-60F1927FEDB0}"/>
              </a:ext>
            </a:extLst>
          </p:cNvPr>
          <p:cNvCxnSpPr/>
          <p:nvPr/>
        </p:nvCxnSpPr>
        <p:spPr>
          <a:xfrm>
            <a:off x="3055313" y="5061465"/>
            <a:ext cx="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0CFFA9F-3008-E9AC-6BDE-FA8B9FEF5ED9}"/>
              </a:ext>
            </a:extLst>
          </p:cNvPr>
          <p:cNvCxnSpPr/>
          <p:nvPr/>
        </p:nvCxnSpPr>
        <p:spPr>
          <a:xfrm>
            <a:off x="3795840" y="5084969"/>
            <a:ext cx="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DEC98FC-A54E-3FDE-8BF5-BB472E24DB17}"/>
              </a:ext>
            </a:extLst>
          </p:cNvPr>
          <p:cNvCxnSpPr/>
          <p:nvPr/>
        </p:nvCxnSpPr>
        <p:spPr>
          <a:xfrm>
            <a:off x="6400800" y="5016394"/>
            <a:ext cx="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A8AB2B1-4D70-AC97-253A-4D82E8D61797}"/>
              </a:ext>
            </a:extLst>
          </p:cNvPr>
          <p:cNvCxnSpPr/>
          <p:nvPr/>
        </p:nvCxnSpPr>
        <p:spPr>
          <a:xfrm>
            <a:off x="5486400" y="5024818"/>
            <a:ext cx="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A46D50C-1464-F6B1-B1D9-B29BEC9A97DB}"/>
              </a:ext>
            </a:extLst>
          </p:cNvPr>
          <p:cNvCxnSpPr/>
          <p:nvPr/>
        </p:nvCxnSpPr>
        <p:spPr>
          <a:xfrm>
            <a:off x="4572000" y="5089013"/>
            <a:ext cx="0" cy="914400"/>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43A229B-5839-5205-4B04-FE13A4EE8577}"/>
              </a:ext>
            </a:extLst>
          </p:cNvPr>
          <p:cNvSpPr txBox="1"/>
          <p:nvPr/>
        </p:nvSpPr>
        <p:spPr>
          <a:xfrm>
            <a:off x="5305187" y="4629433"/>
            <a:ext cx="457200" cy="369332"/>
          </a:xfrm>
          <a:prstGeom prst="rect">
            <a:avLst/>
          </a:prstGeom>
          <a:noFill/>
        </p:spPr>
        <p:txBody>
          <a:bodyPr wrap="square" rtlCol="0">
            <a:spAutoFit/>
          </a:bodyPr>
          <a:lstStyle/>
          <a:p>
            <a:r>
              <a:rPr lang="en-US" dirty="0"/>
              <a:t>17</a:t>
            </a:r>
          </a:p>
        </p:txBody>
      </p:sp>
      <p:sp>
        <p:nvSpPr>
          <p:cNvPr id="27" name="TextBox 26">
            <a:extLst>
              <a:ext uri="{FF2B5EF4-FFF2-40B4-BE49-F238E27FC236}">
                <a16:creationId xmlns:a16="http://schemas.microsoft.com/office/drawing/2014/main" id="{54AEF76D-D443-76B4-50F1-1571B50E5FBF}"/>
              </a:ext>
            </a:extLst>
          </p:cNvPr>
          <p:cNvSpPr txBox="1"/>
          <p:nvPr/>
        </p:nvSpPr>
        <p:spPr>
          <a:xfrm>
            <a:off x="3536198" y="4706875"/>
            <a:ext cx="457200" cy="369332"/>
          </a:xfrm>
          <a:prstGeom prst="rect">
            <a:avLst/>
          </a:prstGeom>
          <a:noFill/>
        </p:spPr>
        <p:txBody>
          <a:bodyPr wrap="square" rtlCol="0">
            <a:spAutoFit/>
          </a:bodyPr>
          <a:lstStyle/>
          <a:p>
            <a:r>
              <a:rPr lang="en-US" dirty="0"/>
              <a:t>10</a:t>
            </a:r>
          </a:p>
        </p:txBody>
      </p:sp>
      <p:sp>
        <p:nvSpPr>
          <p:cNvPr id="28" name="TextBox 27">
            <a:extLst>
              <a:ext uri="{FF2B5EF4-FFF2-40B4-BE49-F238E27FC236}">
                <a16:creationId xmlns:a16="http://schemas.microsoft.com/office/drawing/2014/main" id="{B1D6D31D-04F7-119D-2BAF-F3F81F2EE9B1}"/>
              </a:ext>
            </a:extLst>
          </p:cNvPr>
          <p:cNvSpPr txBox="1"/>
          <p:nvPr/>
        </p:nvSpPr>
        <p:spPr>
          <a:xfrm>
            <a:off x="5728570" y="5329618"/>
            <a:ext cx="533399" cy="369332"/>
          </a:xfrm>
          <a:prstGeom prst="rect">
            <a:avLst/>
          </a:prstGeom>
          <a:noFill/>
        </p:spPr>
        <p:txBody>
          <a:bodyPr wrap="square" rtlCol="0">
            <a:spAutoFit/>
          </a:bodyPr>
          <a:lstStyle/>
          <a:p>
            <a:r>
              <a:rPr lang="en-US" b="1" dirty="0"/>
              <a:t>P1</a:t>
            </a:r>
          </a:p>
        </p:txBody>
      </p:sp>
      <p:sp>
        <p:nvSpPr>
          <p:cNvPr id="29" name="TextBox 28">
            <a:extLst>
              <a:ext uri="{FF2B5EF4-FFF2-40B4-BE49-F238E27FC236}">
                <a16:creationId xmlns:a16="http://schemas.microsoft.com/office/drawing/2014/main" id="{B983D2D3-F9CD-A08C-AB34-DFDF70351066}"/>
              </a:ext>
            </a:extLst>
          </p:cNvPr>
          <p:cNvSpPr txBox="1"/>
          <p:nvPr/>
        </p:nvSpPr>
        <p:spPr>
          <a:xfrm>
            <a:off x="6758537" y="4626757"/>
            <a:ext cx="457200" cy="369332"/>
          </a:xfrm>
          <a:prstGeom prst="rect">
            <a:avLst/>
          </a:prstGeom>
          <a:noFill/>
        </p:spPr>
        <p:txBody>
          <a:bodyPr wrap="square" rtlCol="0">
            <a:spAutoFit/>
          </a:bodyPr>
          <a:lstStyle/>
          <a:p>
            <a:r>
              <a:rPr lang="en-US" dirty="0"/>
              <a:t>23</a:t>
            </a:r>
          </a:p>
        </p:txBody>
      </p:sp>
      <p:sp>
        <p:nvSpPr>
          <p:cNvPr id="30" name="TextBox 29">
            <a:extLst>
              <a:ext uri="{FF2B5EF4-FFF2-40B4-BE49-F238E27FC236}">
                <a16:creationId xmlns:a16="http://schemas.microsoft.com/office/drawing/2014/main" id="{F5B7E5BB-86EE-D9C6-E594-1D0545F21691}"/>
              </a:ext>
            </a:extLst>
          </p:cNvPr>
          <p:cNvSpPr txBox="1"/>
          <p:nvPr/>
        </p:nvSpPr>
        <p:spPr>
          <a:xfrm>
            <a:off x="7758098" y="5335956"/>
            <a:ext cx="533399" cy="369332"/>
          </a:xfrm>
          <a:prstGeom prst="rect">
            <a:avLst/>
          </a:prstGeom>
          <a:noFill/>
        </p:spPr>
        <p:txBody>
          <a:bodyPr wrap="square" rtlCol="0">
            <a:spAutoFit/>
          </a:bodyPr>
          <a:lstStyle/>
          <a:p>
            <a:r>
              <a:rPr lang="en-US" b="1" dirty="0"/>
              <a:t>P1</a:t>
            </a:r>
          </a:p>
        </p:txBody>
      </p:sp>
      <p:sp>
        <p:nvSpPr>
          <p:cNvPr id="31" name="TextBox 30">
            <a:extLst>
              <a:ext uri="{FF2B5EF4-FFF2-40B4-BE49-F238E27FC236}">
                <a16:creationId xmlns:a16="http://schemas.microsoft.com/office/drawing/2014/main" id="{B9E79834-712E-4E7D-D2E1-9D8F24BC5835}"/>
              </a:ext>
            </a:extLst>
          </p:cNvPr>
          <p:cNvSpPr txBox="1"/>
          <p:nvPr/>
        </p:nvSpPr>
        <p:spPr>
          <a:xfrm>
            <a:off x="6820205" y="5301734"/>
            <a:ext cx="533399" cy="369332"/>
          </a:xfrm>
          <a:prstGeom prst="rect">
            <a:avLst/>
          </a:prstGeom>
          <a:noFill/>
        </p:spPr>
        <p:txBody>
          <a:bodyPr wrap="square" rtlCol="0">
            <a:spAutoFit/>
          </a:bodyPr>
          <a:lstStyle/>
          <a:p>
            <a:r>
              <a:rPr lang="en-US" b="1" dirty="0"/>
              <a:t>P5</a:t>
            </a:r>
          </a:p>
        </p:txBody>
      </p:sp>
      <p:cxnSp>
        <p:nvCxnSpPr>
          <p:cNvPr id="32" name="Straight Connector 31">
            <a:extLst>
              <a:ext uri="{FF2B5EF4-FFF2-40B4-BE49-F238E27FC236}">
                <a16:creationId xmlns:a16="http://schemas.microsoft.com/office/drawing/2014/main" id="{9C5A9E65-486C-0CD3-5FA3-CB78E1F1C9C8}"/>
              </a:ext>
            </a:extLst>
          </p:cNvPr>
          <p:cNvCxnSpPr/>
          <p:nvPr/>
        </p:nvCxnSpPr>
        <p:spPr>
          <a:xfrm>
            <a:off x="7396951" y="5015803"/>
            <a:ext cx="0" cy="9144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45970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41"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42"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43"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44"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45"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46"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useBgFill="1">
        <p:nvSpPr>
          <p:cNvPr id="48" name="Rectangle 47">
            <a:extLst>
              <a:ext uri="{FF2B5EF4-FFF2-40B4-BE49-F238E27FC236}">
                <a16:creationId xmlns:a16="http://schemas.microsoft.com/office/drawing/2014/main" id="{F64080D6-34DE-4277-97CC-2FB381284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11" descr="Writing an appointment on a paper agenda">
            <a:extLst>
              <a:ext uri="{FF2B5EF4-FFF2-40B4-BE49-F238E27FC236}">
                <a16:creationId xmlns:a16="http://schemas.microsoft.com/office/drawing/2014/main" id="{B2B06810-E790-6854-031B-3475860435CC}"/>
              </a:ext>
            </a:extLst>
          </p:cNvPr>
          <p:cNvPicPr>
            <a:picLocks noChangeAspect="1"/>
          </p:cNvPicPr>
          <p:nvPr/>
        </p:nvPicPr>
        <p:blipFill rotWithShape="1">
          <a:blip r:embed="rId2">
            <a:alphaModFix amt="40000"/>
          </a:blip>
          <a:srcRect r="10999" b="-1"/>
          <a:stretch/>
        </p:blipFill>
        <p:spPr>
          <a:xfrm>
            <a:off x="20" y="10"/>
            <a:ext cx="9143980" cy="6857990"/>
          </a:xfrm>
          <a:prstGeom prst="rect">
            <a:avLst/>
          </a:prstGeom>
        </p:spPr>
      </p:pic>
      <p:sp>
        <p:nvSpPr>
          <p:cNvPr id="9" name="Title 8">
            <a:extLst>
              <a:ext uri="{FF2B5EF4-FFF2-40B4-BE49-F238E27FC236}">
                <a16:creationId xmlns:a16="http://schemas.microsoft.com/office/drawing/2014/main" id="{9F2ED07E-DB0E-C0D8-644F-1C61E6A91A17}"/>
              </a:ext>
            </a:extLst>
          </p:cNvPr>
          <p:cNvSpPr>
            <a:spLocks noGrp="1"/>
          </p:cNvSpPr>
          <p:nvPr>
            <p:ph type="title"/>
          </p:nvPr>
        </p:nvSpPr>
        <p:spPr>
          <a:xfrm>
            <a:off x="2196300" y="1380068"/>
            <a:ext cx="6430967" cy="2616199"/>
          </a:xfrm>
        </p:spPr>
        <p:txBody>
          <a:bodyPr vert="horz" lIns="91440" tIns="45720" rIns="91440" bIns="45720" rtlCol="0" anchor="b">
            <a:normAutofit/>
          </a:bodyPr>
          <a:lstStyle/>
          <a:p>
            <a:pPr>
              <a:lnSpc>
                <a:spcPct val="90000"/>
              </a:lnSpc>
            </a:pPr>
            <a:r>
              <a:rPr lang="en-US" sz="6000" dirty="0"/>
              <a:t>Linux Completely Fair Scheduler (CFS)</a:t>
            </a:r>
          </a:p>
        </p:txBody>
      </p:sp>
      <p:sp>
        <p:nvSpPr>
          <p:cNvPr id="10" name="Text Placeholder 9">
            <a:extLst>
              <a:ext uri="{FF2B5EF4-FFF2-40B4-BE49-F238E27FC236}">
                <a16:creationId xmlns:a16="http://schemas.microsoft.com/office/drawing/2014/main" id="{D7EB645F-249D-9F9A-0779-3F012AADFFD8}"/>
              </a:ext>
            </a:extLst>
          </p:cNvPr>
          <p:cNvSpPr>
            <a:spLocks noGrp="1"/>
          </p:cNvSpPr>
          <p:nvPr>
            <p:ph type="body" idx="1"/>
          </p:nvPr>
        </p:nvSpPr>
        <p:spPr>
          <a:xfrm>
            <a:off x="3386532" y="3996267"/>
            <a:ext cx="5240734" cy="1388534"/>
          </a:xfrm>
        </p:spPr>
        <p:txBody>
          <a:bodyPr vert="horz" lIns="91440" tIns="45720" rIns="91440" bIns="45720" rtlCol="0" anchor="t">
            <a:normAutofit/>
          </a:bodyPr>
          <a:lstStyle/>
          <a:p>
            <a:endParaRPr lang="en-US" sz="2100" dirty="0"/>
          </a:p>
        </p:txBody>
      </p:sp>
      <p:sp>
        <p:nvSpPr>
          <p:cNvPr id="3" name="Slide Number Placeholder 2">
            <a:extLst>
              <a:ext uri="{FF2B5EF4-FFF2-40B4-BE49-F238E27FC236}">
                <a16:creationId xmlns:a16="http://schemas.microsoft.com/office/drawing/2014/main" id="{D756B31B-C30A-74C6-7CE3-79D10058C86F}"/>
              </a:ext>
            </a:extLst>
          </p:cNvPr>
          <p:cNvSpPr>
            <a:spLocks noGrp="1"/>
          </p:cNvSpPr>
          <p:nvPr>
            <p:ph type="sldNum" sz="quarter" idx="12"/>
          </p:nvPr>
        </p:nvSpPr>
        <p:spPr/>
        <p:txBody>
          <a:bodyPr/>
          <a:lstStyle/>
          <a:p>
            <a:pPr algn="ctr"/>
            <a:r>
              <a:rPr lang="en-US"/>
              <a:t>CS4500/5500</a:t>
            </a:r>
            <a:endParaRPr lang="en-US" dirty="0"/>
          </a:p>
        </p:txBody>
      </p:sp>
    </p:spTree>
    <p:extLst>
      <p:ext uri="{BB962C8B-B14F-4D97-AF65-F5344CB8AC3E}">
        <p14:creationId xmlns:p14="http://schemas.microsoft.com/office/powerpoint/2010/main" val="832702678"/>
      </p:ext>
    </p:extLst>
  </p:cSld>
  <p:clrMapOvr>
    <a:overrideClrMapping bg1="dk1" tx1="lt1" bg2="dk2" tx2="lt2" accent1="accent1" accent2="accent2" accent3="accent3" accent4="accent4" accent5="accent5" accent6="accent6" hlink="hlink" folHlink="folHlink"/>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7B92E3-404E-6999-1EE2-C34980F48E0A}"/>
              </a:ext>
            </a:extLst>
          </p:cNvPr>
          <p:cNvSpPr>
            <a:spLocks noGrp="1"/>
          </p:cNvSpPr>
          <p:nvPr>
            <p:ph type="title"/>
          </p:nvPr>
        </p:nvSpPr>
        <p:spPr/>
        <p:txBody>
          <a:bodyPr/>
          <a:lstStyle/>
          <a:p>
            <a:r>
              <a:rPr lang="en-US" dirty="0"/>
              <a:t>Completely Fair Scheduler</a:t>
            </a:r>
          </a:p>
        </p:txBody>
      </p:sp>
      <p:sp>
        <p:nvSpPr>
          <p:cNvPr id="6" name="Content Placeholder 5">
            <a:extLst>
              <a:ext uri="{FF2B5EF4-FFF2-40B4-BE49-F238E27FC236}">
                <a16:creationId xmlns:a16="http://schemas.microsoft.com/office/drawing/2014/main" id="{0973813C-B459-806C-F28A-E9526E0B2B9F}"/>
              </a:ext>
            </a:extLst>
          </p:cNvPr>
          <p:cNvSpPr>
            <a:spLocks noGrp="1"/>
          </p:cNvSpPr>
          <p:nvPr>
            <p:ph idx="1"/>
          </p:nvPr>
        </p:nvSpPr>
        <p:spPr/>
        <p:txBody>
          <a:bodyPr>
            <a:normAutofit fontScale="92500" lnSpcReduction="20000"/>
          </a:bodyPr>
          <a:lstStyle/>
          <a:p>
            <a:r>
              <a:rPr lang="en-US" dirty="0"/>
              <a:t>Default scheduler for Linux</a:t>
            </a:r>
          </a:p>
          <a:p>
            <a:r>
              <a:rPr lang="en-US" dirty="0"/>
              <a:t>Goal is to maximize CPU utilization and interactive performance</a:t>
            </a:r>
          </a:p>
          <a:p>
            <a:r>
              <a:rPr lang="en-US" dirty="0"/>
              <a:t>Not based on queues – based on red-black tree which uses timelines of future task execution</a:t>
            </a:r>
          </a:p>
          <a:p>
            <a:r>
              <a:rPr lang="en-US" dirty="0"/>
              <a:t>U</a:t>
            </a:r>
            <a:r>
              <a:rPr lang="en-US" b="0" dirty="0">
                <a:effectLst/>
              </a:rPr>
              <a:t>ses nanosecond granularity accounting, the atomic units by which an individual process' share of the CPU was allocated – does not use time slices</a:t>
            </a:r>
          </a:p>
          <a:p>
            <a:r>
              <a:rPr lang="en-US" b="0" i="0" dirty="0">
                <a:solidFill>
                  <a:srgbClr val="273239"/>
                </a:solidFill>
                <a:effectLst/>
                <a:latin typeface="urw-din"/>
              </a:rPr>
              <a:t>Equally divides the time each process can use the CPU </a:t>
            </a:r>
            <a:endParaRPr lang="en-US" dirty="0"/>
          </a:p>
        </p:txBody>
      </p:sp>
      <p:sp>
        <p:nvSpPr>
          <p:cNvPr id="4" name="Slide Number Placeholder 3">
            <a:extLst>
              <a:ext uri="{FF2B5EF4-FFF2-40B4-BE49-F238E27FC236}">
                <a16:creationId xmlns:a16="http://schemas.microsoft.com/office/drawing/2014/main" id="{AD8EFD4E-9E00-20BB-B0F3-679F59B6E28B}"/>
              </a:ext>
            </a:extLst>
          </p:cNvPr>
          <p:cNvSpPr>
            <a:spLocks noGrp="1"/>
          </p:cNvSpPr>
          <p:nvPr>
            <p:ph type="sldNum" sz="quarter" idx="12"/>
          </p:nvPr>
        </p:nvSpPr>
        <p:spPr/>
        <p:txBody>
          <a:bodyPr/>
          <a:lstStyle/>
          <a:p>
            <a:pPr algn="ctr"/>
            <a:r>
              <a:rPr lang="en-US"/>
              <a:t>CS4500/5500</a:t>
            </a:r>
            <a:endParaRPr lang="en-US" dirty="0"/>
          </a:p>
        </p:txBody>
      </p:sp>
    </p:spTree>
    <p:extLst>
      <p:ext uri="{BB962C8B-B14F-4D97-AF65-F5344CB8AC3E}">
        <p14:creationId xmlns:p14="http://schemas.microsoft.com/office/powerpoint/2010/main" val="2228037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B4DB5-F05B-780D-2D4F-7281CF05617A}"/>
              </a:ext>
            </a:extLst>
          </p:cNvPr>
          <p:cNvSpPr>
            <a:spLocks noGrp="1"/>
          </p:cNvSpPr>
          <p:nvPr>
            <p:ph type="title"/>
          </p:nvPr>
        </p:nvSpPr>
        <p:spPr/>
        <p:txBody>
          <a:bodyPr/>
          <a:lstStyle/>
          <a:p>
            <a:r>
              <a:rPr lang="en-US" dirty="0"/>
              <a:t>Characteristics of a Red-Black Tree</a:t>
            </a:r>
          </a:p>
        </p:txBody>
      </p:sp>
      <p:sp>
        <p:nvSpPr>
          <p:cNvPr id="3" name="Content Placeholder 2">
            <a:extLst>
              <a:ext uri="{FF2B5EF4-FFF2-40B4-BE49-F238E27FC236}">
                <a16:creationId xmlns:a16="http://schemas.microsoft.com/office/drawing/2014/main" id="{2A953733-01D5-8586-2064-9395D952595A}"/>
              </a:ext>
            </a:extLst>
          </p:cNvPr>
          <p:cNvSpPr>
            <a:spLocks noGrp="1"/>
          </p:cNvSpPr>
          <p:nvPr>
            <p:ph idx="1"/>
          </p:nvPr>
        </p:nvSpPr>
        <p:spPr/>
        <p:txBody>
          <a:bodyPr/>
          <a:lstStyle/>
          <a:p>
            <a:pPr marL="0" indent="0">
              <a:buNone/>
            </a:pPr>
            <a:r>
              <a:rPr lang="en-US" dirty="0"/>
              <a:t>1. Every node is assigned a color of red or black.</a:t>
            </a:r>
          </a:p>
          <a:p>
            <a:pPr marL="0" indent="0">
              <a:buNone/>
            </a:pPr>
            <a:r>
              <a:rPr lang="en-US" dirty="0"/>
              <a:t>2. The root node is always black. </a:t>
            </a:r>
          </a:p>
          <a:p>
            <a:pPr marL="0" indent="0">
              <a:buNone/>
            </a:pPr>
            <a:r>
              <a:rPr lang="en-US" dirty="0"/>
              <a:t>3. The children of a red node are black. </a:t>
            </a:r>
          </a:p>
          <a:p>
            <a:pPr marL="0" indent="0">
              <a:buNone/>
            </a:pPr>
            <a:r>
              <a:rPr lang="en-US" dirty="0"/>
              <a:t>4. Every path from the root node to a leaf node contains the same number of black nodes.</a:t>
            </a:r>
          </a:p>
        </p:txBody>
      </p:sp>
      <p:sp>
        <p:nvSpPr>
          <p:cNvPr id="4" name="Slide Number Placeholder 3">
            <a:extLst>
              <a:ext uri="{FF2B5EF4-FFF2-40B4-BE49-F238E27FC236}">
                <a16:creationId xmlns:a16="http://schemas.microsoft.com/office/drawing/2014/main" id="{D99A9301-2F35-C258-3707-2C7439739CAF}"/>
              </a:ext>
            </a:extLst>
          </p:cNvPr>
          <p:cNvSpPr>
            <a:spLocks noGrp="1"/>
          </p:cNvSpPr>
          <p:nvPr>
            <p:ph type="sldNum" sz="quarter" idx="12"/>
          </p:nvPr>
        </p:nvSpPr>
        <p:spPr/>
        <p:txBody>
          <a:bodyPr/>
          <a:lstStyle/>
          <a:p>
            <a:r>
              <a:rPr lang="en-US"/>
              <a:t>CS4500/5500</a:t>
            </a:r>
            <a:endParaRPr lang="en-US" dirty="0"/>
          </a:p>
        </p:txBody>
      </p:sp>
      <p:sp>
        <p:nvSpPr>
          <p:cNvPr id="6" name="TextBox 5">
            <a:extLst>
              <a:ext uri="{FF2B5EF4-FFF2-40B4-BE49-F238E27FC236}">
                <a16:creationId xmlns:a16="http://schemas.microsoft.com/office/drawing/2014/main" id="{4B25F158-5B86-060C-4611-033871DB0B38}"/>
              </a:ext>
            </a:extLst>
          </p:cNvPr>
          <p:cNvSpPr txBox="1"/>
          <p:nvPr/>
        </p:nvSpPr>
        <p:spPr>
          <a:xfrm>
            <a:off x="71127" y="6214304"/>
            <a:ext cx="840175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Weiner, R. (2022) </a:t>
            </a:r>
            <a:r>
              <a:rPr lang="en-US" sz="1400" i="1" dirty="0"/>
              <a:t>Generic Data Structures and Algorithms in Go. </a:t>
            </a:r>
            <a:r>
              <a:rPr lang="en-US" sz="1400" dirty="0"/>
              <a:t>https://link.springer.com/content/pdf/10.1007/978-1-4842-8191-8.pdf</a:t>
            </a:r>
          </a:p>
        </p:txBody>
      </p:sp>
    </p:spTree>
    <p:extLst>
      <p:ext uri="{BB962C8B-B14F-4D97-AF65-F5344CB8AC3E}">
        <p14:creationId xmlns:p14="http://schemas.microsoft.com/office/powerpoint/2010/main" val="10985615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3E18F-8085-2C60-9308-510954611DD6}"/>
              </a:ext>
            </a:extLst>
          </p:cNvPr>
          <p:cNvSpPr>
            <a:spLocks noGrp="1"/>
          </p:cNvSpPr>
          <p:nvPr>
            <p:ph type="title"/>
          </p:nvPr>
        </p:nvSpPr>
        <p:spPr>
          <a:xfrm>
            <a:off x="1113233" y="1081548"/>
            <a:ext cx="2500121" cy="1504335"/>
          </a:xfrm>
        </p:spPr>
        <p:txBody>
          <a:bodyPr>
            <a:normAutofit/>
          </a:bodyPr>
          <a:lstStyle/>
          <a:p>
            <a:r>
              <a:rPr lang="en-US" sz="3600" dirty="0"/>
              <a:t>Red-Black Tree</a:t>
            </a:r>
          </a:p>
        </p:txBody>
      </p:sp>
      <p:sp>
        <p:nvSpPr>
          <p:cNvPr id="3" name="Content Placeholder 2">
            <a:extLst>
              <a:ext uri="{FF2B5EF4-FFF2-40B4-BE49-F238E27FC236}">
                <a16:creationId xmlns:a16="http://schemas.microsoft.com/office/drawing/2014/main" id="{44A188B6-A32B-2BF4-909E-7E20C50DE7FF}"/>
              </a:ext>
            </a:extLst>
          </p:cNvPr>
          <p:cNvSpPr>
            <a:spLocks noGrp="1"/>
          </p:cNvSpPr>
          <p:nvPr>
            <p:ph idx="1"/>
          </p:nvPr>
        </p:nvSpPr>
        <p:spPr>
          <a:xfrm>
            <a:off x="1113233" y="2666999"/>
            <a:ext cx="2500122" cy="3124201"/>
          </a:xfrm>
        </p:spPr>
        <p:txBody>
          <a:bodyPr anchor="t">
            <a:noAutofit/>
          </a:bodyPr>
          <a:lstStyle/>
          <a:p>
            <a:r>
              <a:rPr lang="en-US" dirty="0"/>
              <a:t>The purpose of the red-black tree data structure is to attain insertion, deletion, and searching of items stored in the tree</a:t>
            </a:r>
          </a:p>
          <a:p>
            <a:endParaRPr lang="en-US" dirty="0"/>
          </a:p>
          <a:p>
            <a:pPr marL="0" indent="0">
              <a:buNone/>
            </a:pPr>
            <a:endParaRPr lang="en-US" dirty="0"/>
          </a:p>
        </p:txBody>
      </p:sp>
      <p:pic>
        <p:nvPicPr>
          <p:cNvPr id="6" name="Picture 5">
            <a:extLst>
              <a:ext uri="{FF2B5EF4-FFF2-40B4-BE49-F238E27FC236}">
                <a16:creationId xmlns:a16="http://schemas.microsoft.com/office/drawing/2014/main" id="{A533AECF-19AB-7A80-7022-1A28A5EBA79E}"/>
              </a:ext>
            </a:extLst>
          </p:cNvPr>
          <p:cNvPicPr>
            <a:picLocks noChangeAspect="1"/>
          </p:cNvPicPr>
          <p:nvPr/>
        </p:nvPicPr>
        <p:blipFill>
          <a:blip r:embed="rId4"/>
          <a:stretch>
            <a:fillRect/>
          </a:stretch>
        </p:blipFill>
        <p:spPr>
          <a:xfrm>
            <a:off x="3946524" y="1118063"/>
            <a:ext cx="4680743" cy="4188521"/>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
        <p:nvSpPr>
          <p:cNvPr id="4" name="Slide Number Placeholder 3">
            <a:extLst>
              <a:ext uri="{FF2B5EF4-FFF2-40B4-BE49-F238E27FC236}">
                <a16:creationId xmlns:a16="http://schemas.microsoft.com/office/drawing/2014/main" id="{D5FDA21F-9B5E-1079-9FC2-3DFECAFB1B49}"/>
              </a:ext>
            </a:extLst>
          </p:cNvPr>
          <p:cNvSpPr>
            <a:spLocks noGrp="1"/>
          </p:cNvSpPr>
          <p:nvPr>
            <p:ph type="sldNum" sz="quarter" idx="12"/>
          </p:nvPr>
        </p:nvSpPr>
        <p:spPr>
          <a:xfrm>
            <a:off x="8213892" y="5867131"/>
            <a:ext cx="413375" cy="365125"/>
          </a:xfrm>
        </p:spPr>
        <p:txBody>
          <a:bodyPr>
            <a:normAutofit/>
          </a:bodyPr>
          <a:lstStyle/>
          <a:p>
            <a:pPr>
              <a:lnSpc>
                <a:spcPct val="90000"/>
              </a:lnSpc>
              <a:spcAft>
                <a:spcPts val="600"/>
              </a:spcAft>
            </a:pPr>
            <a:r>
              <a:rPr lang="en-US" sz="600"/>
              <a:t>CS4500/5500</a:t>
            </a:r>
          </a:p>
        </p:txBody>
      </p:sp>
    </p:spTree>
    <p:extLst>
      <p:ext uri="{BB962C8B-B14F-4D97-AF65-F5344CB8AC3E}">
        <p14:creationId xmlns:p14="http://schemas.microsoft.com/office/powerpoint/2010/main" val="23103779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D5EF2-423F-3BB3-5E39-E15524A4A5C6}"/>
              </a:ext>
            </a:extLst>
          </p:cNvPr>
          <p:cNvSpPr>
            <a:spLocks noGrp="1"/>
          </p:cNvSpPr>
          <p:nvPr>
            <p:ph type="title"/>
          </p:nvPr>
        </p:nvSpPr>
        <p:spPr>
          <a:xfrm>
            <a:off x="609600" y="-152400"/>
            <a:ext cx="4495800" cy="1090929"/>
          </a:xfrm>
        </p:spPr>
        <p:txBody>
          <a:bodyPr>
            <a:normAutofit/>
          </a:bodyPr>
          <a:lstStyle/>
          <a:p>
            <a:r>
              <a:rPr lang="en-US" sz="3600" dirty="0"/>
              <a:t>Example: Insertion</a:t>
            </a:r>
          </a:p>
        </p:txBody>
      </p:sp>
      <p:sp>
        <p:nvSpPr>
          <p:cNvPr id="8" name="Content Placeholder 7">
            <a:extLst>
              <a:ext uri="{FF2B5EF4-FFF2-40B4-BE49-F238E27FC236}">
                <a16:creationId xmlns:a16="http://schemas.microsoft.com/office/drawing/2014/main" id="{1E6D0229-ED37-A41D-3183-06D800E76D82}"/>
              </a:ext>
            </a:extLst>
          </p:cNvPr>
          <p:cNvSpPr>
            <a:spLocks noGrp="1"/>
          </p:cNvSpPr>
          <p:nvPr>
            <p:ph idx="1"/>
          </p:nvPr>
        </p:nvSpPr>
        <p:spPr>
          <a:xfrm>
            <a:off x="951130" y="1371600"/>
            <a:ext cx="3352800" cy="3124201"/>
          </a:xfrm>
        </p:spPr>
        <p:txBody>
          <a:bodyPr anchor="t">
            <a:noAutofit/>
          </a:bodyPr>
          <a:lstStyle/>
          <a:p>
            <a:pPr marL="342900" indent="-342900">
              <a:buFont typeface="+mj-lt"/>
              <a:buAutoNum type="arabicPeriod"/>
            </a:pPr>
            <a:r>
              <a:rPr lang="en-US" sz="2000" b="0" i="0" u="none" strike="noStrike" baseline="0" dirty="0">
                <a:latin typeface="Utopia Std"/>
              </a:rPr>
              <a:t>Conduct an ordinary search-tree insertion.</a:t>
            </a:r>
          </a:p>
          <a:p>
            <a:pPr marL="342900" indent="-342900">
              <a:buFont typeface="+mj-lt"/>
              <a:buAutoNum type="arabicPeriod"/>
            </a:pPr>
            <a:r>
              <a:rPr lang="en-US" sz="2000" b="0" i="0" u="none" strike="noStrike" baseline="0" dirty="0">
                <a:latin typeface="Utopia Std"/>
              </a:rPr>
              <a:t>The new node added is always red. </a:t>
            </a:r>
          </a:p>
          <a:p>
            <a:pPr marL="342900" indent="-342900">
              <a:buFont typeface="+mj-lt"/>
              <a:buAutoNum type="arabicPeriod"/>
            </a:pPr>
            <a:r>
              <a:rPr lang="en-US" sz="2000" dirty="0">
                <a:latin typeface="Utopia Std"/>
              </a:rPr>
              <a:t>The goal is to keep all the nodes between the root and all nodes black.</a:t>
            </a:r>
          </a:p>
          <a:p>
            <a:pPr marL="342900" indent="-342900">
              <a:buFont typeface="+mj-lt"/>
              <a:buAutoNum type="arabicPeriod"/>
            </a:pPr>
            <a:r>
              <a:rPr lang="en-US" sz="2000" dirty="0">
                <a:latin typeface="Utopia Std"/>
              </a:rPr>
              <a:t>What happens if a red node is inserted after an existing red node? The node will need to change color to red.</a:t>
            </a:r>
          </a:p>
          <a:p>
            <a:pPr marL="342900" indent="-342900">
              <a:buFont typeface="+mj-lt"/>
              <a:buAutoNum type="arabicPeriod"/>
            </a:pPr>
            <a:r>
              <a:rPr lang="en-US" sz="2000" dirty="0">
                <a:latin typeface="Utopia Std"/>
              </a:rPr>
              <a:t>The image shows 25 was inserted red under 50, also red. Violates rule 3.</a:t>
            </a:r>
            <a:endParaRPr lang="en-US" sz="2000" dirty="0"/>
          </a:p>
        </p:txBody>
      </p:sp>
      <p:pic>
        <p:nvPicPr>
          <p:cNvPr id="10" name="Picture 9">
            <a:extLst>
              <a:ext uri="{FF2B5EF4-FFF2-40B4-BE49-F238E27FC236}">
                <a16:creationId xmlns:a16="http://schemas.microsoft.com/office/drawing/2014/main" id="{C59DB4F9-0E4B-7D39-3417-91068EFC260D}"/>
              </a:ext>
            </a:extLst>
          </p:cNvPr>
          <p:cNvPicPr>
            <a:picLocks noChangeAspect="1"/>
          </p:cNvPicPr>
          <p:nvPr/>
        </p:nvPicPr>
        <p:blipFill>
          <a:blip r:embed="rId4"/>
          <a:stretch>
            <a:fillRect/>
          </a:stretch>
        </p:blipFill>
        <p:spPr>
          <a:xfrm>
            <a:off x="4645459" y="685799"/>
            <a:ext cx="3282872" cy="5053050"/>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
        <p:nvSpPr>
          <p:cNvPr id="4" name="Slide Number Placeholder 3">
            <a:extLst>
              <a:ext uri="{FF2B5EF4-FFF2-40B4-BE49-F238E27FC236}">
                <a16:creationId xmlns:a16="http://schemas.microsoft.com/office/drawing/2014/main" id="{6E961A28-12C0-075F-2A12-277C568954D0}"/>
              </a:ext>
            </a:extLst>
          </p:cNvPr>
          <p:cNvSpPr>
            <a:spLocks noGrp="1"/>
          </p:cNvSpPr>
          <p:nvPr>
            <p:ph type="sldNum" sz="quarter" idx="12"/>
          </p:nvPr>
        </p:nvSpPr>
        <p:spPr>
          <a:xfrm>
            <a:off x="8213892" y="5867131"/>
            <a:ext cx="413375" cy="365125"/>
          </a:xfrm>
        </p:spPr>
        <p:txBody>
          <a:bodyPr>
            <a:normAutofit/>
          </a:bodyPr>
          <a:lstStyle/>
          <a:p>
            <a:pPr>
              <a:lnSpc>
                <a:spcPct val="90000"/>
              </a:lnSpc>
              <a:spcAft>
                <a:spcPts val="600"/>
              </a:spcAft>
            </a:pPr>
            <a:r>
              <a:rPr lang="en-US" sz="600"/>
              <a:t>CS4500/5500</a:t>
            </a:r>
          </a:p>
        </p:txBody>
      </p:sp>
    </p:spTree>
    <p:extLst>
      <p:ext uri="{BB962C8B-B14F-4D97-AF65-F5344CB8AC3E}">
        <p14:creationId xmlns:p14="http://schemas.microsoft.com/office/powerpoint/2010/main" val="42322165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DF8D5C46-63E5-40C5-A208-4B2189FA10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19" name="Freeform 6">
              <a:extLst>
                <a:ext uri="{FF2B5EF4-FFF2-40B4-BE49-F238E27FC236}">
                  <a16:creationId xmlns:a16="http://schemas.microsoft.com/office/drawing/2014/main" id="{4A42B4ED-376E-46C3-8BB2-EAFC660D11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20" name="Freeform 7">
              <a:extLst>
                <a:ext uri="{FF2B5EF4-FFF2-40B4-BE49-F238E27FC236}">
                  <a16:creationId xmlns:a16="http://schemas.microsoft.com/office/drawing/2014/main" id="{94E0795D-42C3-4DFD-AEB0-286A1CF14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21" name="Freeform 8">
              <a:extLst>
                <a:ext uri="{FF2B5EF4-FFF2-40B4-BE49-F238E27FC236}">
                  <a16:creationId xmlns:a16="http://schemas.microsoft.com/office/drawing/2014/main" id="{A2ACED1B-99D0-4C14-B63B-963889DCD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22" name="Freeform 9">
              <a:extLst>
                <a:ext uri="{FF2B5EF4-FFF2-40B4-BE49-F238E27FC236}">
                  <a16:creationId xmlns:a16="http://schemas.microsoft.com/office/drawing/2014/main" id="{5C5D324F-33A3-4C66-BFE5-1742CA4E59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3" name="Freeform 10">
              <a:extLst>
                <a:ext uri="{FF2B5EF4-FFF2-40B4-BE49-F238E27FC236}">
                  <a16:creationId xmlns:a16="http://schemas.microsoft.com/office/drawing/2014/main" id="{EC572FC8-A465-4BA3-BA4D-2EC538C042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4" name="Freeform 11">
              <a:extLst>
                <a:ext uri="{FF2B5EF4-FFF2-40B4-BE49-F238E27FC236}">
                  <a16:creationId xmlns:a16="http://schemas.microsoft.com/office/drawing/2014/main" id="{66CC2B15-8E3B-4CFF-99E4-5B4E4D8CF9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11" name="Title 10">
            <a:extLst>
              <a:ext uri="{FF2B5EF4-FFF2-40B4-BE49-F238E27FC236}">
                <a16:creationId xmlns:a16="http://schemas.microsoft.com/office/drawing/2014/main" id="{569D277E-1C50-5FA2-315B-2234301CA4F9}"/>
              </a:ext>
            </a:extLst>
          </p:cNvPr>
          <p:cNvSpPr>
            <a:spLocks noGrp="1"/>
          </p:cNvSpPr>
          <p:nvPr>
            <p:ph type="title"/>
          </p:nvPr>
        </p:nvSpPr>
        <p:spPr>
          <a:xfrm>
            <a:off x="1113234" y="685800"/>
            <a:ext cx="3209196" cy="1752599"/>
          </a:xfrm>
        </p:spPr>
        <p:txBody>
          <a:bodyPr>
            <a:normAutofit fontScale="90000"/>
          </a:bodyPr>
          <a:lstStyle/>
          <a:p>
            <a:r>
              <a:rPr lang="en-US" dirty="0"/>
              <a:t>Insertion Example Cont.</a:t>
            </a:r>
          </a:p>
        </p:txBody>
      </p:sp>
      <p:sp>
        <p:nvSpPr>
          <p:cNvPr id="15" name="Content Placeholder 14">
            <a:extLst>
              <a:ext uri="{FF2B5EF4-FFF2-40B4-BE49-F238E27FC236}">
                <a16:creationId xmlns:a16="http://schemas.microsoft.com/office/drawing/2014/main" id="{99957725-7CF1-2BD1-C751-368BA3A50CA8}"/>
              </a:ext>
            </a:extLst>
          </p:cNvPr>
          <p:cNvSpPr>
            <a:spLocks noGrp="1"/>
          </p:cNvSpPr>
          <p:nvPr>
            <p:ph idx="1"/>
          </p:nvPr>
        </p:nvSpPr>
        <p:spPr>
          <a:xfrm>
            <a:off x="1113232" y="2666999"/>
            <a:ext cx="3209197" cy="4038601"/>
          </a:xfrm>
        </p:spPr>
        <p:txBody>
          <a:bodyPr>
            <a:normAutofit lnSpcReduction="10000"/>
          </a:bodyPr>
          <a:lstStyle/>
          <a:p>
            <a:pPr marL="342900" indent="-342900">
              <a:buFont typeface="+mj-lt"/>
              <a:buAutoNum type="arabicPeriod"/>
            </a:pPr>
            <a:r>
              <a:rPr lang="en-US" sz="1800" b="0" i="0" u="none" strike="noStrike" baseline="0" dirty="0">
                <a:solidFill>
                  <a:srgbClr val="000000"/>
                </a:solidFill>
              </a:rPr>
              <a:t>We perform a correction by modifying the color of the </a:t>
            </a:r>
            <a:r>
              <a:rPr lang="en-US" sz="1800" b="1" i="0" u="none" strike="noStrike" baseline="0" dirty="0">
                <a:solidFill>
                  <a:srgbClr val="000000"/>
                </a:solidFill>
              </a:rPr>
              <a:t>parent </a:t>
            </a:r>
            <a:r>
              <a:rPr lang="en-US" sz="1800" b="0" i="0" u="none" strike="noStrike" baseline="0" dirty="0">
                <a:solidFill>
                  <a:srgbClr val="000000"/>
                </a:solidFill>
              </a:rPr>
              <a:t>(change red to black)</a:t>
            </a:r>
          </a:p>
          <a:p>
            <a:pPr marL="342900" indent="-342900">
              <a:buFont typeface="+mj-lt"/>
              <a:buAutoNum type="arabicPeriod"/>
            </a:pPr>
            <a:r>
              <a:rPr lang="en-US" sz="1800" dirty="0">
                <a:solidFill>
                  <a:srgbClr val="000000"/>
                </a:solidFill>
              </a:rPr>
              <a:t>Change</a:t>
            </a:r>
            <a:r>
              <a:rPr lang="en-US" sz="1800" b="0" i="0" u="none" strike="noStrike" baseline="0" dirty="0">
                <a:solidFill>
                  <a:srgbClr val="000000"/>
                </a:solidFill>
              </a:rPr>
              <a:t> </a:t>
            </a:r>
            <a:r>
              <a:rPr lang="en-US" sz="1800" b="1" i="0" u="none" strike="noStrike" baseline="0" dirty="0">
                <a:solidFill>
                  <a:srgbClr val="000000"/>
                </a:solidFill>
              </a:rPr>
              <a:t>uncle </a:t>
            </a:r>
            <a:r>
              <a:rPr lang="en-US" sz="1800" b="0" i="0" u="none" strike="noStrike" baseline="0" dirty="0">
                <a:solidFill>
                  <a:srgbClr val="000000"/>
                </a:solidFill>
              </a:rPr>
              <a:t>red to black (150)</a:t>
            </a:r>
          </a:p>
          <a:p>
            <a:pPr marL="342900" indent="-342900">
              <a:buFont typeface="+mj-lt"/>
              <a:buAutoNum type="arabicPeriod"/>
            </a:pPr>
            <a:r>
              <a:rPr lang="en-US" sz="1800" b="0" i="0" u="none" strike="noStrike" baseline="0" dirty="0">
                <a:solidFill>
                  <a:srgbClr val="000000"/>
                </a:solidFill>
              </a:rPr>
              <a:t>Change </a:t>
            </a:r>
            <a:r>
              <a:rPr lang="en-US" sz="1800" b="1" i="0" u="none" strike="noStrike" baseline="0" dirty="0">
                <a:solidFill>
                  <a:srgbClr val="000000"/>
                </a:solidFill>
              </a:rPr>
              <a:t>grandparent (100) </a:t>
            </a:r>
            <a:r>
              <a:rPr lang="en-US" sz="1800" b="0" i="0" u="none" strike="noStrike" baseline="0" dirty="0">
                <a:solidFill>
                  <a:srgbClr val="000000"/>
                </a:solidFill>
              </a:rPr>
              <a:t>if it is not the root (which it is in this case). </a:t>
            </a:r>
          </a:p>
          <a:p>
            <a:pPr marL="342900" indent="-342900">
              <a:buFont typeface="+mj-lt"/>
              <a:buAutoNum type="arabicPeriod"/>
            </a:pPr>
            <a:r>
              <a:rPr lang="en-US" sz="1800" b="0" i="0" u="none" strike="noStrike" baseline="0" dirty="0">
                <a:solidFill>
                  <a:srgbClr val="000000"/>
                </a:solidFill>
              </a:rPr>
              <a:t>The corrected tree is shown in the following. If 100 was not the root, we might have to continue the search for violations up the tree after changing node 100 to red.</a:t>
            </a:r>
            <a:endParaRPr lang="en-US" dirty="0"/>
          </a:p>
        </p:txBody>
      </p:sp>
      <p:sp>
        <p:nvSpPr>
          <p:cNvPr id="4" name="Slide Number Placeholder 3">
            <a:extLst>
              <a:ext uri="{FF2B5EF4-FFF2-40B4-BE49-F238E27FC236}">
                <a16:creationId xmlns:a16="http://schemas.microsoft.com/office/drawing/2014/main" id="{68150D45-70FD-5A33-FFD1-160AAE3564D5}"/>
              </a:ext>
            </a:extLst>
          </p:cNvPr>
          <p:cNvSpPr>
            <a:spLocks noGrp="1"/>
          </p:cNvSpPr>
          <p:nvPr>
            <p:ph type="sldNum" sz="quarter" idx="12"/>
          </p:nvPr>
        </p:nvSpPr>
        <p:spPr>
          <a:xfrm>
            <a:off x="8213892" y="5867131"/>
            <a:ext cx="413375" cy="365125"/>
          </a:xfrm>
        </p:spPr>
        <p:txBody>
          <a:bodyPr>
            <a:normAutofit/>
          </a:bodyPr>
          <a:lstStyle/>
          <a:p>
            <a:pPr>
              <a:lnSpc>
                <a:spcPct val="90000"/>
              </a:lnSpc>
              <a:spcAft>
                <a:spcPts val="600"/>
              </a:spcAft>
            </a:pPr>
            <a:r>
              <a:rPr lang="en-US" sz="600"/>
              <a:t>CS4500/5500</a:t>
            </a:r>
          </a:p>
        </p:txBody>
      </p:sp>
      <p:sp>
        <p:nvSpPr>
          <p:cNvPr id="26" name="Rounded Rectangle 16">
            <a:extLst>
              <a:ext uri="{FF2B5EF4-FFF2-40B4-BE49-F238E27FC236}">
                <a16:creationId xmlns:a16="http://schemas.microsoft.com/office/drawing/2014/main" id="{63A60C88-7443-4827-9241-5019758CB4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0" y="648931"/>
            <a:ext cx="4055267"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a:extLst>
              <a:ext uri="{FF2B5EF4-FFF2-40B4-BE49-F238E27FC236}">
                <a16:creationId xmlns:a16="http://schemas.microsoft.com/office/drawing/2014/main" id="{CABB4F5E-8D33-D9CB-49E8-D7B68DEB7E25}"/>
              </a:ext>
            </a:extLst>
          </p:cNvPr>
          <p:cNvPicPr>
            <a:picLocks noChangeAspect="1"/>
          </p:cNvPicPr>
          <p:nvPr/>
        </p:nvPicPr>
        <p:blipFill>
          <a:blip r:embed="rId4"/>
          <a:stretch>
            <a:fillRect/>
          </a:stretch>
        </p:blipFill>
        <p:spPr>
          <a:xfrm>
            <a:off x="5127907" y="1011765"/>
            <a:ext cx="2953911" cy="4546708"/>
          </a:xfrm>
          <a:prstGeom prst="rect">
            <a:avLst/>
          </a:prstGeom>
        </p:spPr>
      </p:pic>
    </p:spTree>
    <p:extLst>
      <p:ext uri="{BB962C8B-B14F-4D97-AF65-F5344CB8AC3E}">
        <p14:creationId xmlns:p14="http://schemas.microsoft.com/office/powerpoint/2010/main" val="42944722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569D277E-1C50-5FA2-315B-2234301CA4F9}"/>
              </a:ext>
            </a:extLst>
          </p:cNvPr>
          <p:cNvSpPr>
            <a:spLocks noGrp="1"/>
          </p:cNvSpPr>
          <p:nvPr>
            <p:ph type="title"/>
          </p:nvPr>
        </p:nvSpPr>
        <p:spPr>
          <a:xfrm>
            <a:off x="1070536" y="207253"/>
            <a:ext cx="2109289" cy="990600"/>
          </a:xfrm>
        </p:spPr>
        <p:txBody>
          <a:bodyPr>
            <a:normAutofit/>
          </a:bodyPr>
          <a:lstStyle/>
          <a:p>
            <a:r>
              <a:rPr lang="en-US" sz="2800" dirty="0"/>
              <a:t>Insertion Example 2</a:t>
            </a:r>
          </a:p>
        </p:txBody>
      </p:sp>
      <p:sp>
        <p:nvSpPr>
          <p:cNvPr id="15" name="Content Placeholder 14">
            <a:extLst>
              <a:ext uri="{FF2B5EF4-FFF2-40B4-BE49-F238E27FC236}">
                <a16:creationId xmlns:a16="http://schemas.microsoft.com/office/drawing/2014/main" id="{99957725-7CF1-2BD1-C751-368BA3A50CA8}"/>
              </a:ext>
            </a:extLst>
          </p:cNvPr>
          <p:cNvSpPr>
            <a:spLocks noGrp="1"/>
          </p:cNvSpPr>
          <p:nvPr>
            <p:ph idx="1"/>
          </p:nvPr>
        </p:nvSpPr>
        <p:spPr>
          <a:xfrm>
            <a:off x="185606" y="1905016"/>
            <a:ext cx="3134234" cy="3124201"/>
          </a:xfrm>
        </p:spPr>
        <p:txBody>
          <a:bodyPr>
            <a:noAutofit/>
          </a:bodyPr>
          <a:lstStyle/>
          <a:p>
            <a:pPr marL="0" indent="0">
              <a:lnSpc>
                <a:spcPct val="90000"/>
              </a:lnSpc>
              <a:buNone/>
            </a:pPr>
            <a:r>
              <a:rPr lang="en-US" sz="1800" b="0" i="0" u="none" strike="noStrike" baseline="0" dirty="0"/>
              <a:t>Scenario: The </a:t>
            </a:r>
            <a:r>
              <a:rPr lang="en-US" sz="1800" i="0" u="none" strike="noStrike" baseline="0" dirty="0"/>
              <a:t>parent of the node inserted is red and the uncle is black or does not exist. </a:t>
            </a:r>
          </a:p>
          <a:p>
            <a:pPr>
              <a:lnSpc>
                <a:spcPct val="90000"/>
              </a:lnSpc>
            </a:pPr>
            <a:r>
              <a:rPr lang="en-US" sz="1800" b="0" i="0" u="none" strike="noStrike" baseline="0" dirty="0"/>
              <a:t>View in order traversal of the subtree starting at the grandparent and label the nodes </a:t>
            </a:r>
            <a:r>
              <a:rPr lang="en-US" sz="1800" b="1" i="0" u="none" strike="noStrike" baseline="0" dirty="0"/>
              <a:t>first</a:t>
            </a:r>
            <a:r>
              <a:rPr lang="en-US" sz="1800" b="0" i="0" u="none" strike="noStrike" baseline="0" dirty="0"/>
              <a:t>, </a:t>
            </a:r>
            <a:r>
              <a:rPr lang="en-US" sz="1800" b="1" i="0" u="none" strike="noStrike" baseline="0" dirty="0"/>
              <a:t>second</a:t>
            </a:r>
            <a:r>
              <a:rPr lang="en-US" sz="1800" b="0" i="0" u="none" strike="noStrike" baseline="0" dirty="0"/>
              <a:t>, and </a:t>
            </a:r>
            <a:r>
              <a:rPr lang="en-US" sz="1800" b="1" i="0" u="none" strike="noStrike" baseline="0" dirty="0"/>
              <a:t>third </a:t>
            </a:r>
            <a:r>
              <a:rPr lang="en-US" sz="1800" b="0" i="0" u="none" strike="noStrike" baseline="0" dirty="0"/>
              <a:t>in the traversal; then the second node will always be the new root of the subtree and its left child the </a:t>
            </a:r>
            <a:r>
              <a:rPr lang="en-US" sz="1800" b="1" i="0" u="none" strike="noStrike" baseline="0" dirty="0"/>
              <a:t>first </a:t>
            </a:r>
            <a:r>
              <a:rPr lang="en-US" sz="1800" b="0" i="0" u="none" strike="noStrike" baseline="0" dirty="0"/>
              <a:t>and right child the </a:t>
            </a:r>
            <a:r>
              <a:rPr lang="en-US" sz="1800" b="1" i="0" u="none" strike="noStrike" baseline="0" dirty="0"/>
              <a:t>third</a:t>
            </a:r>
            <a:r>
              <a:rPr lang="en-US" sz="1800" b="0" i="0" u="none" strike="noStrike" baseline="0" dirty="0"/>
              <a:t>.</a:t>
            </a:r>
          </a:p>
          <a:p>
            <a:pPr>
              <a:lnSpc>
                <a:spcPct val="90000"/>
              </a:lnSpc>
            </a:pPr>
            <a:r>
              <a:rPr lang="en-US" sz="1800" dirty="0"/>
              <a:t>T</a:t>
            </a:r>
            <a:r>
              <a:rPr lang="en-US" sz="1800" b="0" i="0" u="none" strike="noStrike" baseline="0" dirty="0"/>
              <a:t>he traversal produces </a:t>
            </a:r>
            <a:r>
              <a:rPr lang="en-US" sz="1800" b="1" i="0" u="none" strike="noStrike" baseline="0" dirty="0"/>
              <a:t>first = 25</a:t>
            </a:r>
            <a:r>
              <a:rPr lang="en-US" sz="1800" b="0" i="0" u="none" strike="noStrike" baseline="0" dirty="0"/>
              <a:t>, </a:t>
            </a:r>
            <a:r>
              <a:rPr lang="en-US" sz="1800" b="1" i="0" u="none" strike="noStrike" baseline="0" dirty="0"/>
              <a:t>second = 50</a:t>
            </a:r>
            <a:r>
              <a:rPr lang="en-US" sz="1800" b="0" i="0" u="none" strike="noStrike" baseline="0" dirty="0"/>
              <a:t>, and </a:t>
            </a:r>
            <a:r>
              <a:rPr lang="en-US" sz="1800" b="1" i="0" u="none" strike="noStrike" baseline="0" dirty="0"/>
              <a:t>third = 100.</a:t>
            </a:r>
            <a:endParaRPr lang="en-US" sz="1800" dirty="0"/>
          </a:p>
        </p:txBody>
      </p:sp>
      <p:sp>
        <p:nvSpPr>
          <p:cNvPr id="4" name="Slide Number Placeholder 3">
            <a:extLst>
              <a:ext uri="{FF2B5EF4-FFF2-40B4-BE49-F238E27FC236}">
                <a16:creationId xmlns:a16="http://schemas.microsoft.com/office/drawing/2014/main" id="{68150D45-70FD-5A33-FFD1-160AAE3564D5}"/>
              </a:ext>
            </a:extLst>
          </p:cNvPr>
          <p:cNvSpPr>
            <a:spLocks noGrp="1"/>
          </p:cNvSpPr>
          <p:nvPr>
            <p:ph type="sldNum" sz="quarter" idx="12"/>
          </p:nvPr>
        </p:nvSpPr>
        <p:spPr>
          <a:xfrm>
            <a:off x="8213892" y="5867131"/>
            <a:ext cx="413375" cy="365125"/>
          </a:xfrm>
        </p:spPr>
        <p:txBody>
          <a:bodyPr>
            <a:normAutofit/>
          </a:bodyPr>
          <a:lstStyle/>
          <a:p>
            <a:pPr>
              <a:lnSpc>
                <a:spcPct val="90000"/>
              </a:lnSpc>
              <a:spcAft>
                <a:spcPts val="600"/>
              </a:spcAft>
            </a:pPr>
            <a:r>
              <a:rPr lang="en-US" sz="600"/>
              <a:t>CS4500/5500</a:t>
            </a:r>
          </a:p>
        </p:txBody>
      </p:sp>
      <p:sp>
        <p:nvSpPr>
          <p:cNvPr id="17" name="Rounded Rectangle 6">
            <a:extLst>
              <a:ext uri="{FF2B5EF4-FFF2-40B4-BE49-F238E27FC236}">
                <a16:creationId xmlns:a16="http://schemas.microsoft.com/office/drawing/2014/main" id="{E9300062-3750-4DBC-AFC8-E9DC8EFA9B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3164" y="648931"/>
            <a:ext cx="5188108"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8949CBF-58BF-5136-2571-AC22B4DEEDD3}"/>
              </a:ext>
            </a:extLst>
          </p:cNvPr>
          <p:cNvPicPr>
            <a:picLocks noChangeAspect="1"/>
          </p:cNvPicPr>
          <p:nvPr/>
        </p:nvPicPr>
        <p:blipFill>
          <a:blip r:embed="rId4"/>
          <a:stretch>
            <a:fillRect/>
          </a:stretch>
        </p:blipFill>
        <p:spPr>
          <a:xfrm>
            <a:off x="3749812" y="702553"/>
            <a:ext cx="2222184" cy="4546708"/>
          </a:xfrm>
          <a:prstGeom prst="rect">
            <a:avLst/>
          </a:prstGeom>
        </p:spPr>
      </p:pic>
      <p:pic>
        <p:nvPicPr>
          <p:cNvPr id="6" name="Picture 5">
            <a:extLst>
              <a:ext uri="{FF2B5EF4-FFF2-40B4-BE49-F238E27FC236}">
                <a16:creationId xmlns:a16="http://schemas.microsoft.com/office/drawing/2014/main" id="{FCAD5158-2DC7-19EF-83E6-9E24AD30F0E1}"/>
              </a:ext>
            </a:extLst>
          </p:cNvPr>
          <p:cNvPicPr>
            <a:picLocks noChangeAspect="1"/>
          </p:cNvPicPr>
          <p:nvPr/>
        </p:nvPicPr>
        <p:blipFill>
          <a:blip r:embed="rId5"/>
          <a:stretch>
            <a:fillRect/>
          </a:stretch>
        </p:blipFill>
        <p:spPr>
          <a:xfrm>
            <a:off x="6118615" y="1905016"/>
            <a:ext cx="2292629" cy="2760206"/>
          </a:xfrm>
          <a:prstGeom prst="rect">
            <a:avLst/>
          </a:prstGeom>
        </p:spPr>
      </p:pic>
      <p:sp>
        <p:nvSpPr>
          <p:cNvPr id="7" name="TextBox 6">
            <a:extLst>
              <a:ext uri="{FF2B5EF4-FFF2-40B4-BE49-F238E27FC236}">
                <a16:creationId xmlns:a16="http://schemas.microsoft.com/office/drawing/2014/main" id="{005E6204-8524-0925-6512-57144AFE0C58}"/>
              </a:ext>
            </a:extLst>
          </p:cNvPr>
          <p:cNvSpPr txBox="1"/>
          <p:nvPr/>
        </p:nvSpPr>
        <p:spPr>
          <a:xfrm>
            <a:off x="3668844" y="5220800"/>
            <a:ext cx="2303152" cy="646331"/>
          </a:xfrm>
          <a:prstGeom prst="rect">
            <a:avLst/>
          </a:prstGeom>
          <a:noFill/>
        </p:spPr>
        <p:txBody>
          <a:bodyPr wrap="square" rtlCol="0">
            <a:spAutoFit/>
          </a:bodyPr>
          <a:lstStyle/>
          <a:p>
            <a:r>
              <a:rPr lang="en-US" dirty="0"/>
              <a:t>After insertion, before changes</a:t>
            </a:r>
          </a:p>
        </p:txBody>
      </p:sp>
      <p:sp>
        <p:nvSpPr>
          <p:cNvPr id="8" name="TextBox 7">
            <a:extLst>
              <a:ext uri="{FF2B5EF4-FFF2-40B4-BE49-F238E27FC236}">
                <a16:creationId xmlns:a16="http://schemas.microsoft.com/office/drawing/2014/main" id="{BCF9A386-A920-3E09-245F-E84853BEA025}"/>
              </a:ext>
            </a:extLst>
          </p:cNvPr>
          <p:cNvSpPr txBox="1"/>
          <p:nvPr/>
        </p:nvSpPr>
        <p:spPr>
          <a:xfrm>
            <a:off x="6490363" y="5359299"/>
            <a:ext cx="1524000" cy="369332"/>
          </a:xfrm>
          <a:prstGeom prst="rect">
            <a:avLst/>
          </a:prstGeom>
          <a:noFill/>
        </p:spPr>
        <p:txBody>
          <a:bodyPr wrap="square" rtlCol="0">
            <a:spAutoFit/>
          </a:bodyPr>
          <a:lstStyle/>
          <a:p>
            <a:r>
              <a:rPr lang="en-US" dirty="0"/>
              <a:t>After changes</a:t>
            </a:r>
          </a:p>
        </p:txBody>
      </p:sp>
    </p:spTree>
    <p:extLst>
      <p:ext uri="{BB962C8B-B14F-4D97-AF65-F5344CB8AC3E}">
        <p14:creationId xmlns:p14="http://schemas.microsoft.com/office/powerpoint/2010/main" val="34228685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533399"/>
          </a:xfrm>
        </p:spPr>
        <p:txBody>
          <a:bodyPr>
            <a:normAutofit fontScale="90000"/>
          </a:bodyPr>
          <a:lstStyle/>
          <a:p>
            <a:r>
              <a:rPr lang="en-US" sz="3600" dirty="0">
                <a:ln>
                  <a:noFill/>
                </a:ln>
                <a:effectLst/>
              </a:rPr>
              <a:t>A Close Look at the State-of-Art</a:t>
            </a:r>
          </a:p>
        </p:txBody>
      </p:sp>
      <p:sp>
        <p:nvSpPr>
          <p:cNvPr id="6" name="Content Placeholder 5"/>
          <p:cNvSpPr>
            <a:spLocks noGrp="1"/>
          </p:cNvSpPr>
          <p:nvPr>
            <p:ph sz="quarter" idx="1"/>
          </p:nvPr>
        </p:nvSpPr>
        <p:spPr>
          <a:xfrm>
            <a:off x="982133" y="1600200"/>
            <a:ext cx="7704667" cy="2209801"/>
          </a:xfrm>
        </p:spPr>
        <p:txBody>
          <a:bodyPr>
            <a:normAutofit/>
          </a:bodyPr>
          <a:lstStyle/>
          <a:p>
            <a:r>
              <a:rPr lang="en-US" dirty="0">
                <a:solidFill>
                  <a:schemeClr val="tx1"/>
                </a:solidFill>
              </a:rPr>
              <a:t>Linux Completely Fair Scheduler </a:t>
            </a:r>
            <a:r>
              <a:rPr lang="en-US" dirty="0"/>
              <a:t>(CFS)</a:t>
            </a:r>
          </a:p>
          <a:p>
            <a:pPr lvl="1"/>
            <a:r>
              <a:rPr lang="en-US" dirty="0"/>
              <a:t>Separate ready queue per processor</a:t>
            </a:r>
          </a:p>
          <a:p>
            <a:pPr lvl="1"/>
            <a:r>
              <a:rPr lang="en-US" dirty="0"/>
              <a:t>Red-black tree based ready queue</a:t>
            </a:r>
          </a:p>
          <a:p>
            <a:pPr lvl="1"/>
            <a:r>
              <a:rPr lang="en-US" dirty="0"/>
              <a:t>Proportional fair sharing</a:t>
            </a:r>
          </a:p>
          <a:p>
            <a:pPr lvl="2"/>
            <a:endParaRPr lang="en-US" dirty="0"/>
          </a:p>
          <a:p>
            <a:pPr lvl="3"/>
            <a:endParaRPr lang="en-US" dirty="0"/>
          </a:p>
        </p:txBody>
      </p:sp>
      <p:sp>
        <p:nvSpPr>
          <p:cNvPr id="99" name="TextBox 98"/>
          <p:cNvSpPr txBox="1"/>
          <p:nvPr/>
        </p:nvSpPr>
        <p:spPr>
          <a:xfrm>
            <a:off x="636612" y="3560928"/>
            <a:ext cx="3607847" cy="4524315"/>
          </a:xfrm>
          <a:prstGeom prst="rect">
            <a:avLst/>
          </a:prstGeom>
          <a:noFill/>
        </p:spPr>
        <p:txBody>
          <a:bodyPr wrap="none" rtlCol="0">
            <a:spAutoFit/>
          </a:bodyPr>
          <a:lstStyle/>
          <a:p>
            <a:r>
              <a:rPr lang="en-US" b="1" dirty="0" err="1"/>
              <a:t>pick_next_task</a:t>
            </a:r>
            <a:r>
              <a:rPr lang="en-US" dirty="0"/>
              <a:t>() </a:t>
            </a:r>
          </a:p>
          <a:p>
            <a:r>
              <a:rPr lang="en-US" dirty="0"/>
              <a:t>Remove leftmost task </a:t>
            </a:r>
            <a:r>
              <a:rPr lang="en-US" dirty="0" err="1"/>
              <a:t>curr_leftmost</a:t>
            </a:r>
            <a:r>
              <a:rPr lang="en-US" dirty="0"/>
              <a:t>;</a:t>
            </a:r>
          </a:p>
          <a:p>
            <a:r>
              <a:rPr lang="en-US" dirty="0"/>
              <a:t>Run the task;</a:t>
            </a:r>
          </a:p>
          <a:p>
            <a:r>
              <a:rPr lang="en-US" dirty="0" err="1"/>
              <a:t>vruntime</a:t>
            </a:r>
            <a:r>
              <a:rPr lang="en-US" dirty="0"/>
              <a:t> + = runtime;</a:t>
            </a:r>
          </a:p>
          <a:p>
            <a:r>
              <a:rPr lang="en-US" dirty="0"/>
              <a:t>if </a:t>
            </a:r>
            <a:r>
              <a:rPr lang="en-US" dirty="0" err="1"/>
              <a:t>vruntime</a:t>
            </a:r>
            <a:r>
              <a:rPr lang="en-US" dirty="0"/>
              <a:t> &gt; </a:t>
            </a:r>
            <a:r>
              <a:rPr lang="en-US" dirty="0" err="1"/>
              <a:t>curr_leftmost’s</a:t>
            </a:r>
            <a:endParaRPr lang="en-US" dirty="0"/>
          </a:p>
          <a:p>
            <a:r>
              <a:rPr lang="en-US" dirty="0"/>
              <a:t>Preempt task;</a:t>
            </a:r>
          </a:p>
          <a:p>
            <a:r>
              <a:rPr lang="en-US" dirty="0"/>
              <a:t>Put it back to the sorted tree;</a:t>
            </a:r>
          </a:p>
          <a:p>
            <a:r>
              <a:rPr lang="en-US" dirty="0"/>
              <a:t>Remove </a:t>
            </a:r>
            <a:r>
              <a:rPr lang="en-US" dirty="0" err="1"/>
              <a:t>curr_leftmost</a:t>
            </a:r>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02" name="TextBox 101"/>
          <p:cNvSpPr txBox="1"/>
          <p:nvPr/>
        </p:nvSpPr>
        <p:spPr>
          <a:xfrm>
            <a:off x="4979643" y="4572000"/>
            <a:ext cx="1040157" cy="369332"/>
          </a:xfrm>
          <a:prstGeom prst="rect">
            <a:avLst/>
          </a:prstGeom>
          <a:noFill/>
        </p:spPr>
        <p:txBody>
          <a:bodyPr wrap="none" rtlCol="0">
            <a:spAutoFit/>
          </a:bodyPr>
          <a:lstStyle/>
          <a:p>
            <a:r>
              <a:rPr lang="en-US" dirty="0" err="1"/>
              <a:t>vruntime</a:t>
            </a:r>
            <a:endParaRPr lang="en-US" dirty="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2494" t="1915" b="2311"/>
          <a:stretch/>
        </p:blipFill>
        <p:spPr>
          <a:xfrm>
            <a:off x="4455172" y="3200400"/>
            <a:ext cx="4688828" cy="3764415"/>
          </a:xfrm>
          <a:prstGeom prst="rect">
            <a:avLst/>
          </a:prstGeom>
        </p:spPr>
      </p:pic>
      <p:sp>
        <p:nvSpPr>
          <p:cNvPr id="8" name="Slide Number Placeholder 7">
            <a:extLst>
              <a:ext uri="{FF2B5EF4-FFF2-40B4-BE49-F238E27FC236}">
                <a16:creationId xmlns:a16="http://schemas.microsoft.com/office/drawing/2014/main" id="{23EEA4E3-DA63-7E70-2141-9BE532F8750E}"/>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943425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blinds(horizontal)">
                                      <p:cBhvr>
                                        <p:cTn id="7"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6D942-4519-D36D-8114-288B64AA09CE}"/>
              </a:ext>
            </a:extLst>
          </p:cNvPr>
          <p:cNvSpPr>
            <a:spLocks noGrp="1"/>
          </p:cNvSpPr>
          <p:nvPr>
            <p:ph type="title"/>
          </p:nvPr>
        </p:nvSpPr>
        <p:spPr>
          <a:xfrm>
            <a:off x="982133" y="0"/>
            <a:ext cx="7704667" cy="1066799"/>
          </a:xfrm>
        </p:spPr>
        <p:txBody>
          <a:bodyPr/>
          <a:lstStyle/>
          <a:p>
            <a:r>
              <a:rPr lang="en-US" dirty="0"/>
              <a:t>Summarizing RB Tree</a:t>
            </a:r>
          </a:p>
        </p:txBody>
      </p:sp>
      <p:sp>
        <p:nvSpPr>
          <p:cNvPr id="4" name="Slide Number Placeholder 3">
            <a:extLst>
              <a:ext uri="{FF2B5EF4-FFF2-40B4-BE49-F238E27FC236}">
                <a16:creationId xmlns:a16="http://schemas.microsoft.com/office/drawing/2014/main" id="{599853DB-31FA-F36E-AFEE-36EB537D8A9A}"/>
              </a:ext>
            </a:extLst>
          </p:cNvPr>
          <p:cNvSpPr>
            <a:spLocks noGrp="1"/>
          </p:cNvSpPr>
          <p:nvPr>
            <p:ph type="sldNum" sz="quarter" idx="12"/>
          </p:nvPr>
        </p:nvSpPr>
        <p:spPr/>
        <p:txBody>
          <a:bodyPr/>
          <a:lstStyle/>
          <a:p>
            <a:r>
              <a:rPr lang="en-US"/>
              <a:t>CS4500/5500</a:t>
            </a:r>
            <a:endParaRPr lang="en-US" dirty="0"/>
          </a:p>
        </p:txBody>
      </p:sp>
      <p:sp>
        <p:nvSpPr>
          <p:cNvPr id="5" name="Rectangle 1">
            <a:extLst>
              <a:ext uri="{FF2B5EF4-FFF2-40B4-BE49-F238E27FC236}">
                <a16:creationId xmlns:a16="http://schemas.microsoft.com/office/drawing/2014/main" id="{43C1DE1D-CE79-FA94-384F-19B24E6221A2}"/>
              </a:ext>
            </a:extLst>
          </p:cNvPr>
          <p:cNvSpPr>
            <a:spLocks noGrp="1" noChangeArrowheads="1"/>
          </p:cNvSpPr>
          <p:nvPr>
            <p:ph idx="1"/>
          </p:nvPr>
        </p:nvSpPr>
        <p:spPr bwMode="auto">
          <a:xfrm>
            <a:off x="457200" y="1166842"/>
            <a:ext cx="8382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defTabSz="914400" eaLnBrk="0" fontAlgn="base" hangingPunct="0">
              <a:spcBef>
                <a:spcPct val="0"/>
              </a:spcBef>
              <a:spcAft>
                <a:spcPct val="0"/>
              </a:spcAft>
              <a:buClrTx/>
              <a:buSzTx/>
              <a:buFont typeface="+mj-lt"/>
              <a:buAutoNum type="arabicPeriod"/>
            </a:pPr>
            <a:r>
              <a:rPr kumimoji="0" lang="en-US" altLang="en-US" b="0" i="0" u="none" strike="noStrike" cap="none" normalizeH="0" baseline="0" dirty="0">
                <a:ln>
                  <a:noFill/>
                </a:ln>
                <a:solidFill>
                  <a:srgbClr val="000000"/>
                </a:solidFill>
                <a:effectLst/>
              </a:rPr>
              <a:t>CFS runs a task a bit</a:t>
            </a:r>
          </a:p>
          <a:p>
            <a:pPr marL="457200" indent="-457200" defTabSz="914400" eaLnBrk="0" fontAlgn="base" hangingPunct="0">
              <a:spcBef>
                <a:spcPct val="0"/>
              </a:spcBef>
              <a:spcAft>
                <a:spcPct val="0"/>
              </a:spcAft>
              <a:buClrTx/>
              <a:buSzTx/>
              <a:buFont typeface="+mj-lt"/>
              <a:buAutoNum type="arabicPeriod"/>
            </a:pPr>
            <a:r>
              <a:rPr lang="en-US" altLang="en-US" dirty="0">
                <a:solidFill>
                  <a:srgbClr val="000000"/>
                </a:solidFill>
              </a:rPr>
              <a:t>When</a:t>
            </a:r>
            <a:r>
              <a:rPr kumimoji="0" lang="en-US" altLang="en-US" b="0" i="0" u="none" strike="noStrike" cap="none" normalizeH="0" baseline="0" dirty="0">
                <a:ln>
                  <a:noFill/>
                </a:ln>
                <a:solidFill>
                  <a:srgbClr val="000000"/>
                </a:solidFill>
                <a:effectLst/>
              </a:rPr>
              <a:t> the task schedules (or a scheduler tick happens) the task's CPU usage is "accounted for“</a:t>
            </a:r>
          </a:p>
          <a:p>
            <a:pPr marL="457200" indent="-457200" defTabSz="914400" eaLnBrk="0" fontAlgn="base" hangingPunct="0">
              <a:spcBef>
                <a:spcPct val="0"/>
              </a:spcBef>
              <a:spcAft>
                <a:spcPct val="0"/>
              </a:spcAft>
              <a:buClrTx/>
              <a:buSzTx/>
              <a:buFont typeface="+mj-lt"/>
              <a:buAutoNum type="arabicPeriod"/>
            </a:pPr>
            <a:r>
              <a:rPr lang="en-US" altLang="en-US" dirty="0">
                <a:solidFill>
                  <a:srgbClr val="000000"/>
                </a:solidFill>
              </a:rPr>
              <a:t>T</a:t>
            </a:r>
            <a:r>
              <a:rPr kumimoji="0" lang="en-US" altLang="en-US" b="0" i="0" u="none" strike="noStrike" cap="none" normalizeH="0" baseline="0" dirty="0">
                <a:ln>
                  <a:noFill/>
                </a:ln>
                <a:solidFill>
                  <a:srgbClr val="000000"/>
                </a:solidFill>
                <a:effectLst/>
              </a:rPr>
              <a:t>he (small) time it just spent using the physical CPU is added to p-&gt;</a:t>
            </a:r>
            <a:r>
              <a:rPr kumimoji="0" lang="en-US" altLang="en-US" b="0" i="0" u="none" strike="noStrike" cap="none" normalizeH="0" baseline="0" dirty="0" err="1">
                <a:ln>
                  <a:noFill/>
                </a:ln>
                <a:solidFill>
                  <a:srgbClr val="000000"/>
                </a:solidFill>
                <a:effectLst/>
              </a:rPr>
              <a:t>se.vruntime</a:t>
            </a:r>
            <a:r>
              <a:rPr kumimoji="0" lang="en-US" altLang="en-US" b="0" i="0" u="none" strike="noStrike" cap="none" normalizeH="0" baseline="0" dirty="0">
                <a:ln>
                  <a:noFill/>
                </a:ln>
                <a:solidFill>
                  <a:srgbClr val="000000"/>
                </a:solidFill>
                <a:effectLst/>
              </a:rPr>
              <a:t>.</a:t>
            </a:r>
          </a:p>
          <a:p>
            <a:pPr marL="457200" indent="-457200" defTabSz="914400" eaLnBrk="0" fontAlgn="base" hangingPunct="0">
              <a:spcBef>
                <a:spcPct val="0"/>
              </a:spcBef>
              <a:spcAft>
                <a:spcPct val="0"/>
              </a:spcAft>
              <a:buClrTx/>
              <a:buSzTx/>
              <a:buFont typeface="+mj-lt"/>
              <a:buAutoNum type="arabicPeriod"/>
            </a:pPr>
            <a:r>
              <a:rPr kumimoji="0" lang="en-US" altLang="en-US" b="0" i="0" u="none" strike="noStrike" cap="none" normalizeH="0" baseline="0" dirty="0">
                <a:ln>
                  <a:noFill/>
                </a:ln>
                <a:solidFill>
                  <a:srgbClr val="000000"/>
                </a:solidFill>
                <a:effectLst/>
              </a:rPr>
              <a:t>Once p-&gt;</a:t>
            </a:r>
            <a:r>
              <a:rPr kumimoji="0" lang="en-US" altLang="en-US" b="0" i="0" u="none" strike="noStrike" cap="none" normalizeH="0" baseline="0" dirty="0" err="1">
                <a:ln>
                  <a:noFill/>
                </a:ln>
                <a:solidFill>
                  <a:srgbClr val="000000"/>
                </a:solidFill>
                <a:effectLst/>
              </a:rPr>
              <a:t>se.vruntime</a:t>
            </a:r>
            <a:r>
              <a:rPr kumimoji="0" lang="en-US" altLang="en-US" b="0" i="0" u="none" strike="noStrike" cap="none" normalizeH="0" baseline="0" dirty="0">
                <a:ln>
                  <a:noFill/>
                </a:ln>
                <a:solidFill>
                  <a:srgbClr val="000000"/>
                </a:solidFill>
                <a:effectLst/>
              </a:rPr>
              <a:t> gets high enough so that another task becomes the "leftmost task" of the time-ordered </a:t>
            </a:r>
            <a:r>
              <a:rPr kumimoji="0" lang="en-US" altLang="en-US" b="0" i="0" u="none" strike="noStrike" cap="none" normalizeH="0" baseline="0" dirty="0" err="1">
                <a:ln>
                  <a:noFill/>
                </a:ln>
                <a:solidFill>
                  <a:srgbClr val="000000"/>
                </a:solidFill>
                <a:effectLst/>
              </a:rPr>
              <a:t>rbtree</a:t>
            </a:r>
            <a:endParaRPr kumimoji="0" lang="en-US" altLang="en-US" b="0" i="0" u="none" strike="noStrike" cap="none" normalizeH="0" baseline="0" dirty="0">
              <a:ln>
                <a:noFill/>
              </a:ln>
              <a:solidFill>
                <a:srgbClr val="000000"/>
              </a:solidFill>
              <a:effectLst/>
            </a:endParaRPr>
          </a:p>
          <a:p>
            <a:pPr marL="0" indent="0" defTabSz="914400" eaLnBrk="0" fontAlgn="base" hangingPunct="0">
              <a:spcBef>
                <a:spcPct val="0"/>
              </a:spcBef>
              <a:spcAft>
                <a:spcPct val="0"/>
              </a:spcAft>
              <a:buClrTx/>
              <a:buSzTx/>
              <a:buNone/>
            </a:pPr>
            <a:r>
              <a:rPr lang="en-US" altLang="en-US" dirty="0">
                <a:solidFill>
                  <a:srgbClr val="000000"/>
                </a:solidFill>
              </a:rPr>
              <a:t>	I</a:t>
            </a:r>
            <a:r>
              <a:rPr kumimoji="0" lang="en-US" altLang="en-US" b="0" i="0" u="none" strike="noStrike" cap="none" normalizeH="0" baseline="0" dirty="0">
                <a:ln>
                  <a:noFill/>
                </a:ln>
                <a:solidFill>
                  <a:srgbClr val="000000"/>
                </a:solidFill>
                <a:effectLst/>
              </a:rPr>
              <a:t>t maintains (plus a small amount of "granularity" distance 	relative to the leftmost task so that we do not over-	schedule tasks and trash the cache)</a:t>
            </a:r>
          </a:p>
          <a:p>
            <a:pPr marL="0" indent="0" defTabSz="914400" eaLnBrk="0" fontAlgn="base" hangingPunct="0">
              <a:spcBef>
                <a:spcPct val="0"/>
              </a:spcBef>
              <a:spcAft>
                <a:spcPct val="0"/>
              </a:spcAft>
              <a:buClrTx/>
              <a:buSzTx/>
              <a:buNone/>
            </a:pPr>
            <a:r>
              <a:rPr lang="en-US" altLang="en-US" dirty="0">
                <a:solidFill>
                  <a:srgbClr val="000000"/>
                </a:solidFill>
              </a:rPr>
              <a:t>5. T</a:t>
            </a:r>
            <a:r>
              <a:rPr kumimoji="0" lang="en-US" altLang="en-US" b="0" i="0" u="none" strike="noStrike" cap="none" normalizeH="0" baseline="0" dirty="0">
                <a:ln>
                  <a:noFill/>
                </a:ln>
                <a:solidFill>
                  <a:srgbClr val="000000"/>
                </a:solidFill>
                <a:effectLst/>
              </a:rPr>
              <a:t>hen the new leftmost task is picked and the current task is preempted.</a:t>
            </a:r>
            <a:r>
              <a:rPr kumimoji="0" lang="en-US" altLang="en-US" b="0" i="0" u="none" strike="noStrike" cap="none" normalizeH="0" baseline="0" dirty="0">
                <a:ln>
                  <a:noFill/>
                </a:ln>
                <a:solidFill>
                  <a:schemeClr val="tx1"/>
                </a:solidFill>
                <a:effectLst/>
              </a:rPr>
              <a:t> </a:t>
            </a:r>
          </a:p>
        </p:txBody>
      </p:sp>
      <p:sp>
        <p:nvSpPr>
          <p:cNvPr id="7" name="TextBox 6">
            <a:extLst>
              <a:ext uri="{FF2B5EF4-FFF2-40B4-BE49-F238E27FC236}">
                <a16:creationId xmlns:a16="http://schemas.microsoft.com/office/drawing/2014/main" id="{2BA82530-0C8B-E1AA-F5CF-BFE3A9CB9AE4}"/>
              </a:ext>
            </a:extLst>
          </p:cNvPr>
          <p:cNvSpPr txBox="1"/>
          <p:nvPr/>
        </p:nvSpPr>
        <p:spPr>
          <a:xfrm>
            <a:off x="152400" y="6550223"/>
            <a:ext cx="7806267" cy="307777"/>
          </a:xfrm>
          <a:prstGeom prst="rect">
            <a:avLst/>
          </a:prstGeom>
          <a:noFill/>
        </p:spPr>
        <p:txBody>
          <a:bodyPr wrap="square">
            <a:spAutoFit/>
          </a:bodyPr>
          <a:lstStyle/>
          <a:p>
            <a:r>
              <a:rPr lang="en-US" sz="1400" dirty="0"/>
              <a:t>https://www.kernel.org/doc/Documentation/scheduler/sched-design-CFS.txt </a:t>
            </a:r>
          </a:p>
        </p:txBody>
      </p:sp>
    </p:spTree>
    <p:extLst>
      <p:ext uri="{BB962C8B-B14F-4D97-AF65-F5344CB8AC3E}">
        <p14:creationId xmlns:p14="http://schemas.microsoft.com/office/powerpoint/2010/main" val="18532780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2D0F75-3E54-4DF0-1539-E7C83E7CD536}"/>
              </a:ext>
            </a:extLst>
          </p:cNvPr>
          <p:cNvSpPr>
            <a:spLocks noGrp="1"/>
          </p:cNvSpPr>
          <p:nvPr>
            <p:ph type="title"/>
          </p:nvPr>
        </p:nvSpPr>
        <p:spPr/>
        <p:txBody>
          <a:bodyPr/>
          <a:lstStyle/>
          <a:p>
            <a:r>
              <a:rPr lang="en-US" dirty="0"/>
              <a:t>Real-Time Scheduling</a:t>
            </a:r>
          </a:p>
        </p:txBody>
      </p:sp>
      <p:sp>
        <p:nvSpPr>
          <p:cNvPr id="6" name="Text Placeholder 5">
            <a:extLst>
              <a:ext uri="{FF2B5EF4-FFF2-40B4-BE49-F238E27FC236}">
                <a16:creationId xmlns:a16="http://schemas.microsoft.com/office/drawing/2014/main" id="{2C64BE64-0EEF-E484-2DA0-BA4256EECA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AB07EB-A717-7712-B644-B4AA78219EC6}"/>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7323839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C96C3-884C-0BFD-3F6C-E1A816FF6FAE}"/>
              </a:ext>
            </a:extLst>
          </p:cNvPr>
          <p:cNvSpPr>
            <a:spLocks noGrp="1"/>
          </p:cNvSpPr>
          <p:nvPr>
            <p:ph type="title"/>
          </p:nvPr>
        </p:nvSpPr>
        <p:spPr/>
        <p:txBody>
          <a:bodyPr/>
          <a:lstStyle/>
          <a:p>
            <a:r>
              <a:rPr lang="en-US" dirty="0"/>
              <a:t>Real-Time Systems</a:t>
            </a:r>
          </a:p>
        </p:txBody>
      </p:sp>
      <p:sp>
        <p:nvSpPr>
          <p:cNvPr id="3" name="Content Placeholder 2">
            <a:extLst>
              <a:ext uri="{FF2B5EF4-FFF2-40B4-BE49-F238E27FC236}">
                <a16:creationId xmlns:a16="http://schemas.microsoft.com/office/drawing/2014/main" id="{C7DEE8D7-0004-4785-AC2D-5D3AB639EC91}"/>
              </a:ext>
            </a:extLst>
          </p:cNvPr>
          <p:cNvSpPr>
            <a:spLocks noGrp="1"/>
          </p:cNvSpPr>
          <p:nvPr>
            <p:ph idx="1"/>
          </p:nvPr>
        </p:nvSpPr>
        <p:spPr>
          <a:xfrm>
            <a:off x="787972" y="2131008"/>
            <a:ext cx="7704667" cy="4171016"/>
          </a:xfrm>
        </p:spPr>
        <p:txBody>
          <a:bodyPr>
            <a:normAutofit/>
          </a:bodyPr>
          <a:lstStyle/>
          <a:p>
            <a:r>
              <a:rPr lang="en-US" b="0" dirty="0">
                <a:solidFill>
                  <a:srgbClr val="000000"/>
                </a:solidFill>
                <a:effectLst/>
              </a:rPr>
              <a:t>Accuracy depends on timing and functionality</a:t>
            </a:r>
          </a:p>
          <a:p>
            <a:pPr algn="l"/>
            <a:r>
              <a:rPr lang="en-US" b="0" dirty="0">
                <a:solidFill>
                  <a:srgbClr val="000000"/>
                </a:solidFill>
                <a:effectLst/>
              </a:rPr>
              <a:t> </a:t>
            </a:r>
            <a:r>
              <a:rPr lang="en-US" dirty="0">
                <a:solidFill>
                  <a:srgbClr val="000000"/>
                </a:solidFill>
              </a:rPr>
              <a:t>T</a:t>
            </a:r>
            <a:r>
              <a:rPr lang="en-US" b="0" dirty="0">
                <a:solidFill>
                  <a:srgbClr val="000000"/>
                </a:solidFill>
                <a:effectLst/>
              </a:rPr>
              <a:t>raditional scheduling algorithms consider turn-around time (or throughput), fairness, and response time</a:t>
            </a:r>
          </a:p>
          <a:p>
            <a:pPr algn="l"/>
            <a:r>
              <a:rPr lang="en-US" dirty="0">
                <a:solidFill>
                  <a:srgbClr val="000000"/>
                </a:solidFill>
              </a:rPr>
              <a:t>R</a:t>
            </a:r>
            <a:r>
              <a:rPr lang="en-US" b="0" dirty="0">
                <a:solidFill>
                  <a:srgbClr val="000000"/>
                </a:solidFill>
                <a:effectLst/>
              </a:rPr>
              <a:t>eal-time systems are characterized by different metrics:</a:t>
            </a:r>
          </a:p>
          <a:p>
            <a:pPr algn="l">
              <a:buFont typeface="Arial" panose="020B0604020202020204" pitchFamily="34" charset="0"/>
              <a:buChar char="•"/>
            </a:pPr>
            <a:r>
              <a:rPr lang="en-US" b="0" dirty="0">
                <a:solidFill>
                  <a:srgbClr val="000000"/>
                </a:solidFill>
                <a:effectLst/>
              </a:rPr>
              <a:t>Timeliness : The measure of how closely it meet timing requirements </a:t>
            </a:r>
          </a:p>
          <a:p>
            <a:pPr algn="l">
              <a:buFont typeface="Arial" panose="020B0604020202020204" pitchFamily="34" charset="0"/>
              <a:buChar char="•"/>
            </a:pPr>
            <a:r>
              <a:rPr lang="en-US" dirty="0">
                <a:solidFill>
                  <a:srgbClr val="000000"/>
                </a:solidFill>
              </a:rPr>
              <a:t>P</a:t>
            </a:r>
            <a:r>
              <a:rPr lang="en-US" b="0" dirty="0">
                <a:solidFill>
                  <a:srgbClr val="000000"/>
                </a:solidFill>
                <a:effectLst/>
              </a:rPr>
              <a:t>redictability: The measure of how much deviation is in delivered timeliness</a:t>
            </a:r>
          </a:p>
          <a:p>
            <a:endParaRPr lang="en-US" b="0" dirty="0">
              <a:solidFill>
                <a:srgbClr val="000000"/>
              </a:solidFill>
              <a:effectLst/>
            </a:endParaRPr>
          </a:p>
          <a:p>
            <a:endParaRPr lang="en-US" dirty="0"/>
          </a:p>
        </p:txBody>
      </p:sp>
      <p:sp>
        <p:nvSpPr>
          <p:cNvPr id="4" name="Slide Number Placeholder 3">
            <a:extLst>
              <a:ext uri="{FF2B5EF4-FFF2-40B4-BE49-F238E27FC236}">
                <a16:creationId xmlns:a16="http://schemas.microsoft.com/office/drawing/2014/main" id="{30464F12-F9D8-4D1C-782F-6C902DBE703A}"/>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32061462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C96C3-884C-0BFD-3F6C-E1A816FF6FAE}"/>
              </a:ext>
            </a:extLst>
          </p:cNvPr>
          <p:cNvSpPr>
            <a:spLocks noGrp="1"/>
          </p:cNvSpPr>
          <p:nvPr>
            <p:ph type="title"/>
          </p:nvPr>
        </p:nvSpPr>
        <p:spPr/>
        <p:txBody>
          <a:bodyPr/>
          <a:lstStyle/>
          <a:p>
            <a:r>
              <a:rPr lang="en-US" dirty="0"/>
              <a:t>Real-Time Systems</a:t>
            </a:r>
          </a:p>
        </p:txBody>
      </p:sp>
      <p:sp>
        <p:nvSpPr>
          <p:cNvPr id="3" name="Content Placeholder 2">
            <a:extLst>
              <a:ext uri="{FF2B5EF4-FFF2-40B4-BE49-F238E27FC236}">
                <a16:creationId xmlns:a16="http://schemas.microsoft.com/office/drawing/2014/main" id="{C7DEE8D7-0004-4785-AC2D-5D3AB639EC91}"/>
              </a:ext>
            </a:extLst>
          </p:cNvPr>
          <p:cNvSpPr>
            <a:spLocks noGrp="1"/>
          </p:cNvSpPr>
          <p:nvPr>
            <p:ph idx="1"/>
          </p:nvPr>
        </p:nvSpPr>
        <p:spPr>
          <a:xfrm>
            <a:off x="982133" y="1752600"/>
            <a:ext cx="7704667" cy="4247216"/>
          </a:xfrm>
        </p:spPr>
        <p:txBody>
          <a:bodyPr>
            <a:normAutofit fontScale="92500" lnSpcReduction="10000"/>
          </a:bodyPr>
          <a:lstStyle/>
          <a:p>
            <a:pPr algn="l">
              <a:buFont typeface="Arial" panose="020B0604020202020204" pitchFamily="34" charset="0"/>
              <a:buChar char="•"/>
            </a:pPr>
            <a:r>
              <a:rPr lang="en-US" b="0" dirty="0">
                <a:solidFill>
                  <a:srgbClr val="000000"/>
                </a:solidFill>
                <a:effectLst/>
              </a:rPr>
              <a:t>Characterized by: </a:t>
            </a:r>
          </a:p>
          <a:p>
            <a:pPr algn="l">
              <a:buFont typeface="Arial" panose="020B0604020202020204" pitchFamily="34" charset="0"/>
              <a:buChar char="•"/>
            </a:pPr>
            <a:r>
              <a:rPr lang="en-US" b="0" dirty="0">
                <a:solidFill>
                  <a:srgbClr val="000000"/>
                </a:solidFill>
                <a:effectLst/>
              </a:rPr>
              <a:t>Timeliness (last slide)</a:t>
            </a:r>
          </a:p>
          <a:p>
            <a:pPr>
              <a:buFont typeface="Arial" panose="020B0604020202020204" pitchFamily="34" charset="0"/>
              <a:buChar char="•"/>
            </a:pPr>
            <a:r>
              <a:rPr lang="en-US" dirty="0">
                <a:solidFill>
                  <a:srgbClr val="000000"/>
                </a:solidFill>
              </a:rPr>
              <a:t>Predictability </a:t>
            </a:r>
            <a:r>
              <a:rPr lang="en-US" b="0" dirty="0">
                <a:solidFill>
                  <a:srgbClr val="000000"/>
                </a:solidFill>
                <a:effectLst/>
              </a:rPr>
              <a:t>(last slide)</a:t>
            </a:r>
            <a:endParaRPr lang="en-US" dirty="0">
              <a:solidFill>
                <a:srgbClr val="000000"/>
              </a:solidFill>
            </a:endParaRPr>
          </a:p>
          <a:p>
            <a:pPr algn="l">
              <a:buFont typeface="Arial" panose="020B0604020202020204" pitchFamily="34" charset="0"/>
              <a:buChar char="•"/>
            </a:pPr>
            <a:r>
              <a:rPr lang="en-US" b="0" dirty="0">
                <a:solidFill>
                  <a:srgbClr val="000000"/>
                </a:solidFill>
                <a:effectLst/>
              </a:rPr>
              <a:t>Feasibility - Is it possible to meet the requirements for a particular task set?</a:t>
            </a:r>
          </a:p>
          <a:p>
            <a:pPr algn="l">
              <a:buFont typeface="Arial" panose="020B0604020202020204" pitchFamily="34" charset="0"/>
              <a:buChar char="•"/>
            </a:pPr>
            <a:r>
              <a:rPr lang="en-US" b="0" dirty="0">
                <a:solidFill>
                  <a:srgbClr val="000000"/>
                </a:solidFill>
                <a:effectLst/>
              </a:rPr>
              <a:t>Hard real-time </a:t>
            </a:r>
            <a:r>
              <a:rPr lang="en-US" dirty="0">
                <a:solidFill>
                  <a:srgbClr val="000000"/>
                </a:solidFill>
              </a:rPr>
              <a:t> - S</a:t>
            </a:r>
            <a:r>
              <a:rPr lang="en-US" b="0" dirty="0">
                <a:solidFill>
                  <a:srgbClr val="000000"/>
                </a:solidFill>
                <a:effectLst/>
              </a:rPr>
              <a:t>pecified tasks be run at specified intervals</a:t>
            </a:r>
          </a:p>
          <a:p>
            <a:pPr lvl="1">
              <a:buFont typeface="Arial" panose="020B0604020202020204" pitchFamily="34" charset="0"/>
              <a:buChar char="•"/>
            </a:pPr>
            <a:r>
              <a:rPr lang="en-US" b="0" dirty="0">
                <a:solidFill>
                  <a:srgbClr val="000000"/>
                </a:solidFill>
                <a:effectLst/>
              </a:rPr>
              <a:t> Failure to meet run the tasks could result in system failure</a:t>
            </a:r>
          </a:p>
          <a:p>
            <a:pPr algn="l">
              <a:buFont typeface="Arial" panose="020B0604020202020204" pitchFamily="34" charset="0"/>
              <a:buChar char="•"/>
            </a:pPr>
            <a:r>
              <a:rPr lang="en-US" b="0" dirty="0">
                <a:solidFill>
                  <a:srgbClr val="000000"/>
                </a:solidFill>
                <a:effectLst/>
              </a:rPr>
              <a:t>Soft real-time </a:t>
            </a:r>
            <a:r>
              <a:rPr lang="en-US" dirty="0">
                <a:solidFill>
                  <a:srgbClr val="000000"/>
                </a:solidFill>
              </a:rPr>
              <a:t>- Timely running of specified tasks desirable</a:t>
            </a:r>
          </a:p>
          <a:p>
            <a:pPr lvl="1">
              <a:buFont typeface="Arial" panose="020B0604020202020204" pitchFamily="34" charset="0"/>
              <a:buChar char="•"/>
            </a:pPr>
            <a:r>
              <a:rPr lang="en-US" b="0" dirty="0">
                <a:solidFill>
                  <a:srgbClr val="000000"/>
                </a:solidFill>
                <a:effectLst/>
              </a:rPr>
              <a:t>Failure to meet the requirements are degraded performance or recoverable failures.</a:t>
            </a:r>
          </a:p>
          <a:p>
            <a:endParaRPr lang="en-US" dirty="0"/>
          </a:p>
        </p:txBody>
      </p:sp>
      <p:sp>
        <p:nvSpPr>
          <p:cNvPr id="4" name="Slide Number Placeholder 3">
            <a:extLst>
              <a:ext uri="{FF2B5EF4-FFF2-40B4-BE49-F238E27FC236}">
                <a16:creationId xmlns:a16="http://schemas.microsoft.com/office/drawing/2014/main" id="{30464F12-F9D8-4D1C-782F-6C902DBE703A}"/>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321783848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C96C3-884C-0BFD-3F6C-E1A816FF6FAE}"/>
              </a:ext>
            </a:extLst>
          </p:cNvPr>
          <p:cNvSpPr>
            <a:spLocks noGrp="1"/>
          </p:cNvSpPr>
          <p:nvPr>
            <p:ph type="title"/>
          </p:nvPr>
        </p:nvSpPr>
        <p:spPr/>
        <p:txBody>
          <a:bodyPr/>
          <a:lstStyle/>
          <a:p>
            <a:r>
              <a:rPr lang="en-US" dirty="0"/>
              <a:t>Real-Time Scheduling</a:t>
            </a:r>
          </a:p>
        </p:txBody>
      </p:sp>
      <p:sp>
        <p:nvSpPr>
          <p:cNvPr id="3" name="Content Placeholder 2">
            <a:extLst>
              <a:ext uri="{FF2B5EF4-FFF2-40B4-BE49-F238E27FC236}">
                <a16:creationId xmlns:a16="http://schemas.microsoft.com/office/drawing/2014/main" id="{C7DEE8D7-0004-4785-AC2D-5D3AB639EC91}"/>
              </a:ext>
            </a:extLst>
          </p:cNvPr>
          <p:cNvSpPr>
            <a:spLocks noGrp="1"/>
          </p:cNvSpPr>
          <p:nvPr>
            <p:ph idx="1"/>
          </p:nvPr>
        </p:nvSpPr>
        <p:spPr>
          <a:xfrm>
            <a:off x="982133" y="2133600"/>
            <a:ext cx="7704667" cy="3866216"/>
          </a:xfrm>
        </p:spPr>
        <p:txBody>
          <a:bodyPr>
            <a:normAutofit fontScale="92500" lnSpcReduction="10000"/>
          </a:bodyPr>
          <a:lstStyle/>
          <a:p>
            <a:pPr algn="l"/>
            <a:r>
              <a:rPr lang="en-US" dirty="0">
                <a:solidFill>
                  <a:srgbClr val="000000"/>
                </a:solidFill>
                <a:latin typeface="Times New Roman" panose="02020603050405020304" pitchFamily="18" charset="0"/>
              </a:rPr>
              <a:t>R</a:t>
            </a:r>
            <a:r>
              <a:rPr lang="en-US" b="0" i="0" dirty="0">
                <a:solidFill>
                  <a:srgbClr val="000000"/>
                </a:solidFill>
                <a:effectLst/>
                <a:latin typeface="Times New Roman" panose="02020603050405020304" pitchFamily="18" charset="0"/>
              </a:rPr>
              <a:t>eal-time scheduling is more critical and difficult than traditional time-sharing in many ways </a:t>
            </a:r>
          </a:p>
          <a:p>
            <a:pPr algn="l"/>
            <a:r>
              <a:rPr lang="en-US" b="0" i="0" dirty="0">
                <a:solidFill>
                  <a:srgbClr val="000000"/>
                </a:solidFill>
                <a:effectLst/>
                <a:latin typeface="Times New Roman" panose="02020603050405020304" pitchFamily="18" charset="0"/>
              </a:rPr>
              <a:t>Some advantages:</a:t>
            </a:r>
          </a:p>
          <a:p>
            <a:pPr algn="l"/>
            <a:r>
              <a:rPr lang="en-US" dirty="0">
                <a:solidFill>
                  <a:srgbClr val="000000"/>
                </a:solidFill>
                <a:latin typeface="Times New Roman" panose="02020603050405020304" pitchFamily="18" charset="0"/>
              </a:rPr>
              <a:t>Potentially determine how long each task will take to run</a:t>
            </a:r>
          </a:p>
          <a:p>
            <a:pPr algn="l"/>
            <a:r>
              <a:rPr lang="en-US" b="0" i="1" dirty="0">
                <a:solidFill>
                  <a:srgbClr val="000000"/>
                </a:solidFill>
                <a:effectLst/>
                <a:latin typeface="Times New Roman" panose="02020603050405020304" pitchFamily="18" charset="0"/>
              </a:rPr>
              <a:t>Starvation</a:t>
            </a:r>
            <a:r>
              <a:rPr lang="en-US" b="0" i="0" dirty="0">
                <a:solidFill>
                  <a:srgbClr val="000000"/>
                </a:solidFill>
                <a:effectLst/>
                <a:latin typeface="Times New Roman" panose="02020603050405020304" pitchFamily="18" charset="0"/>
              </a:rPr>
              <a:t> (of low priority tasks) may be acceptable</a:t>
            </a:r>
            <a:r>
              <a:rPr lang="en-US" dirty="0">
                <a:solidFill>
                  <a:srgbClr val="000000"/>
                </a:solidFill>
                <a:latin typeface="Times New Roman" panose="02020603050405020304" pitchFamily="18" charset="0"/>
              </a:rPr>
              <a:t> </a:t>
            </a:r>
          </a:p>
          <a:p>
            <a:pPr lvl="1"/>
            <a:r>
              <a:rPr lang="en-US" b="0" i="0" dirty="0">
                <a:solidFill>
                  <a:srgbClr val="000000"/>
                </a:solidFill>
                <a:effectLst/>
                <a:latin typeface="Times New Roman" panose="02020603050405020304" pitchFamily="18" charset="0"/>
              </a:rPr>
              <a:t>Understanding the criticality of tasks allows the freedom to intelligently shed less critical work in times of high demand.</a:t>
            </a:r>
          </a:p>
          <a:p>
            <a:pPr algn="l">
              <a:buFont typeface="Arial" panose="020B0604020202020204" pitchFamily="34" charset="0"/>
              <a:buChar char="•"/>
            </a:pPr>
            <a:r>
              <a:rPr lang="en-US" b="0" i="0" dirty="0">
                <a:solidFill>
                  <a:srgbClr val="000000"/>
                </a:solidFill>
                <a:effectLst/>
                <a:latin typeface="Times New Roman" panose="02020603050405020304" pitchFamily="18" charset="0"/>
              </a:rPr>
              <a:t>The work-load may be relatively fixed</a:t>
            </a:r>
          </a:p>
          <a:p>
            <a:pPr lvl="1">
              <a:buFont typeface="Arial" panose="020B0604020202020204" pitchFamily="34" charset="0"/>
              <a:buChar char="•"/>
            </a:pPr>
            <a:r>
              <a:rPr lang="en-US" b="0" i="0" dirty="0">
                <a:solidFill>
                  <a:srgbClr val="000000"/>
                </a:solidFill>
                <a:effectLst/>
                <a:latin typeface="Times New Roman" panose="02020603050405020304" pitchFamily="18" charset="0"/>
              </a:rPr>
              <a:t>If the incoming traffic rate is relatively constant, it is possible to simultaneously achieve high utilization and good response time</a:t>
            </a:r>
          </a:p>
          <a:p>
            <a:endParaRPr lang="en-US" b="0" i="0" dirty="0">
              <a:solidFill>
                <a:srgbClr val="000000"/>
              </a:solidFill>
              <a:effectLst/>
              <a:latin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30464F12-F9D8-4D1C-782F-6C902DBE703A}"/>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663749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838199"/>
          </a:xfrm>
        </p:spPr>
        <p:txBody>
          <a:bodyPr>
            <a:normAutofit/>
          </a:bodyPr>
          <a:lstStyle/>
          <a:p>
            <a:r>
              <a:rPr lang="en-US" sz="4000" dirty="0">
                <a:ln>
                  <a:noFill/>
                </a:ln>
                <a:effectLst/>
              </a:rPr>
              <a:t>Real-time Scheduling</a:t>
            </a:r>
          </a:p>
        </p:txBody>
      </p:sp>
      <p:sp>
        <p:nvSpPr>
          <p:cNvPr id="31" name="Content Placeholder 5"/>
          <p:cNvSpPr>
            <a:spLocks noGrp="1"/>
          </p:cNvSpPr>
          <p:nvPr>
            <p:ph sz="quarter" idx="1"/>
          </p:nvPr>
        </p:nvSpPr>
        <p:spPr>
          <a:xfrm>
            <a:off x="719666" y="1444098"/>
            <a:ext cx="8229600" cy="5029200"/>
          </a:xfrm>
        </p:spPr>
        <p:txBody>
          <a:bodyPr>
            <a:normAutofit fontScale="92500" lnSpcReduction="20000"/>
          </a:bodyPr>
          <a:lstStyle/>
          <a:p>
            <a:pPr marL="342900" indent="-342900">
              <a:buFontTx/>
              <a:buNone/>
            </a:pPr>
            <a:r>
              <a:rPr lang="en-US" sz="2000" dirty="0">
                <a:latin typeface="Arial" charset="0"/>
              </a:rPr>
              <a:t>Schedulable real-time system</a:t>
            </a:r>
          </a:p>
          <a:p>
            <a:pPr marL="342900" indent="-342900"/>
            <a:r>
              <a:rPr lang="en-US" sz="1800" dirty="0">
                <a:latin typeface="Arial" charset="0"/>
              </a:rPr>
              <a:t>Given</a:t>
            </a:r>
          </a:p>
          <a:p>
            <a:pPr marL="742950" lvl="1" indent="-285750"/>
            <a:r>
              <a:rPr lang="en-US" sz="1800" i="1" dirty="0">
                <a:latin typeface="Arial" charset="0"/>
              </a:rPr>
              <a:t>m</a:t>
            </a:r>
            <a:r>
              <a:rPr lang="en-US" sz="1800" dirty="0">
                <a:latin typeface="Arial" charset="0"/>
              </a:rPr>
              <a:t> periodic events</a:t>
            </a:r>
          </a:p>
          <a:p>
            <a:pPr marL="742950" lvl="1" indent="-285750"/>
            <a:r>
              <a:rPr lang="en-US" sz="1800" dirty="0">
                <a:latin typeface="Arial" charset="0"/>
              </a:rPr>
              <a:t>event </a:t>
            </a:r>
            <a:r>
              <a:rPr lang="en-US" sz="1800" i="1" dirty="0" err="1">
                <a:latin typeface="Arial" charset="0"/>
              </a:rPr>
              <a:t>i</a:t>
            </a:r>
            <a:r>
              <a:rPr lang="en-US" sz="1800" dirty="0">
                <a:latin typeface="Arial" charset="0"/>
              </a:rPr>
              <a:t> occurs within period P</a:t>
            </a:r>
            <a:r>
              <a:rPr lang="en-US" sz="1800" baseline="-25000" dirty="0">
                <a:latin typeface="Arial" charset="0"/>
              </a:rPr>
              <a:t>i</a:t>
            </a:r>
            <a:r>
              <a:rPr lang="en-US" sz="1800" dirty="0">
                <a:latin typeface="Arial" charset="0"/>
              </a:rPr>
              <a:t> seconds and requires C</a:t>
            </a:r>
            <a:r>
              <a:rPr lang="en-US" sz="1800" baseline="-25000" dirty="0">
                <a:latin typeface="Arial" charset="0"/>
              </a:rPr>
              <a:t>i</a:t>
            </a:r>
            <a:r>
              <a:rPr lang="en-US" sz="1800" dirty="0">
                <a:latin typeface="Arial" charset="0"/>
              </a:rPr>
              <a:t> seconds</a:t>
            </a:r>
          </a:p>
          <a:p>
            <a:pPr marL="342900" indent="-342900"/>
            <a:r>
              <a:rPr lang="en-US" sz="1800" dirty="0">
                <a:latin typeface="Arial" charset="0"/>
              </a:rPr>
              <a:t>Then the load can only be handled (schedulable) if</a:t>
            </a:r>
          </a:p>
          <a:p>
            <a:pPr marL="342900" indent="-342900"/>
            <a:endParaRPr lang="en-US" sz="1800" dirty="0">
              <a:latin typeface="Arial" charset="0"/>
            </a:endParaRPr>
          </a:p>
          <a:p>
            <a:pPr marL="342900" indent="-342900"/>
            <a:endParaRPr lang="en-US" sz="1800" dirty="0">
              <a:latin typeface="Arial" charset="0"/>
            </a:endParaRPr>
          </a:p>
          <a:p>
            <a:pPr marL="342900" indent="-342900"/>
            <a:endParaRPr lang="en-US" sz="1800" dirty="0">
              <a:latin typeface="Arial" charset="0"/>
            </a:endParaRPr>
          </a:p>
          <a:p>
            <a:pPr marL="342900" indent="-342900">
              <a:lnSpc>
                <a:spcPct val="100000"/>
              </a:lnSpc>
            </a:pPr>
            <a:endParaRPr lang="en-US" sz="1800" dirty="0">
              <a:latin typeface="Arial" charset="0"/>
            </a:endParaRPr>
          </a:p>
          <a:p>
            <a:pPr marL="342900" indent="-342900">
              <a:lnSpc>
                <a:spcPct val="100000"/>
              </a:lnSpc>
            </a:pPr>
            <a:r>
              <a:rPr lang="en-US" sz="1800" dirty="0">
                <a:latin typeface="Arial" charset="0"/>
              </a:rPr>
              <a:t>Example: a real-time system with three periodic events, with periods of 100, 200, and 500 </a:t>
            </a:r>
            <a:r>
              <a:rPr lang="en-US" sz="1800" dirty="0" err="1">
                <a:latin typeface="Arial" charset="0"/>
              </a:rPr>
              <a:t>ms</a:t>
            </a:r>
            <a:r>
              <a:rPr lang="en-US" sz="1800" dirty="0">
                <a:latin typeface="Arial" charset="0"/>
              </a:rPr>
              <a:t>, respectively.  If these events require 50, 30, and 100 </a:t>
            </a:r>
            <a:r>
              <a:rPr lang="en-US" sz="1800" dirty="0" err="1">
                <a:latin typeface="Arial" charset="0"/>
              </a:rPr>
              <a:t>ms</a:t>
            </a:r>
            <a:r>
              <a:rPr lang="en-US" sz="1800" dirty="0">
                <a:latin typeface="Arial" charset="0"/>
              </a:rPr>
              <a:t> of CPU time per event, respectively, the system is schedulable</a:t>
            </a:r>
          </a:p>
          <a:p>
            <a:pPr marL="742950" lvl="1" indent="-285750">
              <a:lnSpc>
                <a:spcPct val="100000"/>
              </a:lnSpc>
            </a:pPr>
            <a:r>
              <a:rPr lang="en-US" sz="1800" dirty="0">
                <a:latin typeface="Arial" charset="0"/>
              </a:rPr>
              <a:t>Process/context switching overhead is often an issue though!</a:t>
            </a:r>
          </a:p>
          <a:p>
            <a:pPr marL="742950" lvl="1" indent="-285750">
              <a:lnSpc>
                <a:spcPct val="100000"/>
              </a:lnSpc>
            </a:pPr>
            <a:r>
              <a:rPr lang="en-US" sz="1800" dirty="0">
                <a:latin typeface="Arial" charset="0"/>
              </a:rPr>
              <a:t>Given the example, what would be the maximum CPU burst for a 4th job with a period of 500 </a:t>
            </a:r>
            <a:r>
              <a:rPr lang="en-US" sz="1800" dirty="0" err="1">
                <a:latin typeface="Arial" charset="0"/>
              </a:rPr>
              <a:t>ms</a:t>
            </a:r>
            <a:r>
              <a:rPr lang="en-US" sz="1800" dirty="0">
                <a:latin typeface="Arial" charset="0"/>
              </a:rPr>
              <a:t>?</a:t>
            </a:r>
          </a:p>
          <a:p>
            <a:endParaRPr lang="en-US" dirty="0"/>
          </a:p>
        </p:txBody>
      </p:sp>
      <p:graphicFrame>
        <p:nvGraphicFramePr>
          <p:cNvPr id="22" name="Object 4"/>
          <p:cNvGraphicFramePr>
            <a:graphicFrameLocks noChangeAspect="1"/>
          </p:cNvGraphicFramePr>
          <p:nvPr/>
        </p:nvGraphicFramePr>
        <p:xfrm>
          <a:off x="3429000" y="3048000"/>
          <a:ext cx="1752600" cy="1331913"/>
        </p:xfrm>
        <a:graphic>
          <a:graphicData uri="http://schemas.openxmlformats.org/presentationml/2006/ole">
            <mc:AlternateContent xmlns:mc="http://schemas.openxmlformats.org/markup-compatibility/2006">
              <mc:Choice xmlns:v="urn:schemas-microsoft-com:vml" Requires="v">
                <p:oleObj name="Equation" r:id="rId3" imgW="583920" imgH="444240" progId="Equation.3">
                  <p:embed/>
                </p:oleObj>
              </mc:Choice>
              <mc:Fallback>
                <p:oleObj name="Equation" r:id="rId3" imgW="583920" imgH="444240" progId="Equation.3">
                  <p:embed/>
                  <p:pic>
                    <p:nvPicPr>
                      <p:cNvPr id="2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3048000"/>
                        <a:ext cx="1752600" cy="13319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bg2"/>
                            </a:solidFill>
                            <a:miter lim="800000"/>
                            <a:headEnd/>
                            <a:tailEnd/>
                          </a14:hiddenLine>
                        </a:ext>
                        <a:ext uri="{AF507438-7753-43e0-B8FC-AC1667EBCBE1}">
                          <a14:hiddenEffects xmlns="" xmlns:a14="http://schemas.microsoft.com/office/drawing/2010/main">
                            <a:effectLst>
                              <a:outerShdw blurRad="63500" dist="107763" dir="2700000" algn="ctr" rotWithShape="0">
                                <a:srgbClr val="B2B2B2">
                                  <a:alpha val="74998"/>
                                </a:srgbClr>
                              </a:outerShdw>
                            </a:effectLst>
                          </a14:hiddenEffects>
                        </a:ext>
                      </a:extLst>
                    </p:spPr>
                  </p:pic>
                </p:oleObj>
              </mc:Fallback>
            </mc:AlternateContent>
          </a:graphicData>
        </a:graphic>
      </p:graphicFrame>
      <p:sp>
        <p:nvSpPr>
          <p:cNvPr id="6" name="Slide Number Placeholder 5">
            <a:extLst>
              <a:ext uri="{FF2B5EF4-FFF2-40B4-BE49-F238E27FC236}">
                <a16:creationId xmlns:a16="http://schemas.microsoft.com/office/drawing/2014/main" id="{5E6550C3-8498-57B7-E5EE-D919E99F0424}"/>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32710452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A08EB-B95F-497E-C18F-875B2B9658E8}"/>
              </a:ext>
            </a:extLst>
          </p:cNvPr>
          <p:cNvSpPr>
            <a:spLocks noGrp="1"/>
          </p:cNvSpPr>
          <p:nvPr>
            <p:ph type="title"/>
          </p:nvPr>
        </p:nvSpPr>
        <p:spPr/>
        <p:txBody>
          <a:bodyPr/>
          <a:lstStyle/>
          <a:p>
            <a:r>
              <a:rPr lang="en-US" dirty="0"/>
              <a:t>Multiprocessor</a:t>
            </a:r>
          </a:p>
        </p:txBody>
      </p:sp>
      <p:sp>
        <p:nvSpPr>
          <p:cNvPr id="3" name="Content Placeholder 2">
            <a:extLst>
              <a:ext uri="{FF2B5EF4-FFF2-40B4-BE49-F238E27FC236}">
                <a16:creationId xmlns:a16="http://schemas.microsoft.com/office/drawing/2014/main" id="{2797737D-8AD9-6565-5B6B-B2194BB3C03C}"/>
              </a:ext>
            </a:extLst>
          </p:cNvPr>
          <p:cNvSpPr>
            <a:spLocks noGrp="1"/>
          </p:cNvSpPr>
          <p:nvPr>
            <p:ph idx="1"/>
          </p:nvPr>
        </p:nvSpPr>
        <p:spPr/>
        <p:txBody>
          <a:bodyPr>
            <a:normAutofit/>
          </a:bodyPr>
          <a:lstStyle/>
          <a:p>
            <a:pPr algn="l" fontAlgn="base"/>
            <a:r>
              <a:rPr lang="en-US" b="0" i="0" dirty="0">
                <a:solidFill>
                  <a:srgbClr val="232629"/>
                </a:solidFill>
                <a:effectLst/>
                <a:latin typeface="-apple-system"/>
              </a:rPr>
              <a:t>A CPU contains many parts within it</a:t>
            </a:r>
          </a:p>
          <a:p>
            <a:pPr lvl="1" fontAlgn="base"/>
            <a:r>
              <a:rPr lang="en-US" dirty="0">
                <a:solidFill>
                  <a:srgbClr val="232629"/>
                </a:solidFill>
                <a:latin typeface="-apple-system"/>
              </a:rPr>
              <a:t>O</a:t>
            </a:r>
            <a:r>
              <a:rPr lang="en-US" b="0" i="0" dirty="0">
                <a:solidFill>
                  <a:srgbClr val="232629"/>
                </a:solidFill>
                <a:effectLst/>
                <a:latin typeface="-apple-system"/>
              </a:rPr>
              <a:t>ne or more memory caches for instructions and data</a:t>
            </a:r>
          </a:p>
          <a:p>
            <a:pPr lvl="1" fontAlgn="base"/>
            <a:r>
              <a:rPr lang="en-US" dirty="0">
                <a:solidFill>
                  <a:srgbClr val="232629"/>
                </a:solidFill>
                <a:latin typeface="-apple-system"/>
              </a:rPr>
              <a:t>I</a:t>
            </a:r>
            <a:r>
              <a:rPr lang="en-US" b="0" i="0" dirty="0">
                <a:solidFill>
                  <a:srgbClr val="232629"/>
                </a:solidFill>
                <a:effectLst/>
                <a:latin typeface="-apple-system"/>
              </a:rPr>
              <a:t>nstruction decoders, and various types of execution units for ALU operations</a:t>
            </a:r>
          </a:p>
          <a:p>
            <a:pPr algn="l" fontAlgn="base"/>
            <a:r>
              <a:rPr lang="en-US" b="0" i="0" dirty="0">
                <a:solidFill>
                  <a:srgbClr val="232629"/>
                </a:solidFill>
                <a:effectLst/>
                <a:latin typeface="-apple-system"/>
              </a:rPr>
              <a:t>A multiprocessor system contains more than one CPU</a:t>
            </a:r>
          </a:p>
          <a:p>
            <a:pPr lvl="1" fontAlgn="base"/>
            <a:r>
              <a:rPr lang="en-US" dirty="0">
                <a:solidFill>
                  <a:srgbClr val="232629"/>
                </a:solidFill>
                <a:latin typeface="-apple-system"/>
              </a:rPr>
              <a:t>Allows CPUs to</a:t>
            </a:r>
            <a:r>
              <a:rPr lang="en-US" b="0" i="0" dirty="0">
                <a:solidFill>
                  <a:srgbClr val="232629"/>
                </a:solidFill>
                <a:effectLst/>
                <a:latin typeface="-apple-system"/>
              </a:rPr>
              <a:t> work in parallel</a:t>
            </a:r>
          </a:p>
          <a:p>
            <a:pPr lvl="1" fontAlgn="base"/>
            <a:r>
              <a:rPr lang="en-US" b="0" i="0" dirty="0">
                <a:solidFill>
                  <a:srgbClr val="232629"/>
                </a:solidFill>
                <a:effectLst/>
                <a:latin typeface="-apple-system"/>
              </a:rPr>
              <a:t>Known as Symmetric Multiprocessing</a:t>
            </a:r>
          </a:p>
          <a:p>
            <a:endParaRPr lang="en-US" dirty="0"/>
          </a:p>
        </p:txBody>
      </p:sp>
      <p:sp>
        <p:nvSpPr>
          <p:cNvPr id="4" name="Slide Number Placeholder 3">
            <a:extLst>
              <a:ext uri="{FF2B5EF4-FFF2-40B4-BE49-F238E27FC236}">
                <a16:creationId xmlns:a16="http://schemas.microsoft.com/office/drawing/2014/main" id="{AF3E6FFD-7D8E-B3F5-A2E2-3A7D23ACCB59}"/>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427753611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A3FA9-A05D-9889-8400-75E4A80ACC12}"/>
              </a:ext>
            </a:extLst>
          </p:cNvPr>
          <p:cNvSpPr>
            <a:spLocks noGrp="1"/>
          </p:cNvSpPr>
          <p:nvPr>
            <p:ph type="title"/>
          </p:nvPr>
        </p:nvSpPr>
        <p:spPr/>
        <p:txBody>
          <a:bodyPr/>
          <a:lstStyle/>
          <a:p>
            <a:r>
              <a:rPr lang="en-US" dirty="0"/>
              <a:t>Simultaneous Multithreading</a:t>
            </a:r>
          </a:p>
        </p:txBody>
      </p:sp>
      <p:sp>
        <p:nvSpPr>
          <p:cNvPr id="3" name="Content Placeholder 2">
            <a:extLst>
              <a:ext uri="{FF2B5EF4-FFF2-40B4-BE49-F238E27FC236}">
                <a16:creationId xmlns:a16="http://schemas.microsoft.com/office/drawing/2014/main" id="{2B6F6BED-3B19-6B79-BF21-3E5534D52C90}"/>
              </a:ext>
            </a:extLst>
          </p:cNvPr>
          <p:cNvSpPr>
            <a:spLocks noGrp="1"/>
          </p:cNvSpPr>
          <p:nvPr>
            <p:ph idx="1"/>
          </p:nvPr>
        </p:nvSpPr>
        <p:spPr/>
        <p:txBody>
          <a:bodyPr>
            <a:normAutofit/>
          </a:bodyPr>
          <a:lstStyle/>
          <a:p>
            <a:r>
              <a:rPr lang="en-US" dirty="0">
                <a:solidFill>
                  <a:srgbClr val="232629"/>
                </a:solidFill>
                <a:latin typeface="-apple-system"/>
              </a:rPr>
              <a:t>S</a:t>
            </a:r>
            <a:r>
              <a:rPr lang="en-US" b="0" i="0" dirty="0">
                <a:solidFill>
                  <a:srgbClr val="232629"/>
                </a:solidFill>
                <a:effectLst/>
                <a:latin typeface="-apple-system"/>
              </a:rPr>
              <a:t>maller subset of a processor's or core's components is duplicated</a:t>
            </a:r>
          </a:p>
          <a:p>
            <a:r>
              <a:rPr lang="en-US" b="0" i="0" dirty="0">
                <a:solidFill>
                  <a:srgbClr val="232629"/>
                </a:solidFill>
                <a:effectLst/>
                <a:latin typeface="-apple-system"/>
              </a:rPr>
              <a:t>SMT core could have duplicate thread scheduling resources</a:t>
            </a:r>
          </a:p>
          <a:p>
            <a:pPr lvl="1"/>
            <a:r>
              <a:rPr lang="en-US" dirty="0">
                <a:solidFill>
                  <a:srgbClr val="232629"/>
                </a:solidFill>
                <a:latin typeface="-apple-system"/>
              </a:rPr>
              <a:t>T</a:t>
            </a:r>
            <a:r>
              <a:rPr lang="en-US" b="0" i="0" dirty="0">
                <a:solidFill>
                  <a:srgbClr val="232629"/>
                </a:solidFill>
                <a:effectLst/>
                <a:latin typeface="-apple-system"/>
              </a:rPr>
              <a:t>he core appears as two separate processors to the OS	</a:t>
            </a:r>
          </a:p>
          <a:p>
            <a:pPr lvl="1"/>
            <a:r>
              <a:rPr lang="en-US" dirty="0">
                <a:solidFill>
                  <a:srgbClr val="232629"/>
                </a:solidFill>
                <a:latin typeface="-apple-system"/>
              </a:rPr>
              <a:t>Despite </a:t>
            </a:r>
            <a:r>
              <a:rPr lang="en-US" b="0" i="0" dirty="0">
                <a:solidFill>
                  <a:srgbClr val="232629"/>
                </a:solidFill>
                <a:effectLst/>
                <a:latin typeface="-apple-system"/>
              </a:rPr>
              <a:t>one set of execution units. </a:t>
            </a:r>
          </a:p>
          <a:p>
            <a:r>
              <a:rPr lang="en-US" b="0" i="0" dirty="0">
                <a:solidFill>
                  <a:srgbClr val="232629"/>
                </a:solidFill>
                <a:effectLst/>
                <a:latin typeface="-apple-system"/>
              </a:rPr>
              <a:t>Example: Intel's Hyperthreading.</a:t>
            </a:r>
            <a:endParaRPr lang="en-US" dirty="0"/>
          </a:p>
        </p:txBody>
      </p:sp>
      <p:sp>
        <p:nvSpPr>
          <p:cNvPr id="4" name="Slide Number Placeholder 3">
            <a:extLst>
              <a:ext uri="{FF2B5EF4-FFF2-40B4-BE49-F238E27FC236}">
                <a16:creationId xmlns:a16="http://schemas.microsoft.com/office/drawing/2014/main" id="{6888B582-EF48-307D-3C13-AD867536131E}"/>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262159432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n>
                  <a:noFill/>
                </a:ln>
                <a:effectLst/>
              </a:rPr>
              <a:t>Challenges on Emerging Hardware and Applications</a:t>
            </a:r>
          </a:p>
        </p:txBody>
      </p:sp>
      <p:sp>
        <p:nvSpPr>
          <p:cNvPr id="6" name="Content Placeholder 5"/>
          <p:cNvSpPr>
            <a:spLocks noGrp="1"/>
          </p:cNvSpPr>
          <p:nvPr>
            <p:ph sz="quarter" idx="1"/>
          </p:nvPr>
        </p:nvSpPr>
        <p:spPr>
          <a:xfrm>
            <a:off x="583492" y="3198655"/>
            <a:ext cx="7704667" cy="3332816"/>
          </a:xfrm>
        </p:spPr>
        <p:txBody>
          <a:bodyPr/>
          <a:lstStyle/>
          <a:p>
            <a:r>
              <a:rPr lang="en-US" dirty="0"/>
              <a:t>Multiprocessor </a:t>
            </a:r>
            <a:r>
              <a:rPr lang="en-US" dirty="0">
                <a:sym typeface="Wingdings" pitchFamily="2" charset="2"/>
              </a:rPr>
              <a:t> </a:t>
            </a:r>
            <a:r>
              <a:rPr lang="en-US" dirty="0"/>
              <a:t>Many core</a:t>
            </a:r>
          </a:p>
        </p:txBody>
      </p:sp>
      <p:sp>
        <p:nvSpPr>
          <p:cNvPr id="8" name="Rectangle 7"/>
          <p:cNvSpPr/>
          <p:nvPr/>
        </p:nvSpPr>
        <p:spPr>
          <a:xfrm>
            <a:off x="942042" y="2240062"/>
            <a:ext cx="236190" cy="31063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78232" y="2240062"/>
            <a:ext cx="236190" cy="31063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414421" y="2240062"/>
            <a:ext cx="236190" cy="31063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650611" y="2240062"/>
            <a:ext cx="236190" cy="31063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886801" y="2240062"/>
            <a:ext cx="236190" cy="31063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540129" y="2188289"/>
            <a:ext cx="944759" cy="414179"/>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processor</a:t>
            </a:r>
          </a:p>
        </p:txBody>
      </p:sp>
      <p:cxnSp>
        <p:nvCxnSpPr>
          <p:cNvPr id="14" name="Straight Arrow Connector 13"/>
          <p:cNvCxnSpPr>
            <a:stCxn id="12" idx="3"/>
            <a:endCxn id="13" idx="1"/>
          </p:cNvCxnSpPr>
          <p:nvPr/>
        </p:nvCxnSpPr>
        <p:spPr>
          <a:xfrm>
            <a:off x="2122991" y="2395379"/>
            <a:ext cx="1417138" cy="0"/>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122991" y="2040900"/>
            <a:ext cx="1451295" cy="307777"/>
          </a:xfrm>
          <a:prstGeom prst="rect">
            <a:avLst/>
          </a:prstGeom>
          <a:noFill/>
        </p:spPr>
        <p:txBody>
          <a:bodyPr wrap="none" rtlCol="0">
            <a:spAutoFit/>
          </a:bodyPr>
          <a:lstStyle/>
          <a:p>
            <a:r>
              <a:rPr lang="en-US" sz="1400" b="1" dirty="0" err="1"/>
              <a:t>pick_next_task</a:t>
            </a:r>
            <a:r>
              <a:rPr lang="en-US" sz="1400" dirty="0"/>
              <a:t>() </a:t>
            </a:r>
          </a:p>
        </p:txBody>
      </p:sp>
      <p:sp>
        <p:nvSpPr>
          <p:cNvPr id="16" name="TextBox 15"/>
          <p:cNvSpPr txBox="1"/>
          <p:nvPr/>
        </p:nvSpPr>
        <p:spPr>
          <a:xfrm>
            <a:off x="1001089" y="1981200"/>
            <a:ext cx="1100814" cy="307777"/>
          </a:xfrm>
          <a:prstGeom prst="rect">
            <a:avLst/>
          </a:prstGeom>
          <a:noFill/>
        </p:spPr>
        <p:txBody>
          <a:bodyPr wrap="none" rtlCol="0">
            <a:spAutoFit/>
          </a:bodyPr>
          <a:lstStyle/>
          <a:p>
            <a:r>
              <a:rPr lang="en-US" sz="1400" dirty="0"/>
              <a:t>ready queue</a:t>
            </a:r>
          </a:p>
        </p:txBody>
      </p:sp>
      <p:cxnSp>
        <p:nvCxnSpPr>
          <p:cNvPr id="19" name="Straight Arrow Connector 18"/>
          <p:cNvCxnSpPr/>
          <p:nvPr/>
        </p:nvCxnSpPr>
        <p:spPr>
          <a:xfrm flipV="1">
            <a:off x="4463468" y="2362200"/>
            <a:ext cx="413332" cy="7928"/>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3551041" y="3352800"/>
            <a:ext cx="944759" cy="414179"/>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processor</a:t>
            </a:r>
          </a:p>
        </p:txBody>
      </p:sp>
      <p:cxnSp>
        <p:nvCxnSpPr>
          <p:cNvPr id="24" name="Straight Arrow Connector 23"/>
          <p:cNvCxnSpPr>
            <a:stCxn id="12" idx="3"/>
            <a:endCxn id="22" idx="1"/>
          </p:cNvCxnSpPr>
          <p:nvPr/>
        </p:nvCxnSpPr>
        <p:spPr>
          <a:xfrm>
            <a:off x="2122991" y="2395379"/>
            <a:ext cx="1428050" cy="1164511"/>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rot="5400000">
            <a:off x="3917219" y="2691583"/>
            <a:ext cx="450764" cy="553998"/>
          </a:xfrm>
          <a:prstGeom prst="rect">
            <a:avLst/>
          </a:prstGeom>
          <a:noFill/>
        </p:spPr>
        <p:txBody>
          <a:bodyPr wrap="none" rtlCol="0">
            <a:spAutoFit/>
          </a:bodyPr>
          <a:lstStyle/>
          <a:p>
            <a:r>
              <a:rPr lang="en-US" sz="3000" dirty="0"/>
              <a:t>…</a:t>
            </a:r>
          </a:p>
        </p:txBody>
      </p:sp>
      <p:sp>
        <p:nvSpPr>
          <p:cNvPr id="26" name="TextBox 25"/>
          <p:cNvSpPr txBox="1"/>
          <p:nvPr/>
        </p:nvSpPr>
        <p:spPr>
          <a:xfrm>
            <a:off x="4953000" y="2133600"/>
            <a:ext cx="4188391" cy="369332"/>
          </a:xfrm>
          <a:prstGeom prst="rect">
            <a:avLst/>
          </a:prstGeom>
          <a:noFill/>
        </p:spPr>
        <p:txBody>
          <a:bodyPr wrap="none" rtlCol="0">
            <a:spAutoFit/>
          </a:bodyPr>
          <a:lstStyle/>
          <a:p>
            <a:r>
              <a:rPr lang="en-US" dirty="0"/>
              <a:t>Multiprocessor = more powerful processor</a:t>
            </a:r>
          </a:p>
        </p:txBody>
      </p:sp>
      <p:sp>
        <p:nvSpPr>
          <p:cNvPr id="27" name="TextBox 26"/>
          <p:cNvSpPr txBox="1"/>
          <p:nvPr/>
        </p:nvSpPr>
        <p:spPr>
          <a:xfrm>
            <a:off x="5016063" y="2590800"/>
            <a:ext cx="3899337" cy="369332"/>
          </a:xfrm>
          <a:prstGeom prst="rect">
            <a:avLst/>
          </a:prstGeom>
          <a:noFill/>
        </p:spPr>
        <p:txBody>
          <a:bodyPr wrap="none" rtlCol="0">
            <a:spAutoFit/>
          </a:bodyPr>
          <a:lstStyle/>
          <a:p>
            <a:r>
              <a:rPr lang="en-US" b="1" dirty="0" err="1"/>
              <a:t>pick_next_task</a:t>
            </a:r>
            <a:r>
              <a:rPr lang="en-US" dirty="0"/>
              <a:t>()  will be the bottleneck</a:t>
            </a:r>
          </a:p>
        </p:txBody>
      </p:sp>
      <p:sp>
        <p:nvSpPr>
          <p:cNvPr id="28" name="Rectangle 27"/>
          <p:cNvSpPr/>
          <p:nvPr/>
        </p:nvSpPr>
        <p:spPr>
          <a:xfrm>
            <a:off x="914400" y="4264283"/>
            <a:ext cx="236190" cy="31063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1150590" y="4264283"/>
            <a:ext cx="236190" cy="31063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1386779" y="4264283"/>
            <a:ext cx="236190" cy="31063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1622969" y="4264283"/>
            <a:ext cx="236190" cy="31063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1859159" y="4264283"/>
            <a:ext cx="236190" cy="31063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3512487" y="4212510"/>
            <a:ext cx="944759" cy="414179"/>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processor</a:t>
            </a:r>
          </a:p>
        </p:txBody>
      </p:sp>
      <p:cxnSp>
        <p:nvCxnSpPr>
          <p:cNvPr id="34" name="Straight Arrow Connector 33"/>
          <p:cNvCxnSpPr>
            <a:stCxn id="32" idx="3"/>
            <a:endCxn id="33" idx="1"/>
          </p:cNvCxnSpPr>
          <p:nvPr/>
        </p:nvCxnSpPr>
        <p:spPr>
          <a:xfrm>
            <a:off x="2095349" y="4419600"/>
            <a:ext cx="1417138" cy="0"/>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095348" y="3930247"/>
            <a:ext cx="1451295" cy="307777"/>
          </a:xfrm>
          <a:prstGeom prst="rect">
            <a:avLst/>
          </a:prstGeom>
          <a:noFill/>
        </p:spPr>
        <p:txBody>
          <a:bodyPr wrap="none" rtlCol="0">
            <a:spAutoFit/>
          </a:bodyPr>
          <a:lstStyle/>
          <a:p>
            <a:r>
              <a:rPr lang="en-US" sz="1400" b="1" dirty="0" err="1"/>
              <a:t>pick_next_task</a:t>
            </a:r>
            <a:r>
              <a:rPr lang="en-US" sz="1400" dirty="0"/>
              <a:t>() </a:t>
            </a:r>
          </a:p>
        </p:txBody>
      </p:sp>
      <p:sp>
        <p:nvSpPr>
          <p:cNvPr id="36" name="TextBox 35"/>
          <p:cNvSpPr txBox="1"/>
          <p:nvPr/>
        </p:nvSpPr>
        <p:spPr>
          <a:xfrm>
            <a:off x="973447" y="4005421"/>
            <a:ext cx="1100814" cy="307777"/>
          </a:xfrm>
          <a:prstGeom prst="rect">
            <a:avLst/>
          </a:prstGeom>
          <a:noFill/>
        </p:spPr>
        <p:txBody>
          <a:bodyPr wrap="none" rtlCol="0">
            <a:spAutoFit/>
          </a:bodyPr>
          <a:lstStyle/>
          <a:p>
            <a:r>
              <a:rPr lang="en-US" sz="1400" dirty="0"/>
              <a:t>ready queue</a:t>
            </a:r>
          </a:p>
        </p:txBody>
      </p:sp>
      <p:cxnSp>
        <p:nvCxnSpPr>
          <p:cNvPr id="37" name="Straight Arrow Connector 36"/>
          <p:cNvCxnSpPr/>
          <p:nvPr/>
        </p:nvCxnSpPr>
        <p:spPr>
          <a:xfrm flipV="1">
            <a:off x="4435826" y="4411672"/>
            <a:ext cx="413332" cy="7928"/>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3523399" y="5377021"/>
            <a:ext cx="944759" cy="414179"/>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processor</a:t>
            </a:r>
          </a:p>
        </p:txBody>
      </p:sp>
      <p:cxnSp>
        <p:nvCxnSpPr>
          <p:cNvPr id="39" name="Straight Arrow Connector 38"/>
          <p:cNvCxnSpPr>
            <a:stCxn id="47" idx="3"/>
            <a:endCxn id="38" idx="1"/>
          </p:cNvCxnSpPr>
          <p:nvPr/>
        </p:nvCxnSpPr>
        <p:spPr>
          <a:xfrm flipV="1">
            <a:off x="2095349" y="5584111"/>
            <a:ext cx="1428050" cy="11668"/>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rot="5400000">
            <a:off x="3889577" y="4715804"/>
            <a:ext cx="450764" cy="553998"/>
          </a:xfrm>
          <a:prstGeom prst="rect">
            <a:avLst/>
          </a:prstGeom>
          <a:noFill/>
        </p:spPr>
        <p:txBody>
          <a:bodyPr wrap="none" rtlCol="0">
            <a:spAutoFit/>
          </a:bodyPr>
          <a:lstStyle/>
          <a:p>
            <a:r>
              <a:rPr lang="en-US" sz="3000" dirty="0"/>
              <a:t>…</a:t>
            </a:r>
          </a:p>
        </p:txBody>
      </p:sp>
      <p:cxnSp>
        <p:nvCxnSpPr>
          <p:cNvPr id="41" name="Straight Arrow Connector 40"/>
          <p:cNvCxnSpPr/>
          <p:nvPr/>
        </p:nvCxnSpPr>
        <p:spPr>
          <a:xfrm flipV="1">
            <a:off x="4495800" y="3573472"/>
            <a:ext cx="413332" cy="7928"/>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V="1">
            <a:off x="4463468" y="5554672"/>
            <a:ext cx="413332" cy="7928"/>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914400" y="5440462"/>
            <a:ext cx="236190" cy="31063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1150590" y="5440462"/>
            <a:ext cx="236190" cy="31063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1386779" y="5440462"/>
            <a:ext cx="236190" cy="31063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1622969" y="5440462"/>
            <a:ext cx="236190" cy="31063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1859159" y="5440462"/>
            <a:ext cx="236190" cy="31063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p:cNvSpPr txBox="1"/>
          <p:nvPr/>
        </p:nvSpPr>
        <p:spPr>
          <a:xfrm>
            <a:off x="973447" y="5181600"/>
            <a:ext cx="1100814" cy="307777"/>
          </a:xfrm>
          <a:prstGeom prst="rect">
            <a:avLst/>
          </a:prstGeom>
          <a:noFill/>
        </p:spPr>
        <p:txBody>
          <a:bodyPr wrap="none" rtlCol="0">
            <a:spAutoFit/>
          </a:bodyPr>
          <a:lstStyle/>
          <a:p>
            <a:r>
              <a:rPr lang="en-US" sz="1400" dirty="0"/>
              <a:t>ready queue</a:t>
            </a:r>
          </a:p>
        </p:txBody>
      </p:sp>
      <p:sp>
        <p:nvSpPr>
          <p:cNvPr id="50" name="TextBox 49"/>
          <p:cNvSpPr txBox="1"/>
          <p:nvPr/>
        </p:nvSpPr>
        <p:spPr>
          <a:xfrm rot="5400000">
            <a:off x="1402619" y="4679219"/>
            <a:ext cx="450764" cy="553998"/>
          </a:xfrm>
          <a:prstGeom prst="rect">
            <a:avLst/>
          </a:prstGeom>
          <a:noFill/>
        </p:spPr>
        <p:txBody>
          <a:bodyPr wrap="none" rtlCol="0">
            <a:spAutoFit/>
          </a:bodyPr>
          <a:lstStyle/>
          <a:p>
            <a:r>
              <a:rPr lang="en-US" sz="3000" dirty="0"/>
              <a:t>…</a:t>
            </a:r>
          </a:p>
        </p:txBody>
      </p:sp>
      <p:sp>
        <p:nvSpPr>
          <p:cNvPr id="51" name="TextBox 50"/>
          <p:cNvSpPr txBox="1"/>
          <p:nvPr/>
        </p:nvSpPr>
        <p:spPr>
          <a:xfrm>
            <a:off x="2057400" y="5254823"/>
            <a:ext cx="1451295" cy="307777"/>
          </a:xfrm>
          <a:prstGeom prst="rect">
            <a:avLst/>
          </a:prstGeom>
          <a:noFill/>
        </p:spPr>
        <p:txBody>
          <a:bodyPr wrap="none" rtlCol="0">
            <a:spAutoFit/>
          </a:bodyPr>
          <a:lstStyle/>
          <a:p>
            <a:r>
              <a:rPr lang="en-US" sz="1400" b="1" dirty="0" err="1"/>
              <a:t>pick_next_task</a:t>
            </a:r>
            <a:r>
              <a:rPr lang="en-US" sz="1400" dirty="0"/>
              <a:t>() </a:t>
            </a:r>
          </a:p>
        </p:txBody>
      </p:sp>
      <p:sp>
        <p:nvSpPr>
          <p:cNvPr id="52" name="TextBox 51"/>
          <p:cNvSpPr txBox="1"/>
          <p:nvPr/>
        </p:nvSpPr>
        <p:spPr>
          <a:xfrm>
            <a:off x="4572000" y="4724400"/>
            <a:ext cx="1588897" cy="646331"/>
          </a:xfrm>
          <a:prstGeom prst="rect">
            <a:avLst/>
          </a:prstGeom>
          <a:noFill/>
        </p:spPr>
        <p:txBody>
          <a:bodyPr wrap="none" rtlCol="0">
            <a:spAutoFit/>
          </a:bodyPr>
          <a:lstStyle/>
          <a:p>
            <a:r>
              <a:rPr lang="en-US" dirty="0"/>
              <a:t>Load balancing</a:t>
            </a:r>
          </a:p>
          <a:p>
            <a:r>
              <a:rPr lang="en-US" dirty="0"/>
              <a:t>Cache affinity</a:t>
            </a:r>
          </a:p>
        </p:txBody>
      </p:sp>
      <p:sp>
        <p:nvSpPr>
          <p:cNvPr id="53" name="TextBox 52"/>
          <p:cNvSpPr txBox="1"/>
          <p:nvPr/>
        </p:nvSpPr>
        <p:spPr>
          <a:xfrm>
            <a:off x="6324600" y="4648200"/>
            <a:ext cx="2743200" cy="923330"/>
          </a:xfrm>
          <a:prstGeom prst="rect">
            <a:avLst/>
          </a:prstGeom>
          <a:noFill/>
        </p:spPr>
        <p:txBody>
          <a:bodyPr wrap="square" rtlCol="0">
            <a:spAutoFit/>
          </a:bodyPr>
          <a:lstStyle/>
          <a:p>
            <a:pPr algn="ctr"/>
            <a:r>
              <a:rPr lang="en-US" dirty="0"/>
              <a:t>Problem:</a:t>
            </a:r>
          </a:p>
          <a:p>
            <a:pPr algn="ctr"/>
            <a:r>
              <a:rPr lang="en-US" dirty="0"/>
              <a:t>Self-scheduling, global control is difficult</a:t>
            </a:r>
          </a:p>
        </p:txBody>
      </p:sp>
      <p:sp>
        <p:nvSpPr>
          <p:cNvPr id="54" name="TextBox 53"/>
          <p:cNvSpPr txBox="1"/>
          <p:nvPr/>
        </p:nvSpPr>
        <p:spPr>
          <a:xfrm>
            <a:off x="228600" y="3124200"/>
            <a:ext cx="1180131" cy="369332"/>
          </a:xfrm>
          <a:prstGeom prst="rect">
            <a:avLst/>
          </a:prstGeom>
          <a:noFill/>
        </p:spPr>
        <p:txBody>
          <a:bodyPr wrap="none" rtlCol="0">
            <a:spAutoFit/>
          </a:bodyPr>
          <a:lstStyle/>
          <a:p>
            <a:r>
              <a:rPr lang="en-US" dirty="0"/>
              <a:t>Linux 2.4.x</a:t>
            </a:r>
          </a:p>
        </p:txBody>
      </p:sp>
      <p:sp>
        <p:nvSpPr>
          <p:cNvPr id="55" name="TextBox 54"/>
          <p:cNvSpPr txBox="1"/>
          <p:nvPr/>
        </p:nvSpPr>
        <p:spPr>
          <a:xfrm>
            <a:off x="152400" y="4800600"/>
            <a:ext cx="1180131" cy="369332"/>
          </a:xfrm>
          <a:prstGeom prst="rect">
            <a:avLst/>
          </a:prstGeom>
          <a:noFill/>
        </p:spPr>
        <p:txBody>
          <a:bodyPr wrap="square" rtlCol="0">
            <a:spAutoFit/>
          </a:bodyPr>
          <a:lstStyle/>
          <a:p>
            <a:r>
              <a:rPr lang="en-US" dirty="0"/>
              <a:t>Linux 2.6.x</a:t>
            </a:r>
          </a:p>
        </p:txBody>
      </p:sp>
      <p:sp>
        <p:nvSpPr>
          <p:cNvPr id="56" name="Down Arrow 55"/>
          <p:cNvSpPr/>
          <p:nvPr/>
        </p:nvSpPr>
        <p:spPr>
          <a:xfrm>
            <a:off x="2416505" y="3653901"/>
            <a:ext cx="304800" cy="304800"/>
          </a:xfrm>
          <a:prstGeom prst="downArrow">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BAAC238E-94F7-3D10-EE12-BA4A2F991CCD}"/>
              </a:ext>
            </a:extLst>
          </p:cNvPr>
          <p:cNvSpPr>
            <a:spLocks noGrp="1"/>
          </p:cNvSpPr>
          <p:nvPr>
            <p:ph type="sldNum" sz="quarter" idx="12"/>
          </p:nvPr>
        </p:nvSpPr>
        <p:spPr/>
        <p:txBody>
          <a:bodyPr/>
          <a:lstStyle/>
          <a:p>
            <a:r>
              <a:rPr lang="en-US"/>
              <a:t>CS4500/5500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linds(horizontal)">
                                      <p:cBhvr>
                                        <p:cTn id="7" dur="500"/>
                                        <p:tgtEl>
                                          <p:spTgt spid="2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blinds(horizontal)">
                                      <p:cBhvr>
                                        <p:cTn id="10" dur="500"/>
                                        <p:tgtEl>
                                          <p:spTgt spid="2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blinds(horizontal)">
                                      <p:cBhvr>
                                        <p:cTn id="13" dur="500"/>
                                        <p:tgtEl>
                                          <p:spTgt spid="3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blinds(horizontal)">
                                      <p:cBhvr>
                                        <p:cTn id="16" dur="500"/>
                                        <p:tgtEl>
                                          <p:spTgt spid="31"/>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blinds(horizontal)">
                                      <p:cBhvr>
                                        <p:cTn id="19" dur="500"/>
                                        <p:tgtEl>
                                          <p:spTgt spid="32"/>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blinds(horizontal)">
                                      <p:cBhvr>
                                        <p:cTn id="22" dur="500"/>
                                        <p:tgtEl>
                                          <p:spTgt spid="33"/>
                                        </p:tgtEl>
                                      </p:cBhvr>
                                    </p:animEffect>
                                  </p:childTnLst>
                                </p:cTn>
                              </p:par>
                              <p:par>
                                <p:cTn id="23" presetID="3" presetClass="entr" presetSubtype="10" fill="hold" nodeType="with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blinds(horizontal)">
                                      <p:cBhvr>
                                        <p:cTn id="25" dur="500"/>
                                        <p:tgtEl>
                                          <p:spTgt spid="34"/>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blinds(horizontal)">
                                      <p:cBhvr>
                                        <p:cTn id="28" dur="500"/>
                                        <p:tgtEl>
                                          <p:spTgt spid="35"/>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blinds(horizontal)">
                                      <p:cBhvr>
                                        <p:cTn id="31" dur="500"/>
                                        <p:tgtEl>
                                          <p:spTgt spid="36"/>
                                        </p:tgtEl>
                                      </p:cBhvr>
                                    </p:animEffect>
                                  </p:childTnLst>
                                </p:cTn>
                              </p:par>
                              <p:par>
                                <p:cTn id="32" presetID="3" presetClass="entr" presetSubtype="10" fill="hold"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blinds(horizontal)">
                                      <p:cBhvr>
                                        <p:cTn id="34" dur="500"/>
                                        <p:tgtEl>
                                          <p:spTgt spid="37"/>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blinds(horizontal)">
                                      <p:cBhvr>
                                        <p:cTn id="37" dur="500"/>
                                        <p:tgtEl>
                                          <p:spTgt spid="38"/>
                                        </p:tgtEl>
                                      </p:cBhvr>
                                    </p:animEffect>
                                  </p:childTnLst>
                                </p:cTn>
                              </p:par>
                              <p:par>
                                <p:cTn id="38" presetID="3" presetClass="entr" presetSubtype="10" fill="hold"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blinds(horizontal)">
                                      <p:cBhvr>
                                        <p:cTn id="40" dur="500"/>
                                        <p:tgtEl>
                                          <p:spTgt spid="39"/>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blinds(horizontal)">
                                      <p:cBhvr>
                                        <p:cTn id="43" dur="500"/>
                                        <p:tgtEl>
                                          <p:spTgt spid="40"/>
                                        </p:tgtEl>
                                      </p:cBhvr>
                                    </p:animEffect>
                                  </p:childTnLst>
                                </p:cTn>
                              </p:par>
                              <p:par>
                                <p:cTn id="44" presetID="3" presetClass="entr" presetSubtype="10" fill="hold" nodeType="with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blinds(horizontal)">
                                      <p:cBhvr>
                                        <p:cTn id="46" dur="500"/>
                                        <p:tgtEl>
                                          <p:spTgt spid="42"/>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blinds(horizontal)">
                                      <p:cBhvr>
                                        <p:cTn id="49" dur="500"/>
                                        <p:tgtEl>
                                          <p:spTgt spid="43"/>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blinds(horizontal)">
                                      <p:cBhvr>
                                        <p:cTn id="52" dur="500"/>
                                        <p:tgtEl>
                                          <p:spTgt spid="44"/>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blinds(horizontal)">
                                      <p:cBhvr>
                                        <p:cTn id="55" dur="500"/>
                                        <p:tgtEl>
                                          <p:spTgt spid="45"/>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blinds(horizontal)">
                                      <p:cBhvr>
                                        <p:cTn id="58" dur="500"/>
                                        <p:tgtEl>
                                          <p:spTgt spid="46"/>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blinds(horizontal)">
                                      <p:cBhvr>
                                        <p:cTn id="61" dur="500"/>
                                        <p:tgtEl>
                                          <p:spTgt spid="47"/>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blinds(horizontal)">
                                      <p:cBhvr>
                                        <p:cTn id="64" dur="500"/>
                                        <p:tgtEl>
                                          <p:spTgt spid="48"/>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50"/>
                                        </p:tgtEl>
                                        <p:attrNameLst>
                                          <p:attrName>style.visibility</p:attrName>
                                        </p:attrNameLst>
                                      </p:cBhvr>
                                      <p:to>
                                        <p:strVal val="visible"/>
                                      </p:to>
                                    </p:set>
                                    <p:animEffect transition="in" filter="blinds(horizontal)">
                                      <p:cBhvr>
                                        <p:cTn id="67" dur="500"/>
                                        <p:tgtEl>
                                          <p:spTgt spid="50"/>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51"/>
                                        </p:tgtEl>
                                        <p:attrNameLst>
                                          <p:attrName>style.visibility</p:attrName>
                                        </p:attrNameLst>
                                      </p:cBhvr>
                                      <p:to>
                                        <p:strVal val="visible"/>
                                      </p:to>
                                    </p:set>
                                    <p:animEffect transition="in" filter="blinds(horizontal)">
                                      <p:cBhvr>
                                        <p:cTn id="70" dur="500"/>
                                        <p:tgtEl>
                                          <p:spTgt spid="51"/>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52"/>
                                        </p:tgtEl>
                                        <p:attrNameLst>
                                          <p:attrName>style.visibility</p:attrName>
                                        </p:attrNameLst>
                                      </p:cBhvr>
                                      <p:to>
                                        <p:strVal val="visible"/>
                                      </p:to>
                                    </p:set>
                                    <p:animEffect transition="in" filter="blinds(horizontal)">
                                      <p:cBhvr>
                                        <p:cTn id="73" dur="500"/>
                                        <p:tgtEl>
                                          <p:spTgt spid="52"/>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55"/>
                                        </p:tgtEl>
                                        <p:attrNameLst>
                                          <p:attrName>style.visibility</p:attrName>
                                        </p:attrNameLst>
                                      </p:cBhvr>
                                      <p:to>
                                        <p:strVal val="visible"/>
                                      </p:to>
                                    </p:set>
                                    <p:animEffect transition="in" filter="blinds(horizontal)">
                                      <p:cBhvr>
                                        <p:cTn id="76" dur="500"/>
                                        <p:tgtEl>
                                          <p:spTgt spid="55"/>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56"/>
                                        </p:tgtEl>
                                        <p:attrNameLst>
                                          <p:attrName>style.visibility</p:attrName>
                                        </p:attrNameLst>
                                      </p:cBhvr>
                                      <p:to>
                                        <p:strVal val="visible"/>
                                      </p:to>
                                    </p:set>
                                    <p:animEffect transition="in" filter="blinds(horizontal)">
                                      <p:cBhvr>
                                        <p:cTn id="79" dur="500"/>
                                        <p:tgtEl>
                                          <p:spTgt spid="56"/>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53"/>
                                        </p:tgtEl>
                                        <p:attrNameLst>
                                          <p:attrName>style.visibility</p:attrName>
                                        </p:attrNameLst>
                                      </p:cBhvr>
                                      <p:to>
                                        <p:strVal val="visible"/>
                                      </p:to>
                                    </p:set>
                                    <p:animEffect transition="in" filter="blinds(horizontal)">
                                      <p:cBhvr>
                                        <p:cTn id="84"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5" grpId="0"/>
      <p:bldP spid="36" grpId="0"/>
      <p:bldP spid="38" grpId="0" animBg="1"/>
      <p:bldP spid="40" grpId="0"/>
      <p:bldP spid="43" grpId="0" animBg="1"/>
      <p:bldP spid="44" grpId="0" animBg="1"/>
      <p:bldP spid="45" grpId="0" animBg="1"/>
      <p:bldP spid="46" grpId="0" animBg="1"/>
      <p:bldP spid="47" grpId="0" animBg="1"/>
      <p:bldP spid="48" grpId="0"/>
      <p:bldP spid="50" grpId="0"/>
      <p:bldP spid="51" grpId="0"/>
      <p:bldP spid="52" grpId="0"/>
      <p:bldP spid="53" grpId="0"/>
      <p:bldP spid="55" grpId="0"/>
      <p:bldP spid="5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EEC5A9E-BE49-924E-870C-2382EB0F4147}"/>
              </a:ext>
            </a:extLst>
          </p:cNvPr>
          <p:cNvSpPr>
            <a:spLocks noGrp="1"/>
          </p:cNvSpPr>
          <p:nvPr>
            <p:ph type="title"/>
          </p:nvPr>
        </p:nvSpPr>
        <p:spPr/>
        <p:txBody>
          <a:bodyPr/>
          <a:lstStyle/>
          <a:p>
            <a:r>
              <a:rPr lang="en-US" dirty="0"/>
              <a:t>Summary</a:t>
            </a:r>
          </a:p>
        </p:txBody>
      </p:sp>
      <p:sp>
        <p:nvSpPr>
          <p:cNvPr id="6" name="Text Placeholder 5">
            <a:extLst>
              <a:ext uri="{FF2B5EF4-FFF2-40B4-BE49-F238E27FC236}">
                <a16:creationId xmlns:a16="http://schemas.microsoft.com/office/drawing/2014/main" id="{ED33AB10-08B0-4A46-D73F-766CF6A846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A95FB4-5527-609F-C826-7C3EA5F7F3D0}"/>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02704098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600"/>
            <a:ext cx="4732867" cy="685799"/>
          </a:xfrm>
        </p:spPr>
        <p:txBody>
          <a:bodyPr>
            <a:normAutofit/>
          </a:bodyPr>
          <a:lstStyle/>
          <a:p>
            <a:r>
              <a:rPr lang="en-US" sz="3600" dirty="0">
                <a:ln>
                  <a:noFill/>
                </a:ln>
                <a:effectLst/>
              </a:rPr>
              <a:t>Summary</a:t>
            </a:r>
          </a:p>
        </p:txBody>
      </p:sp>
      <p:sp>
        <p:nvSpPr>
          <p:cNvPr id="6" name="Content Placeholder 5"/>
          <p:cNvSpPr>
            <a:spLocks noGrp="1"/>
          </p:cNvSpPr>
          <p:nvPr>
            <p:ph sz="quarter" idx="1"/>
          </p:nvPr>
        </p:nvSpPr>
        <p:spPr>
          <a:xfrm>
            <a:off x="3505200" y="2895600"/>
            <a:ext cx="5181600" cy="2570816"/>
          </a:xfrm>
        </p:spPr>
        <p:txBody>
          <a:bodyPr>
            <a:noAutofit/>
          </a:bodyPr>
          <a:lstStyle/>
          <a:p>
            <a:r>
              <a:rPr lang="en-US" sz="1800" dirty="0"/>
              <a:t>The basic scheduling policies are important</a:t>
            </a:r>
          </a:p>
          <a:p>
            <a:pPr lvl="1"/>
            <a:r>
              <a:rPr lang="en-US" sz="1800" dirty="0"/>
              <a:t>Multilevel Feedback Queue = RR  + Priority</a:t>
            </a:r>
          </a:p>
          <a:p>
            <a:pPr lvl="1"/>
            <a:r>
              <a:rPr lang="en-US" sz="1800" dirty="0"/>
              <a:t>CFS = RR + SJF + Priority + smart data structure</a:t>
            </a:r>
          </a:p>
          <a:p>
            <a:r>
              <a:rPr lang="en-US" sz="1800" dirty="0"/>
              <a:t>Additional readings</a:t>
            </a:r>
          </a:p>
          <a:p>
            <a:pPr lvl="1"/>
            <a:r>
              <a:rPr lang="en-US" sz="1800" dirty="0"/>
              <a:t>Go to </a:t>
            </a:r>
            <a:r>
              <a:rPr lang="en-US" sz="1800" dirty="0">
                <a:hlinkClick r:id="rId3"/>
              </a:rPr>
              <a:t>http://lxr.linux.no/linux+v2.6.24/kernel/</a:t>
            </a:r>
            <a:endParaRPr lang="en-US" sz="1800" dirty="0"/>
          </a:p>
          <a:p>
            <a:pPr lvl="1"/>
            <a:r>
              <a:rPr lang="en-US" sz="1800" dirty="0"/>
              <a:t>Read /kernel/</a:t>
            </a:r>
            <a:r>
              <a:rPr lang="en-US" sz="1800" dirty="0" err="1"/>
              <a:t>sched.c</a:t>
            </a:r>
            <a:r>
              <a:rPr lang="en-US" sz="1800" dirty="0"/>
              <a:t>, /kernel/</a:t>
            </a:r>
            <a:r>
              <a:rPr lang="en-US" sz="1800" dirty="0" err="1"/>
              <a:t>sched_fair.c</a:t>
            </a:r>
            <a:r>
              <a:rPr lang="en-US" sz="1800" dirty="0"/>
              <a:t>, /include/</a:t>
            </a:r>
            <a:r>
              <a:rPr lang="en-US" sz="1800" dirty="0" err="1"/>
              <a:t>linux</a:t>
            </a:r>
            <a:r>
              <a:rPr lang="en-US" sz="1800" dirty="0"/>
              <a:t>/</a:t>
            </a:r>
            <a:r>
              <a:rPr lang="en-US" sz="1800" dirty="0" err="1"/>
              <a:t>sched.h</a:t>
            </a:r>
            <a:r>
              <a:rPr lang="en-US" sz="1800" dirty="0"/>
              <a:t> (starting from the schedule(void) function)</a:t>
            </a:r>
          </a:p>
          <a:p>
            <a:pPr lvl="1"/>
            <a:r>
              <a:rPr lang="en-US" sz="1800" dirty="0"/>
              <a:t>See how the </a:t>
            </a:r>
            <a:r>
              <a:rPr lang="en-US" sz="1800" dirty="0" err="1"/>
              <a:t>vruntime</a:t>
            </a:r>
            <a:r>
              <a:rPr lang="en-US" sz="1800" dirty="0"/>
              <a:t> is actually updated</a:t>
            </a:r>
          </a:p>
          <a:p>
            <a:pPr lvl="1"/>
            <a:r>
              <a:rPr lang="en-US" sz="1800" dirty="0"/>
              <a:t>Documentation: </a:t>
            </a:r>
            <a:r>
              <a:rPr lang="en-US" sz="1800" dirty="0">
                <a:hlinkClick r:id="rId4"/>
              </a:rPr>
              <a:t>http://www.kernel.org/doc/Documentation/scheduler/sched-design-CFS.txt</a:t>
            </a:r>
            <a:endParaRPr lang="en-US" sz="1800" dirty="0"/>
          </a:p>
          <a:p>
            <a:pPr lvl="1"/>
            <a:r>
              <a:rPr lang="en-US" sz="1800" dirty="0"/>
              <a:t>Another interesting scheduler: BFS</a:t>
            </a:r>
          </a:p>
          <a:p>
            <a:pPr lvl="2"/>
            <a:r>
              <a:rPr lang="en-US" dirty="0">
                <a:hlinkClick r:id="rId5"/>
              </a:rPr>
              <a:t>http://ck.kolivas.org/patches/bfs/bfs-faq.txt</a:t>
            </a:r>
            <a:r>
              <a:rPr lang="en-US" dirty="0"/>
              <a:t> </a:t>
            </a:r>
          </a:p>
          <a:p>
            <a:pPr lvl="1"/>
            <a:endParaRPr lang="en-US" sz="1800" dirty="0"/>
          </a:p>
          <a:p>
            <a:endParaRPr lang="en-US" sz="1800" dirty="0"/>
          </a:p>
          <a:p>
            <a:endParaRPr lang="en-US" sz="1800" dirty="0"/>
          </a:p>
          <a:p>
            <a:pPr lvl="1"/>
            <a:endParaRPr lang="en-US" sz="1800" dirty="0"/>
          </a:p>
        </p:txBody>
      </p:sp>
      <p:sp>
        <p:nvSpPr>
          <p:cNvPr id="7" name="Slide Number Placeholder 6">
            <a:extLst>
              <a:ext uri="{FF2B5EF4-FFF2-40B4-BE49-F238E27FC236}">
                <a16:creationId xmlns:a16="http://schemas.microsoft.com/office/drawing/2014/main" id="{19B8D90A-B200-6362-55B2-E476D2198526}"/>
              </a:ext>
            </a:extLst>
          </p:cNvPr>
          <p:cNvSpPr>
            <a:spLocks noGrp="1"/>
          </p:cNvSpPr>
          <p:nvPr>
            <p:ph type="sldNum" sz="quarter" idx="12"/>
          </p:nvPr>
        </p:nvSpPr>
        <p:spPr/>
        <p:txBody>
          <a:bodyPr/>
          <a:lstStyle/>
          <a:p>
            <a:r>
              <a:rPr lang="en-US"/>
              <a:t>CS4500/5500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blinds(horizontal)">
                                      <p:cBhvr>
                                        <p:cTn id="7" dur="500"/>
                                        <p:tgtEl>
                                          <p:spTgt spid="6">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xEl>
                                              <p:pRg st="4" end="4"/>
                                            </p:txEl>
                                          </p:spTgt>
                                        </p:tgtEl>
                                        <p:attrNameLst>
                                          <p:attrName>style.visibility</p:attrName>
                                        </p:attrNameLst>
                                      </p:cBhvr>
                                      <p:to>
                                        <p:strVal val="visible"/>
                                      </p:to>
                                    </p:set>
                                    <p:animEffect transition="in" filter="blinds(horizontal)">
                                      <p:cBhvr>
                                        <p:cTn id="10" dur="500"/>
                                        <p:tgtEl>
                                          <p:spTgt spid="6">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animEffect transition="in" filter="blinds(horizontal)">
                                      <p:cBhvr>
                                        <p:cTn id="13" dur="500"/>
                                        <p:tgtEl>
                                          <p:spTgt spid="6">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
                                            <p:txEl>
                                              <p:pRg st="6" end="6"/>
                                            </p:txEl>
                                          </p:spTgt>
                                        </p:tgtEl>
                                        <p:attrNameLst>
                                          <p:attrName>style.visibility</p:attrName>
                                        </p:attrNameLst>
                                      </p:cBhvr>
                                      <p:to>
                                        <p:strVal val="visible"/>
                                      </p:to>
                                    </p:set>
                                    <p:animEffect transition="in" filter="blinds(horizontal)">
                                      <p:cBhvr>
                                        <p:cTn id="16" dur="500"/>
                                        <p:tgtEl>
                                          <p:spTgt spid="6">
                                            <p:txEl>
                                              <p:pRg st="6" end="6"/>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animEffect transition="in" filter="blinds(horizontal)">
                                      <p:cBhvr>
                                        <p:cTn id="19" dur="500"/>
                                        <p:tgtEl>
                                          <p:spTgt spid="6">
                                            <p:txEl>
                                              <p:pRg st="7" end="7"/>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6">
                                            <p:txEl>
                                              <p:pRg st="8" end="8"/>
                                            </p:txEl>
                                          </p:spTgt>
                                        </p:tgtEl>
                                        <p:attrNameLst>
                                          <p:attrName>style.visibility</p:attrName>
                                        </p:attrNameLst>
                                      </p:cBhvr>
                                      <p:to>
                                        <p:strVal val="visible"/>
                                      </p:to>
                                    </p:set>
                                    <p:animEffect transition="in" filter="blinds(horizontal)">
                                      <p:cBhvr>
                                        <p:cTn id="22" dur="500"/>
                                        <p:tgtEl>
                                          <p:spTgt spid="6">
                                            <p:txEl>
                                              <p:pRg st="8" end="8"/>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6">
                                            <p:txEl>
                                              <p:pRg st="9" end="9"/>
                                            </p:txEl>
                                          </p:spTgt>
                                        </p:tgtEl>
                                        <p:attrNameLst>
                                          <p:attrName>style.visibility</p:attrName>
                                        </p:attrNameLst>
                                      </p:cBhvr>
                                      <p:to>
                                        <p:strVal val="visible"/>
                                      </p:to>
                                    </p:set>
                                    <p:animEffect transition="in" filter="blinds(horizontal)">
                                      <p:cBhvr>
                                        <p:cTn id="25"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621672"/>
          </a:xfrm>
        </p:spPr>
        <p:txBody>
          <a:bodyPr>
            <a:normAutofit/>
          </a:bodyPr>
          <a:lstStyle/>
          <a:p>
            <a:r>
              <a:rPr lang="en-US" sz="3200" dirty="0">
                <a:ln>
                  <a:noFill/>
                </a:ln>
                <a:effectLst/>
              </a:rPr>
              <a:t>Process Behaviors</a:t>
            </a:r>
          </a:p>
        </p:txBody>
      </p:sp>
      <p:sp>
        <p:nvSpPr>
          <p:cNvPr id="31" name="Content Placeholder 5"/>
          <p:cNvSpPr>
            <a:spLocks noGrp="1"/>
          </p:cNvSpPr>
          <p:nvPr>
            <p:ph sz="quarter" idx="1"/>
          </p:nvPr>
        </p:nvSpPr>
        <p:spPr>
          <a:xfrm>
            <a:off x="457200" y="1219200"/>
            <a:ext cx="8229600" cy="5029200"/>
          </a:xfrm>
        </p:spPr>
        <p:txBody>
          <a:bodyPr>
            <a:normAutofit/>
          </a:bodyPr>
          <a:lstStyle/>
          <a:p>
            <a:endParaRPr lang="en-US" dirty="0">
              <a:solidFill>
                <a:srgbClr val="000000"/>
              </a:solidFill>
            </a:endParaRPr>
          </a:p>
          <a:p>
            <a:pPr lvl="1"/>
            <a:endParaRPr lang="en-US" dirty="0">
              <a:solidFill>
                <a:srgbClr val="000000"/>
              </a:solidFill>
            </a:endParaRPr>
          </a:p>
          <a:p>
            <a:endParaRPr lang="en-US" dirty="0">
              <a:solidFill>
                <a:srgbClr val="000000"/>
              </a:solidFill>
            </a:endParaRPr>
          </a:p>
        </p:txBody>
      </p:sp>
      <p:pic>
        <p:nvPicPr>
          <p:cNvPr id="7" name="Picture 4" descr="2-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 y="1252182"/>
            <a:ext cx="8077200" cy="3244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TextBox 5"/>
          <p:cNvSpPr txBox="1"/>
          <p:nvPr/>
        </p:nvSpPr>
        <p:spPr>
          <a:xfrm>
            <a:off x="304800" y="4800600"/>
            <a:ext cx="8610600" cy="1588127"/>
          </a:xfrm>
          <a:prstGeom prst="rect">
            <a:avLst/>
          </a:prstGeom>
          <a:noFill/>
        </p:spPr>
        <p:txBody>
          <a:bodyPr wrap="square" rtlCol="0">
            <a:spAutoFit/>
          </a:bodyPr>
          <a:lstStyle/>
          <a:p>
            <a:pPr marL="342900" indent="-342900">
              <a:lnSpc>
                <a:spcPct val="90000"/>
              </a:lnSpc>
              <a:buFont typeface="Arial"/>
              <a:buChar char="•"/>
            </a:pPr>
            <a:r>
              <a:rPr lang="en-US" sz="2000" dirty="0">
                <a:latin typeface="Arial" charset="0"/>
              </a:rPr>
              <a:t>Bursts of CPU usage alternate with periods of I/O wait</a:t>
            </a:r>
          </a:p>
          <a:p>
            <a:pPr marL="742950" lvl="1" indent="-285750">
              <a:lnSpc>
                <a:spcPct val="90000"/>
              </a:lnSpc>
              <a:buFont typeface="Courier New"/>
              <a:buChar char="o"/>
            </a:pPr>
            <a:r>
              <a:rPr lang="en-US" dirty="0">
                <a:latin typeface="Arial" charset="0"/>
              </a:rPr>
              <a:t>a </a:t>
            </a:r>
            <a:r>
              <a:rPr lang="en-US" dirty="0">
                <a:solidFill>
                  <a:srgbClr val="0000FF"/>
                </a:solidFill>
                <a:latin typeface="Arial" charset="0"/>
              </a:rPr>
              <a:t>CPU-bound/CPU-intensive </a:t>
            </a:r>
            <a:r>
              <a:rPr lang="en-US" dirty="0">
                <a:latin typeface="Arial" charset="0"/>
              </a:rPr>
              <a:t>process</a:t>
            </a:r>
          </a:p>
          <a:p>
            <a:pPr marL="742950" lvl="1" indent="-285750">
              <a:lnSpc>
                <a:spcPct val="90000"/>
              </a:lnSpc>
              <a:buFont typeface="Courier New"/>
              <a:buChar char="o"/>
            </a:pPr>
            <a:r>
              <a:rPr lang="en-US" dirty="0">
                <a:latin typeface="Arial" charset="0"/>
              </a:rPr>
              <a:t>an </a:t>
            </a:r>
            <a:r>
              <a:rPr lang="en-US" dirty="0">
                <a:solidFill>
                  <a:srgbClr val="0000FF"/>
                </a:solidFill>
                <a:latin typeface="Arial" charset="0"/>
              </a:rPr>
              <a:t>I/O bound/I/O intensive </a:t>
            </a:r>
            <a:r>
              <a:rPr lang="en-US" dirty="0">
                <a:latin typeface="Arial" charset="0"/>
              </a:rPr>
              <a:t>process</a:t>
            </a:r>
          </a:p>
          <a:p>
            <a:pPr marL="1200150" lvl="2" indent="-285750">
              <a:lnSpc>
                <a:spcPct val="90000"/>
              </a:lnSpc>
              <a:buFont typeface="Wingdings" charset="2"/>
              <a:buChar char="Ø"/>
            </a:pPr>
            <a:r>
              <a:rPr lang="en-US" sz="1600" dirty="0">
                <a:latin typeface="Arial" charset="0"/>
              </a:rPr>
              <a:t>I/O is when a process enters the blocked state waiting for an external device to complete its work</a:t>
            </a:r>
          </a:p>
          <a:p>
            <a:endParaRPr lang="en-US" dirty="0"/>
          </a:p>
        </p:txBody>
      </p:sp>
      <p:sp>
        <p:nvSpPr>
          <p:cNvPr id="8" name="Slide Number Placeholder 7">
            <a:extLst>
              <a:ext uri="{FF2B5EF4-FFF2-40B4-BE49-F238E27FC236}">
                <a16:creationId xmlns:a16="http://schemas.microsoft.com/office/drawing/2014/main" id="{BA6DEB9D-4F39-1793-923B-BCABE6FB0BB1}"/>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1081644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228600"/>
            <a:ext cx="3964771" cy="1752599"/>
          </a:xfrm>
        </p:spPr>
        <p:txBody>
          <a:bodyPr>
            <a:normAutofit/>
          </a:bodyPr>
          <a:lstStyle/>
          <a:p>
            <a:r>
              <a:rPr lang="en-US" sz="3200" dirty="0">
                <a:ln>
                  <a:noFill/>
                </a:ln>
                <a:effectLst/>
              </a:rPr>
              <a:t>Scheduling </a:t>
            </a:r>
            <a:br>
              <a:rPr lang="en-US" sz="3200" dirty="0">
                <a:ln>
                  <a:noFill/>
                </a:ln>
                <a:effectLst/>
              </a:rPr>
            </a:br>
            <a:r>
              <a:rPr lang="en-US" sz="3200" dirty="0">
                <a:ln>
                  <a:noFill/>
                </a:ln>
                <a:effectLst/>
              </a:rPr>
              <a:t>Policies</a:t>
            </a:r>
          </a:p>
        </p:txBody>
      </p:sp>
      <p:sp>
        <p:nvSpPr>
          <p:cNvPr id="31" name="Content Placeholder 5"/>
          <p:cNvSpPr>
            <a:spLocks noGrp="1"/>
          </p:cNvSpPr>
          <p:nvPr>
            <p:ph sz="half" idx="1"/>
          </p:nvPr>
        </p:nvSpPr>
        <p:spPr/>
        <p:txBody>
          <a:bodyPr>
            <a:normAutofit fontScale="85000" lnSpcReduction="20000"/>
          </a:bodyPr>
          <a:lstStyle/>
          <a:p>
            <a:r>
              <a:rPr lang="en-US" dirty="0"/>
              <a:t>Batch Systems</a:t>
            </a:r>
          </a:p>
          <a:p>
            <a:pPr lvl="1"/>
            <a:r>
              <a:rPr lang="en-US" b="1" dirty="0"/>
              <a:t>First-Come First-Serve</a:t>
            </a:r>
          </a:p>
          <a:p>
            <a:pPr lvl="1"/>
            <a:r>
              <a:rPr lang="en-US" b="1" dirty="0"/>
              <a:t>Shortest Job First</a:t>
            </a:r>
          </a:p>
          <a:p>
            <a:pPr lvl="1"/>
            <a:r>
              <a:rPr lang="en-US" dirty="0"/>
              <a:t>Shortest Remaining Time Next</a:t>
            </a:r>
          </a:p>
          <a:p>
            <a:r>
              <a:rPr lang="en-US" dirty="0"/>
              <a:t>Interactive Systems</a:t>
            </a:r>
          </a:p>
          <a:p>
            <a:pPr lvl="1"/>
            <a:r>
              <a:rPr lang="en-US" b="1" dirty="0"/>
              <a:t>Round-Robin</a:t>
            </a:r>
          </a:p>
          <a:p>
            <a:pPr lvl="1"/>
            <a:r>
              <a:rPr lang="en-US" dirty="0"/>
              <a:t>Priority Scheduling</a:t>
            </a:r>
          </a:p>
          <a:p>
            <a:pPr lvl="1"/>
            <a:r>
              <a:rPr lang="en-US" dirty="0"/>
              <a:t>Multiple Queues</a:t>
            </a:r>
          </a:p>
          <a:p>
            <a:pPr lvl="1"/>
            <a:r>
              <a:rPr lang="en-US" dirty="0"/>
              <a:t>Shortest Process Next</a:t>
            </a:r>
          </a:p>
          <a:p>
            <a:pPr lvl="1"/>
            <a:r>
              <a:rPr lang="en-US" dirty="0"/>
              <a:t>Guaranteed Scheduling</a:t>
            </a:r>
          </a:p>
          <a:p>
            <a:pPr lvl="1"/>
            <a:r>
              <a:rPr lang="en-US" dirty="0"/>
              <a:t>Lottery Scheduling</a:t>
            </a:r>
          </a:p>
          <a:p>
            <a:endParaRPr lang="en-US" dirty="0"/>
          </a:p>
          <a:p>
            <a:pPr lvl="1"/>
            <a:endParaRPr lang="en-US" dirty="0"/>
          </a:p>
          <a:p>
            <a:endParaRPr lang="en-US" dirty="0"/>
          </a:p>
        </p:txBody>
      </p:sp>
      <p:sp>
        <p:nvSpPr>
          <p:cNvPr id="4" name="Content Placeholder 3">
            <a:extLst>
              <a:ext uri="{FF2B5EF4-FFF2-40B4-BE49-F238E27FC236}">
                <a16:creationId xmlns:a16="http://schemas.microsoft.com/office/drawing/2014/main" id="{9E3C4B40-BE0B-2B32-0590-4D97F00E6AAC}"/>
              </a:ext>
            </a:extLst>
          </p:cNvPr>
          <p:cNvSpPr>
            <a:spLocks noGrp="1"/>
          </p:cNvSpPr>
          <p:nvPr>
            <p:ph sz="half" idx="2"/>
          </p:nvPr>
        </p:nvSpPr>
        <p:spPr/>
        <p:txBody>
          <a:bodyPr>
            <a:normAutofit fontScale="85000" lnSpcReduction="20000"/>
          </a:bodyPr>
          <a:lstStyle/>
          <a:p>
            <a:r>
              <a:rPr lang="en-US" dirty="0"/>
              <a:t>Real-time Systems</a:t>
            </a:r>
          </a:p>
          <a:p>
            <a:pPr lvl="1"/>
            <a:r>
              <a:rPr lang="en-US" dirty="0"/>
              <a:t>Rate Monotonic Scheduling</a:t>
            </a:r>
          </a:p>
          <a:p>
            <a:pPr lvl="1"/>
            <a:r>
              <a:rPr lang="en-US" dirty="0"/>
              <a:t>Earliest Deadline First Scheduling</a:t>
            </a:r>
          </a:p>
          <a:p>
            <a:endParaRPr lang="en-US" dirty="0"/>
          </a:p>
        </p:txBody>
      </p:sp>
      <p:pic>
        <p:nvPicPr>
          <p:cNvPr id="7" name="Picture 6" descr="A small bird perched on a wood post&#10;&#10;Description automatically generated with low confidence">
            <a:extLst>
              <a:ext uri="{FF2B5EF4-FFF2-40B4-BE49-F238E27FC236}">
                <a16:creationId xmlns:a16="http://schemas.microsoft.com/office/drawing/2014/main" id="{E0F4352D-F400-31E8-8A06-B2B12091CE70}"/>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966238" y="533400"/>
            <a:ext cx="2595349" cy="2595349"/>
          </a:xfrm>
          <a:prstGeom prst="ellipse">
            <a:avLst/>
          </a:prstGeom>
          <a:ln w="76200">
            <a:solidFill>
              <a:schemeClr val="tx1"/>
            </a:solidFill>
          </a:ln>
        </p:spPr>
      </p:pic>
      <p:sp>
        <p:nvSpPr>
          <p:cNvPr id="8" name="TextBox 7">
            <a:extLst>
              <a:ext uri="{FF2B5EF4-FFF2-40B4-BE49-F238E27FC236}">
                <a16:creationId xmlns:a16="http://schemas.microsoft.com/office/drawing/2014/main" id="{7371EA5B-8F72-4F7B-06F6-B0D9583C2227}"/>
              </a:ext>
            </a:extLst>
          </p:cNvPr>
          <p:cNvSpPr txBox="1"/>
          <p:nvPr/>
        </p:nvSpPr>
        <p:spPr>
          <a:xfrm>
            <a:off x="3484515" y="6215579"/>
            <a:ext cx="2452679" cy="519351"/>
          </a:xfrm>
          <a:prstGeom prst="ellipse">
            <a:avLst/>
          </a:prstGeom>
          <a:noFill/>
          <a:ln w="76200">
            <a:noFill/>
          </a:ln>
        </p:spPr>
        <p:txBody>
          <a:bodyPr wrap="square" rtlCol="0">
            <a:spAutoFit/>
          </a:bodyPr>
          <a:lstStyle/>
          <a:p>
            <a:r>
              <a:rPr lang="en-US" sz="900">
                <a:hlinkClick r:id="rId4" tooltip="http://flickr.com/photos/hellie55/8631541232">
                  <a:extLst>
                    <a:ext uri="{A12FA001-AC4F-418D-AE19-62706E023703}">
                      <ahyp:hlinkClr xmlns:ahyp="http://schemas.microsoft.com/office/drawing/2018/hyperlinkcolor" val="tx"/>
                    </a:ext>
                  </a:extLst>
                </a:hlinkClick>
              </a:rPr>
              <a:t>This Photo</a:t>
            </a:r>
            <a:r>
              <a:rPr lang="en-US" sz="900"/>
              <a:t> by Unknown Author is licensed under </a:t>
            </a:r>
            <a:r>
              <a:rPr lang="en-US" sz="900">
                <a:hlinkClick r:id="rId5" tooltip="https://creativecommons.org/licenses/by-nc/3.0/">
                  <a:extLst>
                    <a:ext uri="{A12FA001-AC4F-418D-AE19-62706E023703}">
                      <ahyp:hlinkClr xmlns:ahyp="http://schemas.microsoft.com/office/drawing/2018/hyperlinkcolor" val="tx"/>
                    </a:ext>
                  </a:extLst>
                </a:hlinkClick>
              </a:rPr>
              <a:t>CC BY-NC</a:t>
            </a:r>
            <a:endParaRPr lang="en-US" sz="900"/>
          </a:p>
        </p:txBody>
      </p:sp>
      <p:sp>
        <p:nvSpPr>
          <p:cNvPr id="9" name="Slide Number Placeholder 8">
            <a:extLst>
              <a:ext uri="{FF2B5EF4-FFF2-40B4-BE49-F238E27FC236}">
                <a16:creationId xmlns:a16="http://schemas.microsoft.com/office/drawing/2014/main" id="{D91309CB-C76C-F230-7F28-ABEAD7F94208}"/>
              </a:ext>
            </a:extLst>
          </p:cNvPr>
          <p:cNvSpPr>
            <a:spLocks noGrp="1"/>
          </p:cNvSpPr>
          <p:nvPr>
            <p:ph type="sldNum" sz="quarter" idx="12"/>
          </p:nvPr>
        </p:nvSpPr>
        <p:spPr/>
        <p:txBody>
          <a:bodyPr/>
          <a:lstStyle/>
          <a:p>
            <a:fld id="{B6F15528-21DE-4FAA-801E-634DDDAF4B2B}" type="slidenum">
              <a:rPr lang="en-US" smtClean="0"/>
              <a:pPr/>
              <a:t>88</a:t>
            </a:fld>
            <a:endParaRPr lang="en-US"/>
          </a:p>
        </p:txBody>
      </p:sp>
    </p:spTree>
    <p:extLst>
      <p:ext uri="{BB962C8B-B14F-4D97-AF65-F5344CB8AC3E}">
        <p14:creationId xmlns:p14="http://schemas.microsoft.com/office/powerpoint/2010/main" val="14893457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1A913-CF0B-DE2D-4479-CF59966C92D4}"/>
              </a:ext>
            </a:extLst>
          </p:cNvPr>
          <p:cNvSpPr>
            <a:spLocks noGrp="1"/>
          </p:cNvSpPr>
          <p:nvPr>
            <p:ph type="title"/>
          </p:nvPr>
        </p:nvSpPr>
        <p:spPr/>
        <p:txBody>
          <a:bodyPr/>
          <a:lstStyle/>
          <a:p>
            <a:r>
              <a:rPr lang="en-US" dirty="0"/>
              <a:t>For Next Time</a:t>
            </a:r>
          </a:p>
        </p:txBody>
      </p:sp>
      <p:sp>
        <p:nvSpPr>
          <p:cNvPr id="3" name="Content Placeholder 2">
            <a:extLst>
              <a:ext uri="{FF2B5EF4-FFF2-40B4-BE49-F238E27FC236}">
                <a16:creationId xmlns:a16="http://schemas.microsoft.com/office/drawing/2014/main" id="{B4C573E1-3196-F654-94BC-C2C1CE1D106A}"/>
              </a:ext>
            </a:extLst>
          </p:cNvPr>
          <p:cNvSpPr>
            <a:spLocks noGrp="1"/>
          </p:cNvSpPr>
          <p:nvPr>
            <p:ph idx="1"/>
          </p:nvPr>
        </p:nvSpPr>
        <p:spPr/>
        <p:txBody>
          <a:bodyPr/>
          <a:lstStyle/>
          <a:p>
            <a:r>
              <a:rPr lang="en-US" dirty="0"/>
              <a:t>Read: </a:t>
            </a:r>
            <a:r>
              <a:rPr lang="en-US" sz="2400" dirty="0">
                <a:effectLst/>
                <a:latin typeface="Calibri" panose="020F0502020204030204" pitchFamily="34" charset="0"/>
                <a:ea typeface="MS Mincho" panose="02020609040205080304" pitchFamily="49" charset="-128"/>
                <a:cs typeface="Times New Roman" panose="02020603050405020304" pitchFamily="18" charset="0"/>
              </a:rPr>
              <a:t>Andrew S. Tanenbaum, Modern Operating Systems, 4thd edition, 2014, Prentice Hall Chapter 2</a:t>
            </a:r>
          </a:p>
          <a:p>
            <a:r>
              <a:rPr lang="en-US" dirty="0">
                <a:latin typeface="Calibri" panose="020F0502020204030204" pitchFamily="34" charset="0"/>
                <a:ea typeface="MS Mincho" panose="02020609040205080304" pitchFamily="49" charset="-128"/>
                <a:cs typeface="Times New Roman" panose="02020603050405020304" pitchFamily="18" charset="0"/>
              </a:rPr>
              <a:t>Start </a:t>
            </a:r>
            <a:r>
              <a:rPr lang="en-US" sz="2400" dirty="0">
                <a:effectLst/>
                <a:latin typeface="Calibri" panose="020F0502020204030204" pitchFamily="34" charset="0"/>
                <a:ea typeface="MS Mincho" panose="02020609040205080304" pitchFamily="49" charset="-128"/>
                <a:cs typeface="Times New Roman" panose="02020603050405020304" pitchFamily="18" charset="0"/>
              </a:rPr>
              <a:t>Project 1 if you have not begun yet</a:t>
            </a:r>
          </a:p>
          <a:p>
            <a:r>
              <a:rPr lang="en-US" dirty="0">
                <a:latin typeface="Calibri" panose="020F0502020204030204" pitchFamily="34" charset="0"/>
                <a:ea typeface="MS Mincho" panose="02020609040205080304" pitchFamily="49" charset="-128"/>
                <a:cs typeface="Times New Roman" panose="02020603050405020304" pitchFamily="18" charset="0"/>
              </a:rPr>
              <a:t>Continue to complete </a:t>
            </a:r>
            <a:r>
              <a:rPr lang="en-US">
                <a:latin typeface="Calibri" panose="020F0502020204030204" pitchFamily="34" charset="0"/>
                <a:ea typeface="MS Mincho" panose="02020609040205080304" pitchFamily="49" charset="-128"/>
                <a:cs typeface="Times New Roman" panose="02020603050405020304" pitchFamily="18" charset="0"/>
              </a:rPr>
              <a:t>homework 1</a:t>
            </a:r>
            <a:endParaRPr lang="en-US" sz="24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buNone/>
            </a:pPr>
            <a:r>
              <a:rPr lang="en-US" dirty="0"/>
              <a:t> </a:t>
            </a:r>
          </a:p>
        </p:txBody>
      </p:sp>
      <p:sp>
        <p:nvSpPr>
          <p:cNvPr id="8" name="Slide Number Placeholder 7">
            <a:extLst>
              <a:ext uri="{FF2B5EF4-FFF2-40B4-BE49-F238E27FC236}">
                <a16:creationId xmlns:a16="http://schemas.microsoft.com/office/drawing/2014/main" id="{BAE175A0-0DA2-79C2-E9DF-A68779CE2732}"/>
              </a:ext>
            </a:extLst>
          </p:cNvPr>
          <p:cNvSpPr>
            <a:spLocks noGrp="1"/>
          </p:cNvSpPr>
          <p:nvPr>
            <p:ph type="sldNum" sz="quarter" idx="12"/>
          </p:nvPr>
        </p:nvSpPr>
        <p:spPr/>
        <p:txBody>
          <a:bodyPr/>
          <a:lstStyle/>
          <a:p>
            <a:r>
              <a:rPr lang="en-US"/>
              <a:t>CS4500/5500</a:t>
            </a:r>
            <a:endParaRPr lang="en-US" dirty="0"/>
          </a:p>
        </p:txBody>
      </p:sp>
    </p:spTree>
    <p:extLst>
      <p:ext uri="{BB962C8B-B14F-4D97-AF65-F5344CB8AC3E}">
        <p14:creationId xmlns:p14="http://schemas.microsoft.com/office/powerpoint/2010/main" val="39922217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119009</TotalTime>
  <Words>7045</Words>
  <Application>Microsoft Office PowerPoint</Application>
  <PresentationFormat>On-screen Show (4:3)</PresentationFormat>
  <Paragraphs>1156</Paragraphs>
  <Slides>89</Slides>
  <Notes>52</Notes>
  <HiddenSlides>2</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89</vt:i4>
      </vt:variant>
    </vt:vector>
  </HeadingPairs>
  <TitlesOfParts>
    <vt:vector size="104" baseType="lpstr">
      <vt:lpstr>ＭＳ Ｐゴシック</vt:lpstr>
      <vt:lpstr>-apple-system</vt:lpstr>
      <vt:lpstr>Arial</vt:lpstr>
      <vt:lpstr>Arial Narrow</vt:lpstr>
      <vt:lpstr>Calibri</vt:lpstr>
      <vt:lpstr>Corbel</vt:lpstr>
      <vt:lpstr>Courier New</vt:lpstr>
      <vt:lpstr>Lato Extended</vt:lpstr>
      <vt:lpstr>Roboto</vt:lpstr>
      <vt:lpstr>Times New Roman</vt:lpstr>
      <vt:lpstr>urw-din</vt:lpstr>
      <vt:lpstr>Utopia Std</vt:lpstr>
      <vt:lpstr>Wingdings</vt:lpstr>
      <vt:lpstr>Parallax</vt:lpstr>
      <vt:lpstr>Equation</vt:lpstr>
      <vt:lpstr>  CS 4500: Operating Systems I     CPU Scheduling</vt:lpstr>
      <vt:lpstr>Lecture Resources</vt:lpstr>
      <vt:lpstr>Basic Concepts</vt:lpstr>
      <vt:lpstr>CPU Scheduler</vt:lpstr>
      <vt:lpstr>What is CPU Scheduling?</vt:lpstr>
      <vt:lpstr>Why CPU Scheduling?</vt:lpstr>
      <vt:lpstr>Dispatcher</vt:lpstr>
      <vt:lpstr>Scheduling Criteria</vt:lpstr>
      <vt:lpstr>Scheduling Algorithm Optimization Criteria</vt:lpstr>
      <vt:lpstr>CPU Scheduling</vt:lpstr>
      <vt:lpstr>CPU Scheduling</vt:lpstr>
      <vt:lpstr>Scheduling Goals</vt:lpstr>
      <vt:lpstr>Scheduling Policies </vt:lpstr>
      <vt:lpstr>Scheduling Policies</vt:lpstr>
      <vt:lpstr>FIFO (aka FCFS) with Example</vt:lpstr>
      <vt:lpstr>First-Come, First-Serve (FCFS)</vt:lpstr>
      <vt:lpstr>First-Come, First-Serve (FCFS)</vt:lpstr>
      <vt:lpstr>First-Come, First-Serve (FCFS)</vt:lpstr>
      <vt:lpstr>First-Come, First-Serve (FCFS)</vt:lpstr>
      <vt:lpstr>Calculate Timing</vt:lpstr>
      <vt:lpstr>What is the average waiting time in the FCFS Example?</vt:lpstr>
      <vt:lpstr>Example: Process Arrive in Different Order</vt:lpstr>
      <vt:lpstr>Turnaround Time</vt:lpstr>
      <vt:lpstr>Waiting Time</vt:lpstr>
      <vt:lpstr>First-Come, First-Serve (FCFS)</vt:lpstr>
      <vt:lpstr>First-Come, First-Serve (FCFS)</vt:lpstr>
      <vt:lpstr>Shortest Job First (SJF)</vt:lpstr>
      <vt:lpstr>Shortest  Job First (SJF) Scheduling</vt:lpstr>
      <vt:lpstr>Shortest  Job First (SJF) Scheduling</vt:lpstr>
      <vt:lpstr>Shortest  Job First (SJF) Scheduling (Nonpreemptive)</vt:lpstr>
      <vt:lpstr>Shortest  Job First (SJF) Scheduling (Preemptive)</vt:lpstr>
      <vt:lpstr>Calculate Average Waiting Time</vt:lpstr>
      <vt:lpstr>Shortest Job First (SJF)</vt:lpstr>
      <vt:lpstr>Disadvantages</vt:lpstr>
      <vt:lpstr>Question</vt:lpstr>
      <vt:lpstr>Round Robin</vt:lpstr>
      <vt:lpstr>Round Robin Scheduling</vt:lpstr>
      <vt:lpstr>Round Robin</vt:lpstr>
      <vt:lpstr>Round Robin Scheduling</vt:lpstr>
      <vt:lpstr>Round Robin</vt:lpstr>
      <vt:lpstr>Burst &lt; time quantum</vt:lpstr>
      <vt:lpstr>Burst &gt; time quantum</vt:lpstr>
      <vt:lpstr>Turnaround, Waiting, and Response Times for Round Robin</vt:lpstr>
      <vt:lpstr>Round Robin (RR)</vt:lpstr>
      <vt:lpstr>Turnaround and Waiting Times for Round Robin</vt:lpstr>
      <vt:lpstr>Turnaround and Waiting Times for Round Robin</vt:lpstr>
      <vt:lpstr>Priority Scheduling</vt:lpstr>
      <vt:lpstr>Priority Scheduling: Preemptive or Nonpreemptive</vt:lpstr>
      <vt:lpstr>Priority Scheduling: Preemptive</vt:lpstr>
      <vt:lpstr>Priority Scheduling: Nonpreemptive</vt:lpstr>
      <vt:lpstr>Priority Scheduling</vt:lpstr>
      <vt:lpstr>Priority Scheduling: Waiting Time </vt:lpstr>
      <vt:lpstr>Priority Scheduling Disadvantages</vt:lpstr>
      <vt:lpstr>Solution to Priority Scheduling Disadvantages</vt:lpstr>
      <vt:lpstr>Put it together</vt:lpstr>
      <vt:lpstr>Multi-level Queue Scheduling</vt:lpstr>
      <vt:lpstr>Multi-level Queue Scheduling</vt:lpstr>
      <vt:lpstr>Multilevel Queue</vt:lpstr>
      <vt:lpstr>Multilevel Feedback Queue Scheduling</vt:lpstr>
      <vt:lpstr>Multilevel Feedback Queue Scheduling</vt:lpstr>
      <vt:lpstr>Multilevel Feedback Queue Scheduling</vt:lpstr>
      <vt:lpstr>Multilevel Feedback Queue</vt:lpstr>
      <vt:lpstr>Parameters for Multilevel Feedback Queue</vt:lpstr>
      <vt:lpstr>Quick Self-Check of Learning</vt:lpstr>
      <vt:lpstr>Question</vt:lpstr>
      <vt:lpstr>Priority Scheduling: Waiting Time </vt:lpstr>
      <vt:lpstr>Round Robin</vt:lpstr>
      <vt:lpstr>Linux Completely Fair Scheduler (CFS)</vt:lpstr>
      <vt:lpstr>Completely Fair Scheduler</vt:lpstr>
      <vt:lpstr>Characteristics of a Red-Black Tree</vt:lpstr>
      <vt:lpstr>Red-Black Tree</vt:lpstr>
      <vt:lpstr>Example: Insertion</vt:lpstr>
      <vt:lpstr>Insertion Example Cont.</vt:lpstr>
      <vt:lpstr>Insertion Example 2</vt:lpstr>
      <vt:lpstr>A Close Look at the State-of-Art</vt:lpstr>
      <vt:lpstr>Summarizing RB Tree</vt:lpstr>
      <vt:lpstr>Real-Time Scheduling</vt:lpstr>
      <vt:lpstr>Real-Time Systems</vt:lpstr>
      <vt:lpstr>Real-Time Systems</vt:lpstr>
      <vt:lpstr>Real-Time Scheduling</vt:lpstr>
      <vt:lpstr>Real-time Scheduling</vt:lpstr>
      <vt:lpstr>Multiprocessor</vt:lpstr>
      <vt:lpstr>Simultaneous Multithreading</vt:lpstr>
      <vt:lpstr>Challenges on Emerging Hardware and Applications</vt:lpstr>
      <vt:lpstr>Summary</vt:lpstr>
      <vt:lpstr>Summary</vt:lpstr>
      <vt:lpstr>Process Behaviors</vt:lpstr>
      <vt:lpstr>Scheduling  Policies</vt:lpstr>
      <vt:lpstr>For Next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Reference-Driven Performance Anomaly Identification</dc:title>
  <dc:creator>DarkFairyx2</dc:creator>
  <cp:lastModifiedBy>Serena Sullivan</cp:lastModifiedBy>
  <cp:revision>2098</cp:revision>
  <cp:lastPrinted>2019-01-29T21:50:24Z</cp:lastPrinted>
  <dcterms:created xsi:type="dcterms:W3CDTF">2012-08-09T04:56:17Z</dcterms:created>
  <dcterms:modified xsi:type="dcterms:W3CDTF">2024-09-12T17:33:39Z</dcterms:modified>
</cp:coreProperties>
</file>